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9" r:id="rId3"/>
    <p:sldId id="257" r:id="rId4"/>
    <p:sldId id="260" r:id="rId5"/>
    <p:sldId id="261" r:id="rId6"/>
    <p:sldId id="262" r:id="rId7"/>
    <p:sldId id="263" r:id="rId8"/>
    <p:sldId id="264" r:id="rId9"/>
    <p:sldId id="265" r:id="rId10"/>
    <p:sldId id="269" r:id="rId11"/>
    <p:sldId id="266" r:id="rId12"/>
    <p:sldId id="267" r:id="rId13"/>
    <p:sldId id="268" r:id="rId14"/>
    <p:sldId id="273"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5B778D-52D2-B440-971C-13E828F817DE}" v="491" dt="2026-08-20T21:17:10.9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10"/>
    <p:restoredTop sz="94648"/>
  </p:normalViewPr>
  <p:slideViewPr>
    <p:cSldViewPr snapToGrid="0">
      <p:cViewPr>
        <p:scale>
          <a:sx n="104" d="100"/>
          <a:sy n="104" d="100"/>
        </p:scale>
        <p:origin x="72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EBEDD-6DB1-5347-8CE0-B02B858BF222}" type="datetimeFigureOut">
              <a:rPr lang="en-US" smtClean="0"/>
              <a:t>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01E272-FCE4-C645-BB02-6D0FAD30BDF2}" type="slidenum">
              <a:rPr lang="en-US" smtClean="0"/>
              <a:t>‹#›</a:t>
            </a:fld>
            <a:endParaRPr lang="en-US"/>
          </a:p>
        </p:txBody>
      </p:sp>
    </p:spTree>
    <p:extLst>
      <p:ext uri="{BB962C8B-B14F-4D97-AF65-F5344CB8AC3E}">
        <p14:creationId xmlns:p14="http://schemas.microsoft.com/office/powerpoint/2010/main" val="2679964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01E272-FCE4-C645-BB02-6D0FAD30BDF2}" type="slidenum">
              <a:rPr lang="en-US" smtClean="0"/>
              <a:t>14</a:t>
            </a:fld>
            <a:endParaRPr lang="en-US"/>
          </a:p>
        </p:txBody>
      </p:sp>
    </p:spTree>
    <p:extLst>
      <p:ext uri="{BB962C8B-B14F-4D97-AF65-F5344CB8AC3E}">
        <p14:creationId xmlns:p14="http://schemas.microsoft.com/office/powerpoint/2010/main" val="3865909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7A3F-3F2D-1F36-77A4-1DBA3C9624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0FDBF6-7672-4B96-D46E-191EE742C9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5BDAA7-5DE6-31F3-711C-2FC93D5A02DB}"/>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5" name="Footer Placeholder 4">
            <a:extLst>
              <a:ext uri="{FF2B5EF4-FFF2-40B4-BE49-F238E27FC236}">
                <a16:creationId xmlns:a16="http://schemas.microsoft.com/office/drawing/2014/main" id="{7C52F6D7-8DA0-E03D-127E-AFCDF30B22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9C0BAC-9A48-5FD7-7754-C2AC7D3DA8E7}"/>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4254110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F2A3B-669B-78C6-343A-10DF1BB85D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995A3F-DF55-B695-ABDB-2EE3FAEE7E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89FEC8-AE34-D624-AEB5-9148579A85F1}"/>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5" name="Footer Placeholder 4">
            <a:extLst>
              <a:ext uri="{FF2B5EF4-FFF2-40B4-BE49-F238E27FC236}">
                <a16:creationId xmlns:a16="http://schemas.microsoft.com/office/drawing/2014/main" id="{37E28DA4-4B69-10A9-5C55-1C1DA9E2A5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C635E-DB0F-60DE-3CFC-F50BEB06ACDC}"/>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37475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511E-A65D-1049-F069-16D865454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B9941C-AF5A-FDDC-D860-DE5B70E821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1C0CF1-464C-9C28-5232-8FBF5ACE413C}"/>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5" name="Footer Placeholder 4">
            <a:extLst>
              <a:ext uri="{FF2B5EF4-FFF2-40B4-BE49-F238E27FC236}">
                <a16:creationId xmlns:a16="http://schemas.microsoft.com/office/drawing/2014/main" id="{F4AD8C52-864F-A97B-C75E-9B1539D7F0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52404-C1FC-6CA4-40FF-D71CCD38F604}"/>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4090822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867C3-A8E3-6036-E25A-39416758F9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636CF-2F10-9FBE-0E46-893F1B060D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AC60EA-64E6-14D9-38BA-49FC5280D4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36114-1F60-A715-D46A-934C4BAC17B8}"/>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6" name="Footer Placeholder 5">
            <a:extLst>
              <a:ext uri="{FF2B5EF4-FFF2-40B4-BE49-F238E27FC236}">
                <a16:creationId xmlns:a16="http://schemas.microsoft.com/office/drawing/2014/main" id="{4FDE9190-5B6E-0659-B3C5-CD64D7F9DD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58EED0-5326-B260-63F7-D88873240AC6}"/>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176466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2B02-BA1C-6B09-441E-60D0560CB8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FB4A52-4059-B6A8-420F-9EE42C4EFE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332026-A1BF-9F81-AEEE-A0317F8A3A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5BC5F2-67F0-7321-7C28-DC530FECC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49C5AD-A723-D4D2-026E-17DC65E0F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B84805-DC5D-3CA0-8539-F5D9F6EF39CD}"/>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8" name="Footer Placeholder 7">
            <a:extLst>
              <a:ext uri="{FF2B5EF4-FFF2-40B4-BE49-F238E27FC236}">
                <a16:creationId xmlns:a16="http://schemas.microsoft.com/office/drawing/2014/main" id="{D1428FC0-655D-8559-313A-85CDFEBC0F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B0FC75-322D-3B72-D6A5-FCBF64D5D258}"/>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1864327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2DEF8-95C0-B6E7-208D-0E8970A9F7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98C5CA-FDDD-BEAF-6A81-F87030D81A59}"/>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4" name="Footer Placeholder 3">
            <a:extLst>
              <a:ext uri="{FF2B5EF4-FFF2-40B4-BE49-F238E27FC236}">
                <a16:creationId xmlns:a16="http://schemas.microsoft.com/office/drawing/2014/main" id="{C2B86023-DCCA-3B8C-EC25-48ED69A607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51D6C0-7B85-F438-AC23-4FF519F719F0}"/>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220060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DF4558-B7EE-96CA-9526-C543BC906009}"/>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3" name="Footer Placeholder 2">
            <a:extLst>
              <a:ext uri="{FF2B5EF4-FFF2-40B4-BE49-F238E27FC236}">
                <a16:creationId xmlns:a16="http://schemas.microsoft.com/office/drawing/2014/main" id="{0FCAE4EF-2B92-4762-A9CC-BFBA387AA4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4606D5-1300-E150-B1AB-C56D35A3A7F3}"/>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2932694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F2C1-36EA-D5CB-FD34-F6CCC5687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D967C9-165A-A58E-099F-02713CDDB2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629BE2-6A0D-8CB8-9723-F3783147E2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B881D-AD9D-B5F0-0B12-234592829E60}"/>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6" name="Footer Placeholder 5">
            <a:extLst>
              <a:ext uri="{FF2B5EF4-FFF2-40B4-BE49-F238E27FC236}">
                <a16:creationId xmlns:a16="http://schemas.microsoft.com/office/drawing/2014/main" id="{67B7CA98-B22A-34BA-4DE5-46777D979C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A3D088-AD32-6249-533E-199D43DCF560}"/>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229906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FD9B3-BF30-1859-E83F-FDD2FDE915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E21155-64A4-609C-FF1C-8F88257AD7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6EB3AF-2A67-64D1-1A38-7D505356E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03FDC-ADEB-4AC2-CC5F-310F36182732}"/>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6" name="Footer Placeholder 5">
            <a:extLst>
              <a:ext uri="{FF2B5EF4-FFF2-40B4-BE49-F238E27FC236}">
                <a16:creationId xmlns:a16="http://schemas.microsoft.com/office/drawing/2014/main" id="{CE03BE9C-494F-F525-6131-50C8E687AA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6E3AE8-AEA8-56CB-0EB9-3D6C907D63EA}"/>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1267255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6D45-A1A4-5893-17D7-A86794CFC4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800FF2-6234-0B55-6801-1E519A06FB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9AAF1-C831-7289-6432-D271FC34F371}"/>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5" name="Footer Placeholder 4">
            <a:extLst>
              <a:ext uri="{FF2B5EF4-FFF2-40B4-BE49-F238E27FC236}">
                <a16:creationId xmlns:a16="http://schemas.microsoft.com/office/drawing/2014/main" id="{E91B2D51-5681-2C29-1B16-D7206BD46E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D47DD-936B-54CE-E6A2-C4C0E1AC207A}"/>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866562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C147BF-4FFA-839B-9AF0-23BDB5C33F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10E04D-73EC-43CA-91EE-56D2472D3F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DCFD12-4F8C-2A45-EDFF-EC5E8C52A1E7}"/>
              </a:ext>
            </a:extLst>
          </p:cNvPr>
          <p:cNvSpPr>
            <a:spLocks noGrp="1"/>
          </p:cNvSpPr>
          <p:nvPr>
            <p:ph type="dt" sz="half" idx="10"/>
          </p:nvPr>
        </p:nvSpPr>
        <p:spPr/>
        <p:txBody>
          <a:bodyPr/>
          <a:lstStyle/>
          <a:p>
            <a:fld id="{7B753B89-B33E-934D-803C-164331D2E4FD}" type="datetimeFigureOut">
              <a:rPr lang="en-US" smtClean="0"/>
              <a:t>8/19/26</a:t>
            </a:fld>
            <a:endParaRPr lang="en-US"/>
          </a:p>
        </p:txBody>
      </p:sp>
      <p:sp>
        <p:nvSpPr>
          <p:cNvPr id="5" name="Footer Placeholder 4">
            <a:extLst>
              <a:ext uri="{FF2B5EF4-FFF2-40B4-BE49-F238E27FC236}">
                <a16:creationId xmlns:a16="http://schemas.microsoft.com/office/drawing/2014/main" id="{DDB70706-D7EC-A7F8-75D9-CD5E41D68C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FACCAF-179E-AE03-0BE1-64378ACD25BA}"/>
              </a:ext>
            </a:extLst>
          </p:cNvPr>
          <p:cNvSpPr>
            <a:spLocks noGrp="1"/>
          </p:cNvSpPr>
          <p:nvPr>
            <p:ph type="sldNum" sz="quarter" idx="12"/>
          </p:nvPr>
        </p:nvSpPr>
        <p:spPr/>
        <p:txBody>
          <a:bodyPr/>
          <a:lstStyle/>
          <a:p>
            <a:fld id="{A9EC93A7-320F-BF40-A0B9-CF3047269484}" type="slidenum">
              <a:rPr lang="en-US" smtClean="0"/>
              <a:t>‹#›</a:t>
            </a:fld>
            <a:endParaRPr lang="en-US"/>
          </a:p>
        </p:txBody>
      </p:sp>
    </p:spTree>
    <p:extLst>
      <p:ext uri="{BB962C8B-B14F-4D97-AF65-F5344CB8AC3E}">
        <p14:creationId xmlns:p14="http://schemas.microsoft.com/office/powerpoint/2010/main" val="3010359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7BE54B-279C-79B4-9E76-1FF4D0FAF4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8DA8A7-B5F3-9667-769C-E5C7774BBF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A7124-266F-7087-DD77-1542F131E0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753B89-B33E-934D-803C-164331D2E4FD}" type="datetimeFigureOut">
              <a:rPr lang="en-US" smtClean="0"/>
              <a:t>8/19/26</a:t>
            </a:fld>
            <a:endParaRPr lang="en-US"/>
          </a:p>
        </p:txBody>
      </p:sp>
      <p:sp>
        <p:nvSpPr>
          <p:cNvPr id="5" name="Footer Placeholder 4">
            <a:extLst>
              <a:ext uri="{FF2B5EF4-FFF2-40B4-BE49-F238E27FC236}">
                <a16:creationId xmlns:a16="http://schemas.microsoft.com/office/drawing/2014/main" id="{A1ED20D3-089F-3324-59D5-A3FAA92D91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684CD6-7860-53C2-66BB-5C56706822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EC93A7-320F-BF40-A0B9-CF3047269484}" type="slidenum">
              <a:rPr lang="en-US" smtClean="0"/>
              <a:t>‹#›</a:t>
            </a:fld>
            <a:endParaRPr lang="en-US"/>
          </a:p>
        </p:txBody>
      </p:sp>
    </p:spTree>
    <p:extLst>
      <p:ext uri="{BB962C8B-B14F-4D97-AF65-F5344CB8AC3E}">
        <p14:creationId xmlns:p14="http://schemas.microsoft.com/office/powerpoint/2010/main" val="433353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D046A-D120-B2EA-8D90-8C00A9D95B4E}"/>
              </a:ext>
            </a:extLst>
          </p:cNvPr>
          <p:cNvSpPr>
            <a:spLocks noGrp="1"/>
          </p:cNvSpPr>
          <p:nvPr>
            <p:ph type="ctrTitle"/>
          </p:nvPr>
        </p:nvSpPr>
        <p:spPr/>
        <p:txBody>
          <a:bodyPr/>
          <a:lstStyle/>
          <a:p>
            <a:r>
              <a:rPr lang="en-US" dirty="0"/>
              <a:t>Meeting 19.08.2026</a:t>
            </a:r>
          </a:p>
        </p:txBody>
      </p:sp>
      <p:sp>
        <p:nvSpPr>
          <p:cNvPr id="3" name="Subtitle 2">
            <a:extLst>
              <a:ext uri="{FF2B5EF4-FFF2-40B4-BE49-F238E27FC236}">
                <a16:creationId xmlns:a16="http://schemas.microsoft.com/office/drawing/2014/main" id="{4EBD9ECB-EDEE-0ED9-BE69-CA4129A34283}"/>
              </a:ext>
            </a:extLst>
          </p:cNvPr>
          <p:cNvSpPr>
            <a:spLocks noGrp="1"/>
          </p:cNvSpPr>
          <p:nvPr>
            <p:ph type="subTitle" idx="1"/>
          </p:nvPr>
        </p:nvSpPr>
        <p:spPr/>
        <p:txBody>
          <a:bodyPr/>
          <a:lstStyle/>
          <a:p>
            <a:r>
              <a:rPr lang="en-US" dirty="0"/>
              <a:t>Update with Nils</a:t>
            </a:r>
          </a:p>
        </p:txBody>
      </p:sp>
    </p:spTree>
    <p:extLst>
      <p:ext uri="{BB962C8B-B14F-4D97-AF65-F5344CB8AC3E}">
        <p14:creationId xmlns:p14="http://schemas.microsoft.com/office/powerpoint/2010/main" val="1073540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D9B51-48DE-9182-D0C3-B27E5E8E6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F45CB-4943-AD26-624A-C49A39E3B48E}"/>
              </a:ext>
            </a:extLst>
          </p:cNvPr>
          <p:cNvSpPr>
            <a:spLocks noGrp="1"/>
          </p:cNvSpPr>
          <p:nvPr>
            <p:ph type="title"/>
          </p:nvPr>
        </p:nvSpPr>
        <p:spPr>
          <a:xfrm>
            <a:off x="838200" y="365125"/>
            <a:ext cx="10515600" cy="5937703"/>
          </a:xfrm>
        </p:spPr>
        <p:txBody>
          <a:bodyPr/>
          <a:lstStyle/>
          <a:p>
            <a:r>
              <a:rPr lang="en-US" dirty="0"/>
              <a:t>Mathematical Reason behind the sensitivity</a:t>
            </a:r>
          </a:p>
        </p:txBody>
      </p:sp>
    </p:spTree>
    <p:extLst>
      <p:ext uri="{BB962C8B-B14F-4D97-AF65-F5344CB8AC3E}">
        <p14:creationId xmlns:p14="http://schemas.microsoft.com/office/powerpoint/2010/main" val="243819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BF2C6-3637-856E-96B3-FE29BE4CD56E}"/>
              </a:ext>
            </a:extLst>
          </p:cNvPr>
          <p:cNvSpPr>
            <a:spLocks noGrp="1"/>
          </p:cNvSpPr>
          <p:nvPr>
            <p:ph type="title"/>
          </p:nvPr>
        </p:nvSpPr>
        <p:spPr>
          <a:xfrm>
            <a:off x="838200" y="365126"/>
            <a:ext cx="10515600" cy="1039132"/>
          </a:xfrm>
        </p:spPr>
        <p:txBody>
          <a:bodyPr/>
          <a:lstStyle/>
          <a:p>
            <a:r>
              <a:rPr lang="en-US" dirty="0"/>
              <a:t>Defining the basics - Input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D9E8556-01D7-5FAF-B1AD-48BB0002E255}"/>
                  </a:ext>
                </a:extLst>
              </p:cNvPr>
              <p:cNvSpPr>
                <a:spLocks noGrp="1"/>
              </p:cNvSpPr>
              <p:nvPr>
                <p:ph idx="1"/>
              </p:nvPr>
            </p:nvSpPr>
            <p:spPr>
              <a:xfrm>
                <a:off x="838200" y="1499053"/>
                <a:ext cx="10515600" cy="4351338"/>
              </a:xfrm>
            </p:spPr>
            <p:txBody>
              <a:bodyPr>
                <a:normAutofit/>
              </a:bodyPr>
              <a:lstStyle/>
              <a:p>
                <a:pPr algn="just">
                  <a:lnSpc>
                    <a:spcPct val="100000"/>
                  </a:lnSpc>
                </a:pPr>
                <a:r>
                  <a:rPr lang="en-US" sz="2200" dirty="0"/>
                  <a:t>Let </a:t>
                </a:r>
                <a14:m>
                  <m:oMath xmlns:m="http://schemas.openxmlformats.org/officeDocument/2006/math">
                    <m:r>
                      <a:rPr lang="en-US" sz="2200" i="1"/>
                      <m:t>𝛤</m:t>
                    </m:r>
                  </m:oMath>
                </a14:m>
                <a:r>
                  <a:rPr lang="en-US" sz="2200" dirty="0"/>
                  <a:t> denote the underlying continuous geometry, for example, the vehicle surface. Let </a:t>
                </a:r>
                <a14:m>
                  <m:oMath xmlns:m="http://schemas.openxmlformats.org/officeDocument/2006/math">
                    <m:sSub>
                      <m:sSubPr>
                        <m:ctrlPr>
                          <a:rPr lang="en-US" sz="2200" i="1"/>
                        </m:ctrlPr>
                      </m:sSubPr>
                      <m:e>
                        <m:r>
                          <a:rPr lang="en-US" sz="2200" i="1"/>
                          <m:t>𝑋</m:t>
                        </m:r>
                      </m:e>
                      <m:sub>
                        <m:r>
                          <a:rPr lang="en-US" sz="2200" i="1"/>
                          <m:t>𝐴</m:t>
                        </m:r>
                      </m:sub>
                    </m:sSub>
                  </m:oMath>
                </a14:m>
                <a:r>
                  <a:rPr lang="en-US" sz="2200" dirty="0"/>
                  <a:t> and </a:t>
                </a:r>
                <a14:m>
                  <m:oMath xmlns:m="http://schemas.openxmlformats.org/officeDocument/2006/math">
                    <m:sSub>
                      <m:sSubPr>
                        <m:ctrlPr>
                          <a:rPr lang="en-US" sz="2200" i="1"/>
                        </m:ctrlPr>
                      </m:sSubPr>
                      <m:e>
                        <m:r>
                          <a:rPr lang="en-US" sz="2200" i="1"/>
                          <m:t>𝑋</m:t>
                        </m:r>
                      </m:e>
                      <m:sub>
                        <m:r>
                          <a:rPr lang="en-US" sz="2200" i="1"/>
                          <m:t>𝐵</m:t>
                        </m:r>
                      </m:sub>
                    </m:sSub>
                  </m:oMath>
                </a14:m>
                <a:r>
                  <a:rPr lang="en-US" sz="2200" dirty="0"/>
                  <a:t> denote two finite point-cloud representations of the same geometry:</a:t>
                </a:r>
              </a:p>
              <a:p>
                <a:pPr marL="0" indent="0" algn="just">
                  <a:lnSpc>
                    <a:spcPct val="100000"/>
                  </a:lnSpc>
                  <a:buNone/>
                </a:pPr>
                <a14:m>
                  <m:oMathPara xmlns:m="http://schemas.openxmlformats.org/officeDocument/2006/math">
                    <m:oMath>
                      <m:sSub>
                        <m:sSubPr>
                          <m:ctrlPr>
                            <a:rPr lang="en-US" sz="2200" i="1"/>
                          </m:ctrlPr>
                        </m:sSubPr>
                        <m:e>
                          <m:r>
                            <a:rPr lang="en-US" sz="2200" i="1"/>
                            <m:t>𝑋</m:t>
                          </m:r>
                        </m:e>
                        <m:sub>
                          <m:r>
                            <a:rPr lang="en-US" sz="2200" i="1"/>
                            <m:t>𝐴</m:t>
                          </m:r>
                        </m:sub>
                      </m:sSub>
                      <m:r>
                        <a:rPr lang="en-US" sz="2200"/>
                        <m:t>={</m:t>
                      </m:r>
                      <m:sSubSup>
                        <m:sSubSupPr>
                          <m:ctrlPr>
                            <a:rPr lang="en-US" sz="2200" i="1"/>
                          </m:ctrlPr>
                        </m:sSubSupPr>
                        <m:e>
                          <m:r>
                            <a:rPr lang="en-US" sz="2200" i="1"/>
                            <m:t>𝑥</m:t>
                          </m:r>
                        </m:e>
                        <m:sub>
                          <m:r>
                            <a:rPr lang="en-US" sz="2200" i="1"/>
                            <m:t>𝑖</m:t>
                          </m:r>
                        </m:sub>
                        <m:sup>
                          <m:r>
                            <a:rPr lang="en-US" sz="2200" i="1"/>
                            <m:t>𝐴</m:t>
                          </m:r>
                        </m:sup>
                      </m:sSubSup>
                      <m:sSubSup>
                        <m:sSubSupPr>
                          <m:ctrlPr>
                            <a:rPr lang="en-US" sz="2200"/>
                          </m:ctrlPr>
                        </m:sSubSupPr>
                        <m:e>
                          <m:r>
                            <a:rPr lang="en-US" sz="2200"/>
                            <m:t>}</m:t>
                          </m:r>
                        </m:e>
                        <m:sub>
                          <m:r>
                            <a:rPr lang="en-US" sz="2200" i="1"/>
                            <m:t>𝑖</m:t>
                          </m:r>
                          <m:r>
                            <a:rPr lang="en-US" sz="2200"/>
                            <m:t>=</m:t>
                          </m:r>
                          <m:r>
                            <a:rPr lang="en-US" sz="2200" i="1"/>
                            <m:t>1</m:t>
                          </m:r>
                        </m:sub>
                        <m:sup>
                          <m:r>
                            <a:rPr lang="en-US" sz="2200" i="1"/>
                            <m:t>𝑁</m:t>
                          </m:r>
                        </m:sup>
                      </m:sSubSup>
                      <m:r>
                        <a:rPr lang="en-US" sz="2200"/>
                        <m:t>,</m:t>
                      </m:r>
                      <m:r>
                        <a:rPr lang="en-US" sz="2200" i="1"/>
                        <m:t>  </m:t>
                      </m:r>
                      <m:sSub>
                        <m:sSubPr>
                          <m:ctrlPr>
                            <a:rPr lang="en-US" sz="2200" i="1"/>
                          </m:ctrlPr>
                        </m:sSubPr>
                        <m:e>
                          <m:r>
                            <a:rPr lang="en-US" sz="2200" i="1"/>
                            <m:t>𝑋</m:t>
                          </m:r>
                        </m:e>
                        <m:sub>
                          <m:r>
                            <a:rPr lang="en-US" sz="2200" i="1"/>
                            <m:t>𝐵</m:t>
                          </m:r>
                        </m:sub>
                      </m:sSub>
                      <m:r>
                        <a:rPr lang="en-US" sz="2200"/>
                        <m:t>={</m:t>
                      </m:r>
                      <m:sSubSup>
                        <m:sSubSupPr>
                          <m:ctrlPr>
                            <a:rPr lang="en-US" sz="2200" i="1"/>
                          </m:ctrlPr>
                        </m:sSubSupPr>
                        <m:e>
                          <m:r>
                            <a:rPr lang="en-US" sz="2200" i="1"/>
                            <m:t>𝑥</m:t>
                          </m:r>
                        </m:e>
                        <m:sub>
                          <m:r>
                            <a:rPr lang="en-US" sz="2200" i="1"/>
                            <m:t>𝑖</m:t>
                          </m:r>
                        </m:sub>
                        <m:sup>
                          <m:r>
                            <a:rPr lang="en-US" sz="2200" i="1"/>
                            <m:t>𝐵</m:t>
                          </m:r>
                        </m:sup>
                      </m:sSubSup>
                      <m:sSubSup>
                        <m:sSubSupPr>
                          <m:ctrlPr>
                            <a:rPr lang="en-US" sz="2200"/>
                          </m:ctrlPr>
                        </m:sSubSupPr>
                        <m:e>
                          <m:r>
                            <a:rPr lang="en-US" sz="2200"/>
                            <m:t>}</m:t>
                          </m:r>
                        </m:e>
                        <m:sub>
                          <m:r>
                            <a:rPr lang="en-US" sz="2200" i="1"/>
                            <m:t>𝑖</m:t>
                          </m:r>
                          <m:r>
                            <a:rPr lang="en-US" sz="2200"/>
                            <m:t>=</m:t>
                          </m:r>
                          <m:r>
                            <a:rPr lang="en-US" sz="2200" i="1"/>
                            <m:t>1</m:t>
                          </m:r>
                        </m:sub>
                        <m:sup>
                          <m:r>
                            <a:rPr lang="en-US" sz="2200" i="1"/>
                            <m:t>𝑁</m:t>
                          </m:r>
                        </m:sup>
                      </m:sSubSup>
                      <m:r>
                        <a:rPr lang="en-US" sz="2200"/>
                        <m:t>.</m:t>
                      </m:r>
                    </m:oMath>
                  </m:oMathPara>
                </a14:m>
                <a:endParaRPr lang="en-US" sz="2200" dirty="0"/>
              </a:p>
              <a:p>
                <a:pPr marL="0" indent="0" algn="just">
                  <a:lnSpc>
                    <a:spcPct val="100000"/>
                  </a:lnSpc>
                  <a:buNone/>
                </a:pPr>
                <a:r>
                  <a:rPr lang="en-US" sz="2200" dirty="0"/>
                  <a:t>Here, </a:t>
                </a:r>
                <a14:m>
                  <m:oMath xmlns:m="http://schemas.openxmlformats.org/officeDocument/2006/math">
                    <m:r>
                      <a:rPr lang="en-US" sz="2200" i="1"/>
                      <m:t>𝑁</m:t>
                    </m:r>
                  </m:oMath>
                </a14:m>
                <a:r>
                  <a:rPr lang="en-US" sz="2200" dirty="0"/>
                  <a:t> is the number of geometry points, while </a:t>
                </a:r>
                <a14:m>
                  <m:oMath xmlns:m="http://schemas.openxmlformats.org/officeDocument/2006/math">
                    <m:sSubSup>
                      <m:sSubSupPr>
                        <m:ctrlPr>
                          <a:rPr lang="en-US" sz="2200" i="1"/>
                        </m:ctrlPr>
                      </m:sSubSupPr>
                      <m:e>
                        <m:r>
                          <a:rPr lang="en-US" sz="2200" i="1"/>
                          <m:t>𝑥</m:t>
                        </m:r>
                      </m:e>
                      <m:sub>
                        <m:r>
                          <a:rPr lang="en-US" sz="2200" i="1"/>
                          <m:t>𝑖</m:t>
                        </m:r>
                      </m:sub>
                      <m:sup>
                        <m:r>
                          <a:rPr lang="en-US" sz="2200" i="1"/>
                          <m:t>𝐴</m:t>
                        </m:r>
                      </m:sup>
                    </m:sSubSup>
                  </m:oMath>
                </a14:m>
                <a:r>
                  <a:rPr lang="en-US" sz="2200" dirty="0"/>
                  <a:t> and </a:t>
                </a:r>
                <a14:m>
                  <m:oMath xmlns:m="http://schemas.openxmlformats.org/officeDocument/2006/math">
                    <m:sSubSup>
                      <m:sSubSupPr>
                        <m:ctrlPr>
                          <a:rPr lang="en-US" sz="2200" i="1"/>
                        </m:ctrlPr>
                      </m:sSubSupPr>
                      <m:e>
                        <m:r>
                          <a:rPr lang="en-US" sz="2200" i="1"/>
                          <m:t>𝑥</m:t>
                        </m:r>
                      </m:e>
                      <m:sub>
                        <m:r>
                          <a:rPr lang="en-US" sz="2200" i="1"/>
                          <m:t>𝑖</m:t>
                        </m:r>
                      </m:sub>
                      <m:sup>
                        <m:r>
                          <a:rPr lang="en-US" sz="2200" i="1"/>
                          <m:t>𝐵</m:t>
                        </m:r>
                      </m:sup>
                    </m:sSubSup>
                  </m:oMath>
                </a14:m>
                <a:r>
                  <a:rPr lang="en-US" sz="2200" dirty="0"/>
                  <a:t> are the points in each of the sampling A and B.</a:t>
                </a:r>
              </a:p>
              <a:p>
                <a:pPr algn="just">
                  <a:lnSpc>
                    <a:spcPct val="100000"/>
                  </a:lnSpc>
                </a:pPr>
                <a:endParaRPr lang="en-US" sz="2200" dirty="0"/>
              </a:p>
              <a:p>
                <a:pPr algn="just">
                  <a:lnSpc>
                    <a:spcPct val="100000"/>
                  </a:lnSpc>
                </a:pPr>
                <a:r>
                  <a:rPr lang="en-US" sz="2200" dirty="0"/>
                  <a:t>Let </a:t>
                </a:r>
                <a14:m>
                  <m:oMath xmlns:m="http://schemas.openxmlformats.org/officeDocument/2006/math">
                    <m:sSub>
                      <m:sSubPr>
                        <m:ctrlPr>
                          <a:rPr lang="en-US" sz="2200" i="1"/>
                        </m:ctrlPr>
                      </m:sSubPr>
                      <m:e>
                        <m:r>
                          <a:rPr lang="en-US" sz="2200" i="1"/>
                          <m:t>𝑑</m:t>
                        </m:r>
                      </m:e>
                      <m:sub>
                        <m:r>
                          <a:rPr lang="en-US" sz="2200" i="1"/>
                          <m:t>𝐴</m:t>
                        </m:r>
                      </m:sub>
                    </m:sSub>
                    <m:d>
                      <m:dPr>
                        <m:ctrlPr>
                          <a:rPr lang="en-US" sz="2200" i="1"/>
                        </m:ctrlPr>
                      </m:dPr>
                      <m:e>
                        <m:r>
                          <a:rPr lang="en-US" sz="2200" i="1"/>
                          <m:t>𝑥</m:t>
                        </m:r>
                      </m:e>
                    </m:d>
                  </m:oMath>
                </a14:m>
                <a:r>
                  <a:rPr lang="en-US" sz="2200" dirty="0"/>
                  <a:t> and </a:t>
                </a:r>
                <a14:m>
                  <m:oMath xmlns:m="http://schemas.openxmlformats.org/officeDocument/2006/math">
                    <m:sSub>
                      <m:sSubPr>
                        <m:ctrlPr>
                          <a:rPr lang="en-US" sz="2200" i="1"/>
                        </m:ctrlPr>
                      </m:sSubPr>
                      <m:e>
                        <m:r>
                          <a:rPr lang="en-US" sz="2200" i="1"/>
                          <m:t>𝑑</m:t>
                        </m:r>
                      </m:e>
                      <m:sub>
                        <m:r>
                          <a:rPr lang="en-US" sz="2200" i="1"/>
                          <m:t>𝐵</m:t>
                        </m:r>
                      </m:sub>
                    </m:sSub>
                    <m:d>
                      <m:dPr>
                        <m:ctrlPr>
                          <a:rPr lang="en-US" sz="2200" i="1"/>
                        </m:ctrlPr>
                      </m:dPr>
                      <m:e>
                        <m:r>
                          <a:rPr lang="en-US" sz="2200" i="1"/>
                          <m:t>𝑥</m:t>
                        </m:r>
                      </m:e>
                    </m:d>
                  </m:oMath>
                </a14:m>
                <a:r>
                  <a:rPr lang="en-US" sz="2200" dirty="0"/>
                  <a:t> denote the sampling densities of the two clouds at a location </a:t>
                </a:r>
                <a14:m>
                  <m:oMath xmlns:m="http://schemas.openxmlformats.org/officeDocument/2006/math">
                    <m:r>
                      <a:rPr lang="en-US" sz="2200" i="1"/>
                      <m:t>𝑥</m:t>
                    </m:r>
                    <m:r>
                      <a:rPr lang="en-US" sz="2200"/>
                      <m:t>∈</m:t>
                    </m:r>
                    <m:r>
                      <a:rPr lang="en-US" sz="2200" i="1"/>
                      <m:t>𝛤</m:t>
                    </m:r>
                  </m:oMath>
                </a14:m>
                <a:r>
                  <a:rPr lang="en-US" sz="2200" dirty="0"/>
                  <a:t>. When the densities are interpreted as probability densities over the surface,</a:t>
                </a:r>
              </a:p>
              <a:p>
                <a:pPr marL="0" indent="0" algn="just">
                  <a:lnSpc>
                    <a:spcPct val="100000"/>
                  </a:lnSpc>
                  <a:buNone/>
                </a:pPr>
                <a14:m>
                  <m:oMathPara xmlns:m="http://schemas.openxmlformats.org/officeDocument/2006/math">
                    <m:oMath>
                      <m:nary>
                        <m:naryPr>
                          <m:limLoc m:val="subSup"/>
                          <m:ctrlPr>
                            <a:rPr lang="en-US" sz="2200" i="1"/>
                          </m:ctrlPr>
                        </m:naryPr>
                        <m:sub>
                          <m:r>
                            <a:rPr lang="en-US" sz="2200" i="1"/>
                            <m:t>𝛤</m:t>
                          </m:r>
                        </m:sub>
                        <m:sup>
                          <m:r>
                            <a:rPr lang="en-US" sz="2200" i="1"/>
                            <m:t>​</m:t>
                          </m:r>
                        </m:sup>
                        <m:e>
                          <m:sSub>
                            <m:sSubPr>
                              <m:ctrlPr>
                                <a:rPr lang="en-US" sz="2200" i="1"/>
                              </m:ctrlPr>
                            </m:sSubPr>
                            <m:e>
                              <m:r>
                                <a:rPr lang="en-US" sz="2200" i="1"/>
                                <m:t>𝑑</m:t>
                              </m:r>
                            </m:e>
                            <m:sub>
                              <m:r>
                                <a:rPr lang="en-US" sz="2200" i="1"/>
                                <m:t>𝐴</m:t>
                              </m:r>
                            </m:sub>
                          </m:sSub>
                        </m:e>
                      </m:nary>
                      <m:d>
                        <m:dPr>
                          <m:ctrlPr>
                            <a:rPr lang="en-US" sz="2200" i="1"/>
                          </m:ctrlPr>
                        </m:dPr>
                        <m:e>
                          <m:r>
                            <a:rPr lang="en-US" sz="2200" i="1"/>
                            <m:t>𝑥</m:t>
                          </m:r>
                        </m:e>
                      </m:d>
                      <m:r>
                        <a:rPr lang="en-US" sz="2200" i="1"/>
                        <m:t> </m:t>
                      </m:r>
                      <m:r>
                        <a:rPr lang="en-US" sz="2200" i="1"/>
                        <m:t>𝑑𝑆</m:t>
                      </m:r>
                      <m:d>
                        <m:dPr>
                          <m:ctrlPr>
                            <a:rPr lang="en-US" sz="2200" i="1"/>
                          </m:ctrlPr>
                        </m:dPr>
                        <m:e>
                          <m:r>
                            <a:rPr lang="en-US" sz="2200" i="1"/>
                            <m:t>𝑥</m:t>
                          </m:r>
                        </m:e>
                      </m:d>
                      <m:r>
                        <a:rPr lang="en-US" sz="2200"/>
                        <m:t>=</m:t>
                      </m:r>
                      <m:nary>
                        <m:naryPr>
                          <m:limLoc m:val="subSup"/>
                          <m:ctrlPr>
                            <a:rPr lang="en-US" sz="2200" i="1"/>
                          </m:ctrlPr>
                        </m:naryPr>
                        <m:sub>
                          <m:r>
                            <a:rPr lang="en-US" sz="2200" i="1"/>
                            <m:t>𝛤</m:t>
                          </m:r>
                        </m:sub>
                        <m:sup>
                          <m:r>
                            <a:rPr lang="en-US" sz="2200" i="1"/>
                            <m:t>​</m:t>
                          </m:r>
                        </m:sup>
                        <m:e>
                          <m:sSub>
                            <m:sSubPr>
                              <m:ctrlPr>
                                <a:rPr lang="en-US" sz="2200" i="1"/>
                              </m:ctrlPr>
                            </m:sSubPr>
                            <m:e>
                              <m:r>
                                <a:rPr lang="en-US" sz="2200" i="1"/>
                                <m:t>𝑑</m:t>
                              </m:r>
                            </m:e>
                            <m:sub>
                              <m:r>
                                <a:rPr lang="en-US" sz="2200" i="1"/>
                                <m:t>𝐵</m:t>
                              </m:r>
                            </m:sub>
                          </m:sSub>
                        </m:e>
                      </m:nary>
                      <m:d>
                        <m:dPr>
                          <m:ctrlPr>
                            <a:rPr lang="en-US" sz="2200" i="1"/>
                          </m:ctrlPr>
                        </m:dPr>
                        <m:e>
                          <m:r>
                            <a:rPr lang="en-US" sz="2200" i="1"/>
                            <m:t>𝑥</m:t>
                          </m:r>
                        </m:e>
                      </m:d>
                      <m:r>
                        <a:rPr lang="en-US" sz="2200" i="1"/>
                        <m:t> </m:t>
                      </m:r>
                      <m:r>
                        <a:rPr lang="en-US" sz="2200" i="1"/>
                        <m:t>𝑑𝑆</m:t>
                      </m:r>
                      <m:d>
                        <m:dPr>
                          <m:ctrlPr>
                            <a:rPr lang="en-US" sz="2200" i="1"/>
                          </m:ctrlPr>
                        </m:dPr>
                        <m:e>
                          <m:r>
                            <a:rPr lang="en-US" sz="2200" i="1"/>
                            <m:t>𝑥</m:t>
                          </m:r>
                        </m:e>
                      </m:d>
                      <m:r>
                        <a:rPr lang="en-US" sz="2200"/>
                        <m:t>=</m:t>
                      </m:r>
                      <m:r>
                        <a:rPr lang="en-US" sz="2200" i="1"/>
                        <m:t>1</m:t>
                      </m:r>
                      <m:r>
                        <a:rPr lang="en-US" sz="2200"/>
                        <m:t>,</m:t>
                      </m:r>
                    </m:oMath>
                  </m:oMathPara>
                </a14:m>
                <a:endParaRPr lang="en-US" sz="2200" dirty="0"/>
              </a:p>
              <a:p>
                <a:pPr marL="0" indent="0" algn="just">
                  <a:lnSpc>
                    <a:spcPct val="100000"/>
                  </a:lnSpc>
                  <a:buNone/>
                </a:pPr>
                <a:r>
                  <a:rPr lang="en-US" sz="2200" dirty="0"/>
                  <a:t>where </a:t>
                </a:r>
                <a14:m>
                  <m:oMath xmlns:m="http://schemas.openxmlformats.org/officeDocument/2006/math">
                    <m:r>
                      <a:rPr lang="en-US" sz="2200" i="1"/>
                      <m:t>𝑑𝑆</m:t>
                    </m:r>
                    <m:d>
                      <m:dPr>
                        <m:ctrlPr>
                          <a:rPr lang="en-US" sz="2200" i="1"/>
                        </m:ctrlPr>
                      </m:dPr>
                      <m:e>
                        <m:r>
                          <a:rPr lang="en-US" sz="2200" i="1"/>
                          <m:t>𝑥</m:t>
                        </m:r>
                      </m:e>
                    </m:d>
                  </m:oMath>
                </a14:m>
                <a:r>
                  <a:rPr lang="en-US" sz="2200" dirty="0"/>
                  <a:t> denotes a small surface element around the location </a:t>
                </a:r>
                <a14:m>
                  <m:oMath xmlns:m="http://schemas.openxmlformats.org/officeDocument/2006/math">
                    <m:r>
                      <a:rPr lang="en-US" sz="2200" i="1"/>
                      <m:t>𝑥</m:t>
                    </m:r>
                  </m:oMath>
                </a14:m>
                <a:r>
                  <a:rPr lang="en-US" sz="2200" dirty="0"/>
                  <a:t>. </a:t>
                </a:r>
              </a:p>
            </p:txBody>
          </p:sp>
        </mc:Choice>
        <mc:Fallback>
          <p:sp>
            <p:nvSpPr>
              <p:cNvPr id="3" name="Content Placeholder 2">
                <a:extLst>
                  <a:ext uri="{FF2B5EF4-FFF2-40B4-BE49-F238E27FC236}">
                    <a16:creationId xmlns:a16="http://schemas.microsoft.com/office/drawing/2014/main" id="{4D9E8556-01D7-5FAF-B1AD-48BB0002E255}"/>
                  </a:ext>
                </a:extLst>
              </p:cNvPr>
              <p:cNvSpPr>
                <a:spLocks noGrp="1" noRot="1" noChangeAspect="1" noMove="1" noResize="1" noEditPoints="1" noAdjustHandles="1" noChangeArrowheads="1" noChangeShapeType="1" noTextEdit="1"/>
              </p:cNvSpPr>
              <p:nvPr>
                <p:ph idx="1"/>
              </p:nvPr>
            </p:nvSpPr>
            <p:spPr>
              <a:xfrm>
                <a:off x="838200" y="1499053"/>
                <a:ext cx="10515600" cy="4351338"/>
              </a:xfrm>
              <a:blipFill>
                <a:blip r:embed="rId2"/>
                <a:stretch>
                  <a:fillRect l="-724" t="-1166" r="-724" b="-35277"/>
                </a:stretch>
              </a:blipFill>
            </p:spPr>
            <p:txBody>
              <a:bodyPr/>
              <a:lstStyle/>
              <a:p>
                <a:r>
                  <a:rPr lang="en-US">
                    <a:noFill/>
                  </a:rPr>
                  <a:t> </a:t>
                </a:r>
              </a:p>
            </p:txBody>
          </p:sp>
        </mc:Fallback>
      </mc:AlternateContent>
    </p:spTree>
    <p:extLst>
      <p:ext uri="{BB962C8B-B14F-4D97-AF65-F5344CB8AC3E}">
        <p14:creationId xmlns:p14="http://schemas.microsoft.com/office/powerpoint/2010/main" val="264983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1788A-9476-0F93-9C5B-0625CDB3B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E7200-EBE7-95BE-1645-EF49A78C1DC9}"/>
              </a:ext>
            </a:extLst>
          </p:cNvPr>
          <p:cNvSpPr>
            <a:spLocks noGrp="1"/>
          </p:cNvSpPr>
          <p:nvPr>
            <p:ph type="title"/>
          </p:nvPr>
        </p:nvSpPr>
        <p:spPr>
          <a:xfrm>
            <a:off x="838200" y="365126"/>
            <a:ext cx="10515600" cy="1039132"/>
          </a:xfrm>
        </p:spPr>
        <p:txBody>
          <a:bodyPr/>
          <a:lstStyle/>
          <a:p>
            <a:r>
              <a:rPr lang="en-US" dirty="0"/>
              <a:t>Defining the basics -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A697B89-0260-3DE9-BDF0-556DAEE49C7E}"/>
                  </a:ext>
                </a:extLst>
              </p:cNvPr>
              <p:cNvSpPr>
                <a:spLocks noGrp="1"/>
              </p:cNvSpPr>
              <p:nvPr>
                <p:ph idx="1"/>
              </p:nvPr>
            </p:nvSpPr>
            <p:spPr>
              <a:xfrm>
                <a:off x="838200" y="1499053"/>
                <a:ext cx="10515600" cy="4351338"/>
              </a:xfrm>
            </p:spPr>
            <p:txBody>
              <a:bodyPr>
                <a:normAutofit/>
              </a:bodyPr>
              <a:lstStyle/>
              <a:p>
                <a:pPr algn="just">
                  <a:lnSpc>
                    <a:spcPct val="100000"/>
                  </a:lnSpc>
                </a:pPr>
                <a:r>
                  <a:rPr lang="en-US" sz="2200" dirty="0"/>
                  <a:t>Let </a:t>
                </a:r>
                <a14:m>
                  <m:oMath xmlns:m="http://schemas.openxmlformats.org/officeDocument/2006/math">
                    <m:sSub>
                      <m:sSubPr>
                        <m:ctrlPr>
                          <a:rPr lang="en-US" sz="2200" i="1"/>
                        </m:ctrlPr>
                      </m:sSubPr>
                      <m:e>
                        <m:r>
                          <a:rPr lang="en-US" sz="2200" i="1"/>
                          <m:t>𝐹</m:t>
                        </m:r>
                      </m:e>
                      <m:sub>
                        <m:r>
                          <a:rPr lang="en-US" sz="2200" i="1"/>
                          <m:t>𝜃</m:t>
                        </m:r>
                      </m:sub>
                    </m:sSub>
                  </m:oMath>
                </a14:m>
                <a:r>
                  <a:rPr lang="en-US" sz="2200" dirty="0"/>
                  <a:t> denote the neural surrogate, where </a:t>
                </a:r>
                <a14:m>
                  <m:oMath xmlns:m="http://schemas.openxmlformats.org/officeDocument/2006/math">
                    <m:r>
                      <a:rPr lang="en-US" sz="2200" i="1"/>
                      <m:t>𝜃</m:t>
                    </m:r>
                  </m:oMath>
                </a14:m>
                <a:r>
                  <a:rPr lang="en-US" sz="2200" dirty="0"/>
                  <a:t> contains its trainable parameters. Let</a:t>
                </a:r>
              </a:p>
              <a:p>
                <a:pPr marL="0" indent="0" algn="just">
                  <a:lnSpc>
                    <a:spcPct val="100000"/>
                  </a:lnSpc>
                  <a:buNone/>
                </a:pPr>
                <a14:m>
                  <m:oMathPara xmlns:m="http://schemas.openxmlformats.org/officeDocument/2006/math">
                    <m:oMath>
                      <m:r>
                        <a:rPr lang="en-US" sz="2200" i="1"/>
                        <m:t>𝑄</m:t>
                      </m:r>
                      <m:r>
                        <a:rPr lang="en-US" sz="2200"/>
                        <m:t>={</m:t>
                      </m:r>
                      <m:sSub>
                        <m:sSubPr>
                          <m:ctrlPr>
                            <a:rPr lang="en-US" sz="2200" i="1"/>
                          </m:ctrlPr>
                        </m:sSubPr>
                        <m:e>
                          <m:r>
                            <a:rPr lang="en-US" sz="2200" i="1"/>
                            <m:t>𝑞</m:t>
                          </m:r>
                        </m:e>
                        <m:sub>
                          <m:r>
                            <a:rPr lang="en-US" sz="2200" i="1"/>
                            <m:t>𝑗</m:t>
                          </m:r>
                        </m:sub>
                      </m:sSub>
                      <m:sSubSup>
                        <m:sSubSupPr>
                          <m:ctrlPr>
                            <a:rPr lang="en-US" sz="2200"/>
                          </m:ctrlPr>
                        </m:sSubSupPr>
                        <m:e>
                          <m:r>
                            <a:rPr lang="en-US" sz="2200"/>
                            <m:t>}</m:t>
                          </m:r>
                        </m:e>
                        <m:sub>
                          <m:r>
                            <a:rPr lang="en-US" sz="2200" i="1"/>
                            <m:t>𝑗</m:t>
                          </m:r>
                          <m:r>
                            <a:rPr lang="en-US" sz="2200"/>
                            <m:t>=</m:t>
                          </m:r>
                          <m:r>
                            <a:rPr lang="en-US" sz="2200" i="1"/>
                            <m:t>1</m:t>
                          </m:r>
                        </m:sub>
                        <m:sup>
                          <m:r>
                            <a:rPr lang="en-US" sz="2200" i="1"/>
                            <m:t>𝑀</m:t>
                          </m:r>
                        </m:sup>
                      </m:sSubSup>
                    </m:oMath>
                  </m:oMathPara>
                </a14:m>
                <a:endParaRPr lang="en-US" sz="2200" dirty="0"/>
              </a:p>
              <a:p>
                <a:pPr marL="0" indent="0" algn="just">
                  <a:lnSpc>
                    <a:spcPct val="100000"/>
                  </a:lnSpc>
                  <a:buNone/>
                </a:pPr>
                <a:r>
                  <a:rPr lang="en-US" sz="2200" dirty="0"/>
                  <a:t>denote the fixed set of </a:t>
                </a:r>
                <a14:m>
                  <m:oMath xmlns:m="http://schemas.openxmlformats.org/officeDocument/2006/math">
                    <m:r>
                      <a:rPr lang="en-US" sz="2200" i="1"/>
                      <m:t>𝑀</m:t>
                    </m:r>
                  </m:oMath>
                </a14:m>
                <a:r>
                  <a:rPr lang="en-US" sz="2200" dirty="0"/>
                  <a:t> query coordinates, where </a:t>
                </a:r>
                <a14:m>
                  <m:oMath xmlns:m="http://schemas.openxmlformats.org/officeDocument/2006/math">
                    <m:sSub>
                      <m:sSubPr>
                        <m:ctrlPr>
                          <a:rPr lang="en-US" sz="2200" i="1"/>
                        </m:ctrlPr>
                      </m:sSubPr>
                      <m:e>
                        <m:r>
                          <a:rPr lang="en-US" sz="2200" i="1"/>
                          <m:t>𝑞</m:t>
                        </m:r>
                      </m:e>
                      <m:sub>
                        <m:r>
                          <a:rPr lang="en-US" sz="2200" i="1"/>
                          <m:t>𝑗</m:t>
                        </m:r>
                      </m:sub>
                    </m:sSub>
                  </m:oMath>
                </a14:m>
                <a:r>
                  <a:rPr lang="en-US" sz="2200" dirty="0"/>
                  <a:t> is query location </a:t>
                </a:r>
                <a14:m>
                  <m:oMath xmlns:m="http://schemas.openxmlformats.org/officeDocument/2006/math">
                    <m:r>
                      <a:rPr lang="en-US" sz="2200" i="1"/>
                      <m:t>𝑗</m:t>
                    </m:r>
                  </m:oMath>
                </a14:m>
                <a:r>
                  <a:rPr lang="en-US" sz="2200" dirty="0"/>
                  <a:t>. Let </a:t>
                </a:r>
                <a14:m>
                  <m:oMath xmlns:m="http://schemas.openxmlformats.org/officeDocument/2006/math">
                    <m:r>
                      <a:rPr lang="en-US" sz="2200" i="1"/>
                      <m:t>𝜆</m:t>
                    </m:r>
                  </m:oMath>
                </a14:m>
                <a:r>
                  <a:rPr lang="en-US" sz="2200" dirty="0"/>
                  <a:t> denote any fixed physical parameters supplied to the model. The ideal sampling-density-invariance property is</a:t>
                </a:r>
              </a:p>
              <a:p>
                <a:pPr marL="0" indent="0" algn="just">
                  <a:lnSpc>
                    <a:spcPct val="100000"/>
                  </a:lnSpc>
                  <a:buNone/>
                </a:pPr>
                <a14:m>
                  <m:oMathPara xmlns:m="http://schemas.openxmlformats.org/officeDocument/2006/math">
                    <m:oMath>
                      <m:sSub>
                        <m:sSubPr>
                          <m:ctrlPr>
                            <a:rPr lang="en-US" sz="2200" i="1"/>
                          </m:ctrlPr>
                        </m:sSubPr>
                        <m:e>
                          <m:r>
                            <a:rPr lang="en-US" sz="2200" i="1"/>
                            <m:t>𝐹</m:t>
                          </m:r>
                        </m:e>
                        <m:sub>
                          <m:r>
                            <a:rPr lang="en-US" sz="2200" i="1"/>
                            <m:t>𝜃</m:t>
                          </m:r>
                        </m:sub>
                      </m:sSub>
                      <m:d>
                        <m:dPr>
                          <m:ctrlPr>
                            <a:rPr lang="en-US" sz="2200" i="1"/>
                          </m:ctrlPr>
                        </m:dPr>
                        <m:e>
                          <m:sSub>
                            <m:sSubPr>
                              <m:ctrlPr>
                                <a:rPr lang="en-US" sz="2200" i="1"/>
                              </m:ctrlPr>
                            </m:sSubPr>
                            <m:e>
                              <m:r>
                                <a:rPr lang="en-US" sz="2200" i="1"/>
                                <m:t>𝑋</m:t>
                              </m:r>
                            </m:e>
                            <m:sub>
                              <m:r>
                                <a:rPr lang="en-US" sz="2200" i="1"/>
                                <m:t>𝐴</m:t>
                              </m:r>
                            </m:sub>
                          </m:sSub>
                          <m:r>
                            <a:rPr lang="en-US" sz="2200"/>
                            <m:t>,</m:t>
                          </m:r>
                          <m:r>
                            <a:rPr lang="en-US" sz="2200" i="1"/>
                            <m:t>𝑄</m:t>
                          </m:r>
                          <m:r>
                            <a:rPr lang="en-US" sz="2200"/>
                            <m:t>,</m:t>
                          </m:r>
                          <m:r>
                            <a:rPr lang="en-US" sz="2200" i="1"/>
                            <m:t>𝜆</m:t>
                          </m:r>
                        </m:e>
                      </m:d>
                      <m:r>
                        <a:rPr lang="en-US" sz="2200"/>
                        <m:t>=</m:t>
                      </m:r>
                      <m:sSub>
                        <m:sSubPr>
                          <m:ctrlPr>
                            <a:rPr lang="en-US" sz="2200" i="1"/>
                          </m:ctrlPr>
                        </m:sSubPr>
                        <m:e>
                          <m:r>
                            <a:rPr lang="en-US" sz="2200" i="1"/>
                            <m:t>𝐹</m:t>
                          </m:r>
                        </m:e>
                        <m:sub>
                          <m:r>
                            <a:rPr lang="en-US" sz="2200" i="1"/>
                            <m:t>𝜃</m:t>
                          </m:r>
                        </m:sub>
                      </m:sSub>
                      <m:d>
                        <m:dPr>
                          <m:ctrlPr>
                            <a:rPr lang="en-US" sz="2200" i="1"/>
                          </m:ctrlPr>
                        </m:dPr>
                        <m:e>
                          <m:sSub>
                            <m:sSubPr>
                              <m:ctrlPr>
                                <a:rPr lang="en-US" sz="2200" i="1"/>
                              </m:ctrlPr>
                            </m:sSubPr>
                            <m:e>
                              <m:r>
                                <a:rPr lang="en-US" sz="2200" i="1"/>
                                <m:t>𝑋</m:t>
                              </m:r>
                            </m:e>
                            <m:sub>
                              <m:r>
                                <a:rPr lang="en-US" sz="2200" i="1"/>
                                <m:t>𝐵</m:t>
                              </m:r>
                            </m:sub>
                          </m:sSub>
                          <m:r>
                            <a:rPr lang="en-US" sz="2200"/>
                            <m:t>,</m:t>
                          </m:r>
                          <m:r>
                            <a:rPr lang="en-US" sz="2200" i="1"/>
                            <m:t>𝑄</m:t>
                          </m:r>
                          <m:r>
                            <a:rPr lang="en-US" sz="2200"/>
                            <m:t>,</m:t>
                          </m:r>
                          <m:r>
                            <a:rPr lang="en-US" sz="2200" i="1"/>
                            <m:t>𝜆</m:t>
                          </m:r>
                        </m:e>
                      </m:d>
                      <m:r>
                        <a:rPr lang="en-US" sz="2200"/>
                        <m:t>.</m:t>
                      </m:r>
                    </m:oMath>
                  </m:oMathPara>
                </a14:m>
                <a:endParaRPr lang="en-US" sz="2200" dirty="0"/>
              </a:p>
              <a:p>
                <a:pPr marL="0" indent="0" algn="just">
                  <a:lnSpc>
                    <a:spcPct val="100000"/>
                  </a:lnSpc>
                  <a:buNone/>
                </a:pPr>
                <a:r>
                  <a:rPr lang="en-US" sz="2200" dirty="0"/>
                  <a:t>That means changing only the spatial distribution of the input geometry points should not change the predicted physical field.</a:t>
                </a:r>
              </a:p>
            </p:txBody>
          </p:sp>
        </mc:Choice>
        <mc:Fallback>
          <p:sp>
            <p:nvSpPr>
              <p:cNvPr id="3" name="Content Placeholder 2">
                <a:extLst>
                  <a:ext uri="{FF2B5EF4-FFF2-40B4-BE49-F238E27FC236}">
                    <a16:creationId xmlns:a16="http://schemas.microsoft.com/office/drawing/2014/main" id="{1A697B89-0260-3DE9-BDF0-556DAEE49C7E}"/>
                  </a:ext>
                </a:extLst>
              </p:cNvPr>
              <p:cNvSpPr>
                <a:spLocks noGrp="1" noRot="1" noChangeAspect="1" noMove="1" noResize="1" noEditPoints="1" noAdjustHandles="1" noChangeArrowheads="1" noChangeShapeType="1" noTextEdit="1"/>
              </p:cNvSpPr>
              <p:nvPr>
                <p:ph idx="1"/>
              </p:nvPr>
            </p:nvSpPr>
            <p:spPr>
              <a:xfrm>
                <a:off x="838200" y="1499053"/>
                <a:ext cx="10515600" cy="4351338"/>
              </a:xfrm>
              <a:blipFill>
                <a:blip r:embed="rId2"/>
                <a:stretch>
                  <a:fillRect l="-724" t="-1166" r="-724"/>
                </a:stretch>
              </a:blipFill>
            </p:spPr>
            <p:txBody>
              <a:bodyPr/>
              <a:lstStyle/>
              <a:p>
                <a:r>
                  <a:rPr lang="en-US">
                    <a:noFill/>
                  </a:rPr>
                  <a:t> </a:t>
                </a:r>
              </a:p>
            </p:txBody>
          </p:sp>
        </mc:Fallback>
      </mc:AlternateContent>
    </p:spTree>
    <p:extLst>
      <p:ext uri="{BB962C8B-B14F-4D97-AF65-F5344CB8AC3E}">
        <p14:creationId xmlns:p14="http://schemas.microsoft.com/office/powerpoint/2010/main" val="1118182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D16F-9B01-6E76-D7E2-DB51F472B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03EDC-C753-634B-3640-808D68061197}"/>
              </a:ext>
            </a:extLst>
          </p:cNvPr>
          <p:cNvSpPr>
            <a:spLocks noGrp="1"/>
          </p:cNvSpPr>
          <p:nvPr>
            <p:ph type="title"/>
          </p:nvPr>
        </p:nvSpPr>
        <p:spPr>
          <a:xfrm>
            <a:off x="838200" y="365126"/>
            <a:ext cx="10515600" cy="1039132"/>
          </a:xfrm>
        </p:spPr>
        <p:txBody>
          <a:bodyPr>
            <a:normAutofit/>
          </a:bodyPr>
          <a:lstStyle/>
          <a:p>
            <a:r>
              <a:rPr lang="en-US" dirty="0"/>
              <a:t>Hypothesis about density sensitivity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3106A4-7B03-B715-1C04-55A503DAA2A2}"/>
                  </a:ext>
                </a:extLst>
              </p:cNvPr>
              <p:cNvSpPr>
                <a:spLocks noGrp="1"/>
              </p:cNvSpPr>
              <p:nvPr>
                <p:ph idx="1"/>
              </p:nvPr>
            </p:nvSpPr>
            <p:spPr>
              <a:xfrm>
                <a:off x="838200" y="1499053"/>
                <a:ext cx="10515600" cy="4351338"/>
              </a:xfrm>
            </p:spPr>
            <p:txBody>
              <a:bodyPr>
                <a:normAutofit/>
              </a:bodyPr>
              <a:lstStyle/>
              <a:p>
                <a:pPr algn="just">
                  <a:lnSpc>
                    <a:spcPct val="100000"/>
                  </a:lnSpc>
                </a:pPr>
                <a:r>
                  <a:rPr lang="en-US" sz="2200" dirty="0"/>
                  <a:t>We do not claim that every learned model must be sampling sensitive. A constant predictor, for example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𝐹</m:t>
                        </m:r>
                      </m:e>
                      <m:sub>
                        <m:r>
                          <a:rPr lang="en-US" sz="2200" i="1">
                            <a:latin typeface="Cambria Math" panose="02040503050406030204" pitchFamily="18" charset="0"/>
                          </a:rPr>
                          <m:t>𝜃</m:t>
                        </m:r>
                      </m:sub>
                    </m:sSub>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𝑋</m:t>
                            </m:r>
                          </m:e>
                          <m:sub>
                            <m:r>
                              <a:rPr lang="en-US" sz="2200" i="1">
                                <a:latin typeface="Cambria Math" panose="02040503050406030204" pitchFamily="18" charset="0"/>
                              </a:rPr>
                              <m:t>𝐴</m:t>
                            </m:r>
                          </m:sub>
                        </m:sSub>
                        <m:r>
                          <a:rPr lang="en-US" sz="2200">
                            <a:latin typeface="Cambria Math" panose="02040503050406030204" pitchFamily="18" charset="0"/>
                          </a:rPr>
                          <m:t>,</m:t>
                        </m:r>
                        <m:r>
                          <a:rPr lang="en-US" sz="2200" i="1">
                            <a:latin typeface="Cambria Math" panose="02040503050406030204" pitchFamily="18" charset="0"/>
                          </a:rPr>
                          <m:t>𝑄</m:t>
                        </m:r>
                        <m:r>
                          <a:rPr lang="en-US" sz="2200">
                            <a:latin typeface="Cambria Math" panose="02040503050406030204" pitchFamily="18" charset="0"/>
                          </a:rPr>
                          <m:t>,</m:t>
                        </m:r>
                        <m:r>
                          <a:rPr lang="en-US" sz="2200" i="1">
                            <a:latin typeface="Cambria Math" panose="02040503050406030204" pitchFamily="18" charset="0"/>
                          </a:rPr>
                          <m:t>𝜆</m:t>
                        </m:r>
                      </m:e>
                    </m:d>
                    <m:r>
                      <a:rPr lang="en-US" sz="2200">
                        <a:latin typeface="Cambria Math" panose="02040503050406030204" pitchFamily="18" charset="0"/>
                      </a:rPr>
                      <m:t>=</m:t>
                    </m:r>
                    <m:r>
                      <m:rPr>
                        <m:sty m:val="p"/>
                      </m:rPr>
                      <a:rPr lang="en-US" sz="2200" b="0" i="0" smtClean="0">
                        <a:latin typeface="Cambria Math" panose="02040503050406030204" pitchFamily="18" charset="0"/>
                      </a:rPr>
                      <m:t>Constant</m:t>
                    </m:r>
                  </m:oMath>
                </a14:m>
                <a:r>
                  <a:rPr lang="en-US" sz="2200" dirty="0"/>
                  <a:t> , would basically be invariant.</a:t>
                </a:r>
              </a:p>
              <a:p>
                <a:pPr algn="just">
                  <a:lnSpc>
                    <a:spcPct val="100000"/>
                  </a:lnSpc>
                </a:pPr>
                <a:r>
                  <a:rPr lang="en-US" sz="2200" dirty="0"/>
                  <a:t>The relevant statement is narrower and is tested across the most common surrogate architecture categories: </a:t>
                </a:r>
              </a:p>
              <a:p>
                <a:pPr lvl="1" algn="just">
                  <a:lnSpc>
                    <a:spcPct val="100000"/>
                  </a:lnSpc>
                </a:pPr>
                <a:r>
                  <a:rPr lang="en-US" sz="1800" b="1" dirty="0"/>
                  <a:t>Neural Operator-based: </a:t>
                </a:r>
                <a:r>
                  <a:rPr lang="en-US" sz="1800" dirty="0"/>
                  <a:t>SMART, LNO, </a:t>
                </a:r>
                <a:r>
                  <a:rPr lang="en-US" sz="1800" dirty="0" err="1"/>
                  <a:t>Transolver</a:t>
                </a:r>
                <a:r>
                  <a:rPr lang="en-US" sz="1800" dirty="0"/>
                  <a:t>++</a:t>
                </a:r>
              </a:p>
              <a:p>
                <a:pPr lvl="1" algn="just">
                  <a:lnSpc>
                    <a:spcPct val="100000"/>
                  </a:lnSpc>
                </a:pPr>
                <a:r>
                  <a:rPr lang="en-US" sz="1800" b="1" dirty="0"/>
                  <a:t>Local Aggregation-based: </a:t>
                </a:r>
                <a:r>
                  <a:rPr lang="en-US" sz="1800" dirty="0"/>
                  <a:t>MSPT, </a:t>
                </a:r>
                <a:r>
                  <a:rPr lang="en-US" sz="1800" dirty="0" err="1"/>
                  <a:t>PointNet</a:t>
                </a:r>
                <a:r>
                  <a:rPr lang="en-US" sz="1800" dirty="0"/>
                  <a:t>++</a:t>
                </a:r>
              </a:p>
              <a:p>
                <a:pPr lvl="1" algn="just">
                  <a:lnSpc>
                    <a:spcPct val="100000"/>
                  </a:lnSpc>
                </a:pPr>
                <a:r>
                  <a:rPr lang="en-US" sz="1800" b="1" dirty="0"/>
                  <a:t>Voxelization-based: </a:t>
                </a:r>
                <a:r>
                  <a:rPr lang="en-US" sz="1800" dirty="0"/>
                  <a:t>PointTransformerV3</a:t>
                </a:r>
              </a:p>
            </p:txBody>
          </p:sp>
        </mc:Choice>
        <mc:Fallback>
          <p:sp>
            <p:nvSpPr>
              <p:cNvPr id="3" name="Content Placeholder 2">
                <a:extLst>
                  <a:ext uri="{FF2B5EF4-FFF2-40B4-BE49-F238E27FC236}">
                    <a16:creationId xmlns:a16="http://schemas.microsoft.com/office/drawing/2014/main" id="{BD3106A4-7B03-B715-1C04-55A503DAA2A2}"/>
                  </a:ext>
                </a:extLst>
              </p:cNvPr>
              <p:cNvSpPr>
                <a:spLocks noGrp="1" noRot="1" noChangeAspect="1" noMove="1" noResize="1" noEditPoints="1" noAdjustHandles="1" noChangeArrowheads="1" noChangeShapeType="1" noTextEdit="1"/>
              </p:cNvSpPr>
              <p:nvPr>
                <p:ph idx="1"/>
              </p:nvPr>
            </p:nvSpPr>
            <p:spPr>
              <a:xfrm>
                <a:off x="838200" y="1499053"/>
                <a:ext cx="10515600" cy="4351338"/>
              </a:xfrm>
              <a:blipFill>
                <a:blip r:embed="rId2"/>
                <a:stretch>
                  <a:fillRect l="-724" t="-1166" r="-72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FEEAE6C-D5AA-E97D-4DEC-44FAF77C7891}"/>
              </a:ext>
            </a:extLst>
          </p:cNvPr>
          <p:cNvPicPr>
            <a:picLocks noChangeAspect="1"/>
          </p:cNvPicPr>
          <p:nvPr/>
        </p:nvPicPr>
        <p:blipFill>
          <a:blip r:embed="rId3"/>
          <a:srcRect t="43656" b="16902"/>
          <a:stretch>
            <a:fillRect/>
          </a:stretch>
        </p:blipFill>
        <p:spPr>
          <a:xfrm>
            <a:off x="693478" y="4104731"/>
            <a:ext cx="10805044" cy="2322278"/>
          </a:xfrm>
          <a:prstGeom prst="rect">
            <a:avLst/>
          </a:prstGeom>
        </p:spPr>
      </p:pic>
      <p:sp>
        <p:nvSpPr>
          <p:cNvPr id="6" name="TextBox 5">
            <a:extLst>
              <a:ext uri="{FF2B5EF4-FFF2-40B4-BE49-F238E27FC236}">
                <a16:creationId xmlns:a16="http://schemas.microsoft.com/office/drawing/2014/main" id="{9447B8D3-0F4C-CE6F-B68D-2BAAD26602D5}"/>
              </a:ext>
            </a:extLst>
          </p:cNvPr>
          <p:cNvSpPr txBox="1"/>
          <p:nvPr/>
        </p:nvSpPr>
        <p:spPr>
          <a:xfrm>
            <a:off x="1295401" y="6351203"/>
            <a:ext cx="3113944" cy="369332"/>
          </a:xfrm>
          <a:prstGeom prst="rect">
            <a:avLst/>
          </a:prstGeom>
          <a:noFill/>
        </p:spPr>
        <p:txBody>
          <a:bodyPr wrap="square">
            <a:spAutoFit/>
          </a:bodyPr>
          <a:lstStyle/>
          <a:p>
            <a:r>
              <a:rPr lang="en-US" sz="1800" b="1" dirty="0"/>
              <a:t>Neural Operator-based</a:t>
            </a:r>
            <a:endParaRPr lang="en-US" dirty="0"/>
          </a:p>
        </p:txBody>
      </p:sp>
      <p:sp>
        <p:nvSpPr>
          <p:cNvPr id="8" name="TextBox 7">
            <a:extLst>
              <a:ext uri="{FF2B5EF4-FFF2-40B4-BE49-F238E27FC236}">
                <a16:creationId xmlns:a16="http://schemas.microsoft.com/office/drawing/2014/main" id="{C1223FDD-CE81-239C-5BB0-F325BAF49F9A}"/>
              </a:ext>
            </a:extLst>
          </p:cNvPr>
          <p:cNvSpPr txBox="1"/>
          <p:nvPr/>
        </p:nvSpPr>
        <p:spPr>
          <a:xfrm>
            <a:off x="4691116" y="6351203"/>
            <a:ext cx="3113944" cy="369332"/>
          </a:xfrm>
          <a:prstGeom prst="rect">
            <a:avLst/>
          </a:prstGeom>
          <a:noFill/>
        </p:spPr>
        <p:txBody>
          <a:bodyPr wrap="square">
            <a:spAutoFit/>
          </a:bodyPr>
          <a:lstStyle/>
          <a:p>
            <a:r>
              <a:rPr lang="en-US" sz="1800" b="1" dirty="0"/>
              <a:t>Local Aggregation-based</a:t>
            </a:r>
            <a:endParaRPr lang="en-US" dirty="0"/>
          </a:p>
        </p:txBody>
      </p:sp>
      <p:sp>
        <p:nvSpPr>
          <p:cNvPr id="10" name="TextBox 9">
            <a:extLst>
              <a:ext uri="{FF2B5EF4-FFF2-40B4-BE49-F238E27FC236}">
                <a16:creationId xmlns:a16="http://schemas.microsoft.com/office/drawing/2014/main" id="{9A7E344D-16BA-ED59-8DC7-16F880475C38}"/>
              </a:ext>
            </a:extLst>
          </p:cNvPr>
          <p:cNvSpPr txBox="1"/>
          <p:nvPr/>
        </p:nvSpPr>
        <p:spPr>
          <a:xfrm>
            <a:off x="8371112" y="6351203"/>
            <a:ext cx="2536371" cy="369332"/>
          </a:xfrm>
          <a:prstGeom prst="rect">
            <a:avLst/>
          </a:prstGeom>
          <a:noFill/>
        </p:spPr>
        <p:txBody>
          <a:bodyPr wrap="square">
            <a:spAutoFit/>
          </a:bodyPr>
          <a:lstStyle/>
          <a:p>
            <a:r>
              <a:rPr lang="en-US" sz="1800" b="1" dirty="0"/>
              <a:t>Voxelization-based</a:t>
            </a:r>
            <a:endParaRPr lang="en-US" dirty="0"/>
          </a:p>
        </p:txBody>
      </p:sp>
    </p:spTree>
    <p:extLst>
      <p:ext uri="{BB962C8B-B14F-4D97-AF65-F5344CB8AC3E}">
        <p14:creationId xmlns:p14="http://schemas.microsoft.com/office/powerpoint/2010/main" val="3826276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7C55B-F6DB-AC6D-838C-EF60135B9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A9D10-9169-0107-0EE6-699B534E9F65}"/>
              </a:ext>
            </a:extLst>
          </p:cNvPr>
          <p:cNvSpPr>
            <a:spLocks noGrp="1"/>
          </p:cNvSpPr>
          <p:nvPr>
            <p:ph type="title"/>
          </p:nvPr>
        </p:nvSpPr>
        <p:spPr>
          <a:xfrm>
            <a:off x="838200" y="161471"/>
            <a:ext cx="10515600" cy="840015"/>
          </a:xfrm>
        </p:spPr>
        <p:txBody>
          <a:bodyPr>
            <a:noAutofit/>
          </a:bodyPr>
          <a:lstStyle/>
          <a:p>
            <a:r>
              <a:rPr lang="en-US" sz="3200" b="1" dirty="0"/>
              <a:t>Hypothesis about density sensitivity – Neural Operator</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9ABD1691-4812-D909-984B-87F398C32870}"/>
                  </a:ext>
                </a:extLst>
              </p:cNvPr>
              <p:cNvSpPr>
                <a:spLocks noGrp="1"/>
              </p:cNvSpPr>
              <p:nvPr>
                <p:ph idx="1"/>
              </p:nvPr>
            </p:nvSpPr>
            <p:spPr>
              <a:xfrm>
                <a:off x="838200" y="1404258"/>
                <a:ext cx="10515600" cy="4772705"/>
              </a:xfrm>
            </p:spPr>
            <p:txBody>
              <a:bodyPr>
                <a:normAutofit/>
              </a:bodyPr>
              <a:lstStyle/>
              <a:p>
                <a:pPr algn="just">
                  <a:lnSpc>
                    <a:spcPct val="100000"/>
                  </a:lnSpc>
                </a:pPr>
                <a:r>
                  <a:rPr lang="en-US" sz="2200" dirty="0"/>
                  <a:t>Consider a generic attention-based point aggregation</a:t>
                </a:r>
              </a:p>
              <a:p>
                <a:pPr marL="0" indent="0" algn="just">
                  <a:lnSpc>
                    <a:spcPct val="100000"/>
                  </a:lnSpc>
                  <a:buNone/>
                </a:pPr>
                <a14:m>
                  <m:oMathPara xmlns:m="http://schemas.openxmlformats.org/officeDocument/2006/math">
                    <m:oMath>
                      <m:sSub>
                        <m:sSubPr>
                          <m:ctrlPr>
                            <a:rPr lang="en-US" sz="2200" i="1"/>
                          </m:ctrlPr>
                        </m:sSubPr>
                        <m:e>
                          <m:r>
                            <a:rPr lang="en-US" sz="2200" i="1"/>
                            <m:t>𝐴</m:t>
                          </m:r>
                        </m:e>
                        <m:sub>
                          <m:r>
                            <a:rPr lang="en-US" sz="2200" i="1"/>
                            <m:t>𝐴</m:t>
                          </m:r>
                        </m:sub>
                      </m:sSub>
                      <m:d>
                        <m:dPr>
                          <m:ctrlPr>
                            <a:rPr lang="en-US" sz="2200" i="1"/>
                          </m:ctrlPr>
                        </m:dPr>
                        <m:e>
                          <m:r>
                            <a:rPr lang="en-US" sz="2200" i="1"/>
                            <m:t>𝑞</m:t>
                          </m:r>
                        </m:e>
                      </m:d>
                      <m:r>
                        <a:rPr lang="en-US" sz="2200"/>
                        <m:t>=</m:t>
                      </m:r>
                      <m:f>
                        <m:fPr>
                          <m:ctrlPr>
                            <a:rPr lang="en-US" sz="2200" i="1"/>
                          </m:ctrlPr>
                        </m:fPr>
                        <m:num>
                          <m:nary>
                            <m:naryPr>
                              <m:limLoc m:val="subSup"/>
                              <m:ctrlPr>
                                <a:rPr lang="en-US" sz="2200" i="1"/>
                              </m:ctrlPr>
                            </m:naryPr>
                            <m:sub>
                              <m:r>
                                <a:rPr lang="en-US" sz="2200" i="1"/>
                                <m:t>𝛤</m:t>
                              </m:r>
                            </m:sub>
                            <m:sup>
                              <m:r>
                                <a:rPr lang="en-US" sz="2200" i="1"/>
                                <m:t>​</m:t>
                              </m:r>
                            </m:sup>
                            <m:e>
                              <m:r>
                                <a:rPr lang="en-US" sz="2200" i="1"/>
                                <m:t>𝑎</m:t>
                              </m:r>
                            </m:e>
                          </m:nary>
                          <m:d>
                            <m:dPr>
                              <m:ctrlPr>
                                <a:rPr lang="en-US" sz="2200" i="1"/>
                              </m:ctrlPr>
                            </m:dPr>
                            <m:e>
                              <m:r>
                                <a:rPr lang="en-US" sz="2200" i="1"/>
                                <m:t>𝑞</m:t>
                              </m:r>
                              <m:r>
                                <a:rPr lang="en-US" sz="2200"/>
                                <m:t>,</m:t>
                              </m:r>
                              <m:r>
                                <a:rPr lang="en-US" sz="2200" i="1"/>
                                <m:t>𝑥</m:t>
                              </m:r>
                            </m:e>
                          </m:d>
                          <m:r>
                            <a:rPr lang="en-US" sz="2200" i="1"/>
                            <m:t> </m:t>
                          </m:r>
                          <m:r>
                            <a:rPr lang="en-US" sz="2200" i="1"/>
                            <m:t>𝑣</m:t>
                          </m:r>
                          <m:d>
                            <m:dPr>
                              <m:ctrlPr>
                                <a:rPr lang="en-US" sz="2200" i="1"/>
                              </m:ctrlPr>
                            </m:dPr>
                            <m:e>
                              <m:r>
                                <a:rPr lang="en-US" sz="2200" i="1"/>
                                <m:t>𝑥</m:t>
                              </m:r>
                            </m:e>
                          </m:d>
                          <m:r>
                            <a:rPr lang="en-US" sz="2200" i="1"/>
                            <m:t> </m:t>
                          </m:r>
                          <m:sSub>
                            <m:sSubPr>
                              <m:ctrlPr>
                                <a:rPr lang="en-US" sz="2200" i="1"/>
                              </m:ctrlPr>
                            </m:sSubPr>
                            <m:e>
                              <m:r>
                                <a:rPr lang="en-US" sz="2200" i="1"/>
                                <m:t>𝑑</m:t>
                              </m:r>
                            </m:e>
                            <m:sub>
                              <m:r>
                                <a:rPr lang="en-US" sz="2200" i="1"/>
                                <m:t>𝐴</m:t>
                              </m:r>
                            </m:sub>
                          </m:sSub>
                          <m:d>
                            <m:dPr>
                              <m:ctrlPr>
                                <a:rPr lang="en-US" sz="2200" i="1"/>
                              </m:ctrlPr>
                            </m:dPr>
                            <m:e>
                              <m:r>
                                <a:rPr lang="en-US" sz="2200" i="1"/>
                                <m:t>𝑥</m:t>
                              </m:r>
                            </m:e>
                          </m:d>
                          <m:r>
                            <a:rPr lang="en-US" sz="2200" i="1"/>
                            <m:t> </m:t>
                          </m:r>
                          <m:r>
                            <a:rPr lang="en-US" sz="2200" i="1"/>
                            <m:t>𝑑𝑆</m:t>
                          </m:r>
                          <m:d>
                            <m:dPr>
                              <m:ctrlPr>
                                <a:rPr lang="en-US" sz="2200" i="1"/>
                              </m:ctrlPr>
                            </m:dPr>
                            <m:e>
                              <m:r>
                                <a:rPr lang="en-US" sz="2200" i="1"/>
                                <m:t>𝑥</m:t>
                              </m:r>
                            </m:e>
                          </m:d>
                        </m:num>
                        <m:den>
                          <m:nary>
                            <m:naryPr>
                              <m:limLoc m:val="subSup"/>
                              <m:ctrlPr>
                                <a:rPr lang="en-US" sz="2200" i="1"/>
                              </m:ctrlPr>
                            </m:naryPr>
                            <m:sub>
                              <m:r>
                                <a:rPr lang="en-US" sz="2200" i="1"/>
                                <m:t>𝛤</m:t>
                              </m:r>
                            </m:sub>
                            <m:sup>
                              <m:r>
                                <a:rPr lang="en-US" sz="2200" i="1"/>
                                <m:t>​</m:t>
                              </m:r>
                            </m:sup>
                            <m:e>
                              <m:r>
                                <a:rPr lang="en-US" sz="2200" i="1"/>
                                <m:t>𝑎</m:t>
                              </m:r>
                            </m:e>
                          </m:nary>
                          <m:d>
                            <m:dPr>
                              <m:ctrlPr>
                                <a:rPr lang="en-US" sz="2200" i="1"/>
                              </m:ctrlPr>
                            </m:dPr>
                            <m:e>
                              <m:r>
                                <a:rPr lang="en-US" sz="2200" i="1"/>
                                <m:t>𝑞</m:t>
                              </m:r>
                              <m:r>
                                <a:rPr lang="en-US" sz="2200"/>
                                <m:t>,</m:t>
                              </m:r>
                              <m:r>
                                <a:rPr lang="en-US" sz="2200" i="1"/>
                                <m:t>𝑥</m:t>
                              </m:r>
                            </m:e>
                          </m:d>
                          <m:r>
                            <a:rPr lang="en-US" sz="2200" i="1"/>
                            <m:t> </m:t>
                          </m:r>
                          <m:sSub>
                            <m:sSubPr>
                              <m:ctrlPr>
                                <a:rPr lang="en-US" sz="2200" i="1"/>
                              </m:ctrlPr>
                            </m:sSubPr>
                            <m:e>
                              <m:r>
                                <a:rPr lang="en-US" sz="2200" i="1"/>
                                <m:t>𝑑</m:t>
                              </m:r>
                            </m:e>
                            <m:sub>
                              <m:r>
                                <a:rPr lang="en-US" sz="2200" i="1"/>
                                <m:t>𝐴</m:t>
                              </m:r>
                            </m:sub>
                          </m:sSub>
                          <m:d>
                            <m:dPr>
                              <m:ctrlPr>
                                <a:rPr lang="en-US" sz="2200" i="1"/>
                              </m:ctrlPr>
                            </m:dPr>
                            <m:e>
                              <m:r>
                                <a:rPr lang="en-US" sz="2200" i="1"/>
                                <m:t>𝑥</m:t>
                              </m:r>
                            </m:e>
                          </m:d>
                          <m:r>
                            <a:rPr lang="en-US" sz="2200" i="1"/>
                            <m:t> </m:t>
                          </m:r>
                          <m:r>
                            <a:rPr lang="en-US" sz="2200" i="1"/>
                            <m:t>𝑑𝑆</m:t>
                          </m:r>
                          <m:d>
                            <m:dPr>
                              <m:ctrlPr>
                                <a:rPr lang="en-US" sz="2200" i="1"/>
                              </m:ctrlPr>
                            </m:dPr>
                            <m:e>
                              <m:r>
                                <a:rPr lang="en-US" sz="2200" i="1"/>
                                <m:t>𝑥</m:t>
                              </m:r>
                            </m:e>
                          </m:d>
                        </m:den>
                      </m:f>
                      <m:r>
                        <a:rPr lang="en-US" sz="2200"/>
                        <m:t>.</m:t>
                      </m:r>
                    </m:oMath>
                  </m:oMathPara>
                </a14:m>
                <a:endParaRPr lang="en-US" sz="2200" dirty="0"/>
              </a:p>
              <a:p>
                <a:pPr marL="0" indent="0" algn="just">
                  <a:lnSpc>
                    <a:spcPct val="100000"/>
                  </a:lnSpc>
                  <a:buNone/>
                </a:pPr>
                <a:r>
                  <a:rPr lang="en-US" sz="2200" dirty="0"/>
                  <a:t>Here, </a:t>
                </a:r>
                <a14:m>
                  <m:oMath xmlns:m="http://schemas.openxmlformats.org/officeDocument/2006/math">
                    <m:r>
                      <a:rPr lang="en-US" sz="2200" i="1"/>
                      <m:t>𝑞</m:t>
                    </m:r>
                  </m:oMath>
                </a14:m>
                <a:r>
                  <a:rPr lang="en-US" sz="2200" dirty="0"/>
                  <a:t> is a query or latent location, </a:t>
                </a:r>
                <a14:m>
                  <m:oMath xmlns:m="http://schemas.openxmlformats.org/officeDocument/2006/math">
                    <m:r>
                      <a:rPr lang="en-US" sz="2200" i="1"/>
                      <m:t>𝑥</m:t>
                    </m:r>
                  </m:oMath>
                </a14:m>
                <a:r>
                  <a:rPr lang="en-US" sz="2200" dirty="0"/>
                  <a:t> is a geometry location, </a:t>
                </a:r>
                <a14:m>
                  <m:oMath xmlns:m="http://schemas.openxmlformats.org/officeDocument/2006/math">
                    <m:r>
                      <a:rPr lang="en-US" sz="2200" i="1"/>
                      <m:t>𝑎</m:t>
                    </m:r>
                    <m:d>
                      <m:dPr>
                        <m:ctrlPr>
                          <a:rPr lang="en-US" sz="2200" i="1"/>
                        </m:ctrlPr>
                      </m:dPr>
                      <m:e>
                        <m:r>
                          <a:rPr lang="en-US" sz="2200" i="1"/>
                          <m:t>𝑞</m:t>
                        </m:r>
                        <m:r>
                          <a:rPr lang="en-US" sz="2200"/>
                          <m:t>,</m:t>
                        </m:r>
                        <m:r>
                          <a:rPr lang="en-US" sz="2200" i="1"/>
                          <m:t>𝑥</m:t>
                        </m:r>
                      </m:e>
                    </m:d>
                    <m:r>
                      <a:rPr lang="en-US" sz="2200"/>
                      <m:t>&gt;</m:t>
                    </m:r>
                    <m:r>
                      <a:rPr lang="en-US" sz="2200" i="1"/>
                      <m:t>0</m:t>
                    </m:r>
                  </m:oMath>
                </a14:m>
                <a:r>
                  <a:rPr lang="en-US" sz="2200" dirty="0"/>
                  <a:t> is a learned attention score, </a:t>
                </a:r>
                <a14:m>
                  <m:oMath xmlns:m="http://schemas.openxmlformats.org/officeDocument/2006/math">
                    <m:r>
                      <a:rPr lang="en-US" sz="2200" i="1"/>
                      <m:t>𝑣</m:t>
                    </m:r>
                    <m:d>
                      <m:dPr>
                        <m:ctrlPr>
                          <a:rPr lang="en-US" sz="2200" i="1"/>
                        </m:ctrlPr>
                      </m:dPr>
                      <m:e>
                        <m:r>
                          <a:rPr lang="en-US" sz="2200" i="1"/>
                          <m:t>𝑥</m:t>
                        </m:r>
                      </m:e>
                    </m:d>
                  </m:oMath>
                </a14:m>
                <a:r>
                  <a:rPr lang="en-US" sz="2200" dirty="0"/>
                  <a:t> is the feature (being XYZ here) associated with location </a:t>
                </a:r>
                <a14:m>
                  <m:oMath xmlns:m="http://schemas.openxmlformats.org/officeDocument/2006/math">
                    <m:r>
                      <a:rPr lang="en-US" sz="2200" i="1"/>
                      <m:t>𝑥</m:t>
                    </m:r>
                  </m:oMath>
                </a14:m>
                <a:r>
                  <a:rPr lang="en-US" sz="2200" dirty="0"/>
                  <a:t>, </a:t>
                </a:r>
                <a14:m>
                  <m:oMath xmlns:m="http://schemas.openxmlformats.org/officeDocument/2006/math">
                    <m:sSub>
                      <m:sSubPr>
                        <m:ctrlPr>
                          <a:rPr lang="en-US" sz="2200" i="1"/>
                        </m:ctrlPr>
                      </m:sSubPr>
                      <m:e>
                        <m:r>
                          <a:rPr lang="en-US" sz="2200" i="1"/>
                          <m:t>𝑑</m:t>
                        </m:r>
                      </m:e>
                      <m:sub>
                        <m:r>
                          <a:rPr lang="en-US" sz="2200" i="1"/>
                          <m:t>𝐴</m:t>
                        </m:r>
                      </m:sub>
                    </m:sSub>
                    <m:d>
                      <m:dPr>
                        <m:ctrlPr>
                          <a:rPr lang="en-US" sz="2200" i="1"/>
                        </m:ctrlPr>
                      </m:dPr>
                      <m:e>
                        <m:r>
                          <a:rPr lang="en-US" sz="2200" i="1"/>
                          <m:t>𝑥</m:t>
                        </m:r>
                      </m:e>
                    </m:d>
                  </m:oMath>
                </a14:m>
                <a:r>
                  <a:rPr lang="en-US" sz="2200" dirty="0"/>
                  <a:t> is the sampling density of cloud </a:t>
                </a:r>
                <a14:m>
                  <m:oMath xmlns:m="http://schemas.openxmlformats.org/officeDocument/2006/math">
                    <m:sSub>
                      <m:sSubPr>
                        <m:ctrlPr>
                          <a:rPr lang="en-US" sz="2200" i="1"/>
                        </m:ctrlPr>
                      </m:sSubPr>
                      <m:e>
                        <m:r>
                          <a:rPr lang="en-US" sz="2200" i="1"/>
                          <m:t>𝑋</m:t>
                        </m:r>
                      </m:e>
                      <m:sub>
                        <m:r>
                          <a:rPr lang="en-US" sz="2200" i="1"/>
                          <m:t>𝐴</m:t>
                        </m:r>
                      </m:sub>
                    </m:sSub>
                  </m:oMath>
                </a14:m>
                <a:r>
                  <a:rPr lang="en-US" sz="2200" dirty="0"/>
                  <a:t>, and </a:t>
                </a:r>
                <a14:m>
                  <m:oMath xmlns:m="http://schemas.openxmlformats.org/officeDocument/2006/math">
                    <m:sSub>
                      <m:sSubPr>
                        <m:ctrlPr>
                          <a:rPr lang="en-US" sz="2200" i="1"/>
                        </m:ctrlPr>
                      </m:sSubPr>
                      <m:e>
                        <m:r>
                          <a:rPr lang="en-US" sz="2200" i="1"/>
                          <m:t>𝐴</m:t>
                        </m:r>
                      </m:e>
                      <m:sub>
                        <m:r>
                          <a:rPr lang="en-US" sz="2200" i="1"/>
                          <m:t>𝐴</m:t>
                        </m:r>
                      </m:sub>
                    </m:sSub>
                    <m:d>
                      <m:dPr>
                        <m:ctrlPr>
                          <a:rPr lang="en-US" sz="2200" i="1"/>
                        </m:ctrlPr>
                      </m:dPr>
                      <m:e>
                        <m:r>
                          <a:rPr lang="en-US" sz="2200" i="1"/>
                          <m:t>𝑞</m:t>
                        </m:r>
                      </m:e>
                    </m:d>
                  </m:oMath>
                </a14:m>
                <a:r>
                  <a:rPr lang="en-US" sz="2200" dirty="0"/>
                  <a:t> is the resulting aggregated feature.</a:t>
                </a:r>
              </a:p>
              <a:p>
                <a:pPr marL="0" indent="0" algn="just">
                  <a:lnSpc>
                    <a:spcPct val="100000"/>
                  </a:lnSpc>
                  <a:buNone/>
                </a:pPr>
                <a:endParaRPr lang="en-US" sz="2200" dirty="0"/>
              </a:p>
              <a:p>
                <a:pPr algn="just">
                  <a:lnSpc>
                    <a:spcPct val="100000"/>
                  </a:lnSpc>
                </a:pPr>
                <a:r>
                  <a:rPr lang="en-US" sz="2200" dirty="0"/>
                  <a:t>If </a:t>
                </a:r>
                <a14:m>
                  <m:oMath xmlns:m="http://schemas.openxmlformats.org/officeDocument/2006/math">
                    <m:sSub>
                      <m:sSubPr>
                        <m:ctrlPr>
                          <a:rPr lang="en-US" sz="2200" i="1"/>
                        </m:ctrlPr>
                      </m:sSubPr>
                      <m:e>
                        <m:r>
                          <a:rPr lang="en-US" sz="2200" i="1"/>
                          <m:t>𝑑</m:t>
                        </m:r>
                      </m:e>
                      <m:sub>
                        <m:r>
                          <a:rPr lang="en-US" sz="2200" i="1"/>
                          <m:t>𝐴</m:t>
                        </m:r>
                      </m:sub>
                    </m:sSub>
                    <m:d>
                      <m:dPr>
                        <m:ctrlPr>
                          <a:rPr lang="en-US" sz="2200" i="1"/>
                        </m:ctrlPr>
                      </m:dPr>
                      <m:e>
                        <m:r>
                          <a:rPr lang="en-US" sz="2200" i="1"/>
                          <m:t>𝑥</m:t>
                        </m:r>
                      </m:e>
                    </m:d>
                  </m:oMath>
                </a14:m>
                <a:r>
                  <a:rPr lang="en-US" sz="2200" dirty="0"/>
                  <a:t> is replaced by a different density </a:t>
                </a:r>
                <a14:m>
                  <m:oMath xmlns:m="http://schemas.openxmlformats.org/officeDocument/2006/math">
                    <m:sSub>
                      <m:sSubPr>
                        <m:ctrlPr>
                          <a:rPr lang="en-US" sz="2200" i="1"/>
                        </m:ctrlPr>
                      </m:sSubPr>
                      <m:e>
                        <m:r>
                          <a:rPr lang="en-US" sz="2200" i="1"/>
                          <m:t>𝑑</m:t>
                        </m:r>
                      </m:e>
                      <m:sub>
                        <m:r>
                          <a:rPr lang="en-US" sz="2200" i="1"/>
                          <m:t>𝐵</m:t>
                        </m:r>
                      </m:sub>
                    </m:sSub>
                    <m:d>
                      <m:dPr>
                        <m:ctrlPr>
                          <a:rPr lang="en-US" sz="2200" i="1"/>
                        </m:ctrlPr>
                      </m:dPr>
                      <m:e>
                        <m:r>
                          <a:rPr lang="en-US" sz="2200" i="1"/>
                          <m:t>𝑥</m:t>
                        </m:r>
                      </m:e>
                    </m:d>
                  </m:oMath>
                </a14:m>
                <a:r>
                  <a:rPr lang="en-US" sz="2200" dirty="0"/>
                  <a:t>, both weighted integrals generally change. Therefore, there is no architectural identity requiring</a:t>
                </a:r>
              </a:p>
              <a:p>
                <a:pPr marL="0" indent="0" algn="just">
                  <a:lnSpc>
                    <a:spcPct val="100000"/>
                  </a:lnSpc>
                  <a:buNone/>
                </a:pPr>
                <a14:m>
                  <m:oMathPara xmlns:m="http://schemas.openxmlformats.org/officeDocument/2006/math">
                    <m:oMath>
                      <m:sSub>
                        <m:sSubPr>
                          <m:ctrlPr>
                            <a:rPr lang="en-US" sz="2200" i="1"/>
                          </m:ctrlPr>
                        </m:sSubPr>
                        <m:e>
                          <m:r>
                            <a:rPr lang="en-US" sz="2200" i="1"/>
                            <m:t>𝐴</m:t>
                          </m:r>
                        </m:e>
                        <m:sub>
                          <m:r>
                            <a:rPr lang="en-US" sz="2200" i="1"/>
                            <m:t>𝐴</m:t>
                          </m:r>
                        </m:sub>
                      </m:sSub>
                      <m:d>
                        <m:dPr>
                          <m:ctrlPr>
                            <a:rPr lang="en-US" sz="2200" i="1"/>
                          </m:ctrlPr>
                        </m:dPr>
                        <m:e>
                          <m:r>
                            <a:rPr lang="en-US" sz="2200" i="1"/>
                            <m:t>𝑞</m:t>
                          </m:r>
                        </m:e>
                      </m:d>
                      <m:r>
                        <a:rPr lang="en-US" sz="2200"/>
                        <m:t>=</m:t>
                      </m:r>
                      <m:sSub>
                        <m:sSubPr>
                          <m:ctrlPr>
                            <a:rPr lang="en-US" sz="2200" i="1"/>
                          </m:ctrlPr>
                        </m:sSubPr>
                        <m:e>
                          <m:r>
                            <a:rPr lang="en-US" sz="2200" i="1"/>
                            <m:t>𝐴</m:t>
                          </m:r>
                        </m:e>
                        <m:sub>
                          <m:r>
                            <a:rPr lang="en-US" sz="2200" i="1"/>
                            <m:t>𝐵</m:t>
                          </m:r>
                        </m:sub>
                      </m:sSub>
                      <m:d>
                        <m:dPr>
                          <m:ctrlPr>
                            <a:rPr lang="en-US" sz="2200" i="1"/>
                          </m:ctrlPr>
                        </m:dPr>
                        <m:e>
                          <m:r>
                            <a:rPr lang="en-US" sz="2200" i="1"/>
                            <m:t>𝑞</m:t>
                          </m:r>
                        </m:e>
                      </m:d>
                    </m:oMath>
                  </m:oMathPara>
                </a14:m>
                <a:endParaRPr lang="en-US" sz="2200" dirty="0"/>
              </a:p>
            </p:txBody>
          </p:sp>
        </mc:Choice>
        <mc:Fallback>
          <p:sp>
            <p:nvSpPr>
              <p:cNvPr id="6" name="Content Placeholder 5">
                <a:extLst>
                  <a:ext uri="{FF2B5EF4-FFF2-40B4-BE49-F238E27FC236}">
                    <a16:creationId xmlns:a16="http://schemas.microsoft.com/office/drawing/2014/main" id="{9ABD1691-4812-D909-984B-87F398C32870}"/>
                  </a:ext>
                </a:extLst>
              </p:cNvPr>
              <p:cNvSpPr>
                <a:spLocks noGrp="1" noRot="1" noChangeAspect="1" noMove="1" noResize="1" noEditPoints="1" noAdjustHandles="1" noChangeArrowheads="1" noChangeShapeType="1" noTextEdit="1"/>
              </p:cNvSpPr>
              <p:nvPr>
                <p:ph idx="1"/>
              </p:nvPr>
            </p:nvSpPr>
            <p:spPr>
              <a:xfrm>
                <a:off x="838200" y="1404258"/>
                <a:ext cx="10515600" cy="4772705"/>
              </a:xfrm>
              <a:blipFill>
                <a:blip r:embed="rId2"/>
                <a:stretch>
                  <a:fillRect l="-724" t="-6897" r="-724"/>
                </a:stretch>
              </a:blipFill>
            </p:spPr>
            <p:txBody>
              <a:bodyPr/>
              <a:lstStyle/>
              <a:p>
                <a:r>
                  <a:rPr lang="en-US">
                    <a:noFill/>
                  </a:rPr>
                  <a:t> </a:t>
                </a:r>
              </a:p>
            </p:txBody>
          </p:sp>
        </mc:Fallback>
      </mc:AlternateContent>
    </p:spTree>
    <p:extLst>
      <p:ext uri="{BB962C8B-B14F-4D97-AF65-F5344CB8AC3E}">
        <p14:creationId xmlns:p14="http://schemas.microsoft.com/office/powerpoint/2010/main" val="3829019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D38E-06DC-1377-E409-6CFBF65D3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48654-326C-79B7-C4DF-06E0BBE3B14B}"/>
              </a:ext>
            </a:extLst>
          </p:cNvPr>
          <p:cNvSpPr>
            <a:spLocks noGrp="1"/>
          </p:cNvSpPr>
          <p:nvPr>
            <p:ph type="title"/>
          </p:nvPr>
        </p:nvSpPr>
        <p:spPr>
          <a:xfrm>
            <a:off x="838200" y="141514"/>
            <a:ext cx="10515600" cy="805543"/>
          </a:xfrm>
        </p:spPr>
        <p:txBody>
          <a:bodyPr>
            <a:noAutofit/>
          </a:bodyPr>
          <a:lstStyle/>
          <a:p>
            <a:r>
              <a:rPr lang="en-US" sz="2800" b="1" dirty="0"/>
              <a:t>Hypothesis about density sensitivity – Local Aggregation with Ball</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B8B18F22-343C-6E0B-C040-81763B8BA2DD}"/>
                  </a:ext>
                </a:extLst>
              </p:cNvPr>
              <p:cNvSpPr>
                <a:spLocks noGrp="1"/>
              </p:cNvSpPr>
              <p:nvPr>
                <p:ph idx="1"/>
              </p:nvPr>
            </p:nvSpPr>
            <p:spPr>
              <a:xfrm>
                <a:off x="838200" y="947057"/>
                <a:ext cx="10515600" cy="5769429"/>
              </a:xfrm>
            </p:spPr>
            <p:txBody>
              <a:bodyPr>
                <a:normAutofit/>
              </a:bodyPr>
              <a:lstStyle/>
              <a:p>
                <a:pPr marL="0" indent="0" algn="just">
                  <a:lnSpc>
                    <a:spcPct val="100000"/>
                  </a:lnSpc>
                  <a:buNone/>
                </a:pPr>
                <a:r>
                  <a:rPr lang="en-US" sz="2200" dirty="0"/>
                  <a:t>Sampling density affects local point operators through the amount of sampled support inside a spatial neighborhood. Let </a:t>
                </a:r>
                <a14:m>
                  <m:oMath xmlns:m="http://schemas.openxmlformats.org/officeDocument/2006/math">
                    <m:r>
                      <a:rPr lang="en-US" sz="2200" i="1"/>
                      <m:t>𝑥</m:t>
                    </m:r>
                  </m:oMath>
                </a14:m>
                <a:r>
                  <a:rPr lang="en-US" sz="2200" dirty="0"/>
                  <a:t> be a location on the geometry </a:t>
                </a:r>
                <a14:m>
                  <m:oMath xmlns:m="http://schemas.openxmlformats.org/officeDocument/2006/math">
                    <m:r>
                      <a:rPr lang="en-US" sz="2200" i="1"/>
                      <m:t>𝛤</m:t>
                    </m:r>
                  </m:oMath>
                </a14:m>
                <a:r>
                  <a:rPr lang="en-US" sz="2200" dirty="0"/>
                  <a:t>, let </a:t>
                </a:r>
                <a14:m>
                  <m:oMath xmlns:m="http://schemas.openxmlformats.org/officeDocument/2006/math">
                    <m:sSub>
                      <m:sSubPr>
                        <m:ctrlPr>
                          <a:rPr lang="en-US" sz="2200" i="1"/>
                        </m:ctrlPr>
                      </m:sSubPr>
                      <m:e>
                        <m:r>
                          <a:rPr lang="en-US" sz="2200" i="1"/>
                          <m:t>𝐵</m:t>
                        </m:r>
                      </m:e>
                      <m:sub>
                        <m:r>
                          <a:rPr lang="en-US" sz="2200" i="1"/>
                          <m:t>𝑅</m:t>
                        </m:r>
                      </m:sub>
                    </m:sSub>
                    <m:d>
                      <m:dPr>
                        <m:ctrlPr>
                          <a:rPr lang="en-US" sz="2200" i="1"/>
                        </m:ctrlPr>
                      </m:dPr>
                      <m:e>
                        <m:r>
                          <a:rPr lang="en-US" sz="2200" i="1"/>
                          <m:t>𝑥</m:t>
                        </m:r>
                      </m:e>
                    </m:d>
                  </m:oMath>
                </a14:m>
                <a:r>
                  <a:rPr lang="en-US" sz="2200" dirty="0"/>
                  <a:t> denote the ball of physical radius </a:t>
                </a:r>
                <a14:m>
                  <m:oMath xmlns:m="http://schemas.openxmlformats.org/officeDocument/2006/math">
                    <m:r>
                      <a:rPr lang="en-US" sz="2200" i="1"/>
                      <m:t>𝑅</m:t>
                    </m:r>
                  </m:oMath>
                </a14:m>
                <a:r>
                  <a:rPr lang="en-US" sz="2200" dirty="0"/>
                  <a:t> centered at </a:t>
                </a:r>
                <a14:m>
                  <m:oMath xmlns:m="http://schemas.openxmlformats.org/officeDocument/2006/math">
                    <m:r>
                      <a:rPr lang="en-US" sz="2200" i="1"/>
                      <m:t>𝑥</m:t>
                    </m:r>
                  </m:oMath>
                </a14:m>
                <a:r>
                  <a:rPr lang="en-US" sz="2200" dirty="0"/>
                  <a:t>, let </a:t>
                </a:r>
                <a14:m>
                  <m:oMath xmlns:m="http://schemas.openxmlformats.org/officeDocument/2006/math">
                    <m:sSub>
                      <m:sSubPr>
                        <m:ctrlPr>
                          <a:rPr lang="en-US" sz="2200" i="1"/>
                        </m:ctrlPr>
                      </m:sSubPr>
                      <m:e>
                        <m:r>
                          <a:rPr lang="en-US" sz="2200" i="1"/>
                          <m:t>𝑑</m:t>
                        </m:r>
                      </m:e>
                      <m:sub>
                        <m:r>
                          <a:rPr lang="en-US" sz="2200" i="1"/>
                          <m:t>𝐴</m:t>
                        </m:r>
                      </m:sub>
                    </m:sSub>
                    <m:d>
                      <m:dPr>
                        <m:ctrlPr>
                          <a:rPr lang="en-US" sz="2200" i="1"/>
                        </m:ctrlPr>
                      </m:dPr>
                      <m:e>
                        <m:r>
                          <a:rPr lang="en-US" sz="2200" i="1"/>
                          <m:t>𝑢</m:t>
                        </m:r>
                      </m:e>
                    </m:d>
                  </m:oMath>
                </a14:m>
                <a:r>
                  <a:rPr lang="en-US" sz="2200" dirty="0"/>
                  <a:t> denote the sampling density at a location </a:t>
                </a:r>
                <a14:m>
                  <m:oMath xmlns:m="http://schemas.openxmlformats.org/officeDocument/2006/math">
                    <m:r>
                      <a:rPr lang="en-US" sz="2200" i="1"/>
                      <m:t>𝑢</m:t>
                    </m:r>
                  </m:oMath>
                </a14:m>
                <a:r>
                  <a:rPr lang="en-US" sz="2200" dirty="0"/>
                  <a:t> on </a:t>
                </a:r>
                <a14:m>
                  <m:oMath xmlns:m="http://schemas.openxmlformats.org/officeDocument/2006/math">
                    <m:r>
                      <a:rPr lang="en-US" sz="2200" i="1"/>
                      <m:t>𝛤</m:t>
                    </m:r>
                  </m:oMath>
                </a14:m>
                <a:r>
                  <a:rPr lang="en-US" sz="2200" dirty="0"/>
                  <a:t>, and let </a:t>
                </a:r>
                <a14:m>
                  <m:oMath xmlns:m="http://schemas.openxmlformats.org/officeDocument/2006/math">
                    <m:r>
                      <a:rPr lang="en-US" sz="2200" i="1"/>
                      <m:t>𝑁</m:t>
                    </m:r>
                  </m:oMath>
                </a14:m>
                <a:r>
                  <a:rPr lang="en-US" sz="2200" dirty="0"/>
                  <a:t> denote the total number of sampled geometry points.</a:t>
                </a:r>
              </a:p>
              <a:p>
                <a:pPr marL="0" indent="0" algn="just">
                  <a:lnSpc>
                    <a:spcPct val="100000"/>
                  </a:lnSpc>
                  <a:buNone/>
                </a:pPr>
                <a:r>
                  <a:rPr lang="en-US" sz="2200" dirty="0"/>
                  <a:t>Let </a:t>
                </a:r>
                <a14:m>
                  <m:oMath xmlns:m="http://schemas.openxmlformats.org/officeDocument/2006/math">
                    <m:sSub>
                      <m:sSubPr>
                        <m:ctrlPr>
                          <a:rPr lang="en-US" sz="2200" i="1"/>
                        </m:ctrlPr>
                      </m:sSubPr>
                      <m:e>
                        <m:r>
                          <a:rPr lang="en-US" sz="2200" i="1"/>
                          <m:t>𝐾</m:t>
                        </m:r>
                      </m:e>
                      <m:sub>
                        <m:r>
                          <a:rPr lang="en-US" sz="2200" i="1"/>
                          <m:t>𝑅</m:t>
                        </m:r>
                      </m:sub>
                    </m:sSub>
                    <m:d>
                      <m:dPr>
                        <m:ctrlPr>
                          <a:rPr lang="en-US" sz="2200" i="1"/>
                        </m:ctrlPr>
                      </m:dPr>
                      <m:e>
                        <m:r>
                          <a:rPr lang="en-US" sz="2200" i="1"/>
                          <m:t>𝑥</m:t>
                        </m:r>
                      </m:e>
                    </m:d>
                  </m:oMath>
                </a14:m>
                <a:r>
                  <a:rPr lang="en-US" sz="2200" dirty="0"/>
                  <a:t> denote the number of sampled points that fall inside </a:t>
                </a:r>
                <a14:m>
                  <m:oMath xmlns:m="http://schemas.openxmlformats.org/officeDocument/2006/math">
                    <m:sSub>
                      <m:sSubPr>
                        <m:ctrlPr>
                          <a:rPr lang="en-US" sz="2200" i="1"/>
                        </m:ctrlPr>
                      </m:sSubPr>
                      <m:e>
                        <m:r>
                          <a:rPr lang="en-US" sz="2200" i="1"/>
                          <m:t>𝐵</m:t>
                        </m:r>
                      </m:e>
                      <m:sub>
                        <m:r>
                          <a:rPr lang="en-US" sz="2200" i="1"/>
                          <m:t>𝑅</m:t>
                        </m:r>
                      </m:sub>
                    </m:sSub>
                    <m:d>
                      <m:dPr>
                        <m:ctrlPr>
                          <a:rPr lang="en-US" sz="2200" i="1"/>
                        </m:ctrlPr>
                      </m:dPr>
                      <m:e>
                        <m:r>
                          <a:rPr lang="en-US" sz="2200" i="1"/>
                          <m:t>𝑥</m:t>
                        </m:r>
                      </m:e>
                    </m:d>
                  </m:oMath>
                </a14:m>
                <a:r>
                  <a:rPr lang="en-US" sz="2200" dirty="0"/>
                  <a:t>. Under independent sampling, its expected value is exactly</a:t>
                </a:r>
              </a:p>
              <a:p>
                <a:pPr marL="0" indent="0" algn="just">
                  <a:lnSpc>
                    <a:spcPct val="100000"/>
                  </a:lnSpc>
                  <a:buNone/>
                </a:pPr>
                <a14:m>
                  <m:oMathPara xmlns:m="http://schemas.openxmlformats.org/officeDocument/2006/math">
                    <m:oMath>
                      <m:r>
                        <a:rPr lang="en-US" sz="2200"/>
                        <m:t>𝔼</m:t>
                      </m:r>
                      <m:d>
                        <m:dPr>
                          <m:begChr m:val="["/>
                          <m:endChr m:val="]"/>
                          <m:ctrlPr>
                            <a:rPr lang="en-US" sz="2200" i="1"/>
                          </m:ctrlPr>
                        </m:dPr>
                        <m:e>
                          <m:sSub>
                            <m:sSubPr>
                              <m:ctrlPr>
                                <a:rPr lang="en-US" sz="2200" i="1"/>
                              </m:ctrlPr>
                            </m:sSubPr>
                            <m:e>
                              <m:r>
                                <a:rPr lang="en-US" sz="2200" i="1"/>
                                <m:t>𝐾</m:t>
                              </m:r>
                            </m:e>
                            <m:sub>
                              <m:r>
                                <a:rPr lang="en-US" sz="2200" i="1"/>
                                <m:t>𝑅</m:t>
                              </m:r>
                            </m:sub>
                          </m:sSub>
                          <m:d>
                            <m:dPr>
                              <m:ctrlPr>
                                <a:rPr lang="en-US" sz="2200" i="1"/>
                              </m:ctrlPr>
                            </m:dPr>
                            <m:e>
                              <m:r>
                                <a:rPr lang="en-US" sz="2200" i="1"/>
                                <m:t>𝑥</m:t>
                              </m:r>
                            </m:e>
                          </m:d>
                        </m:e>
                      </m:d>
                      <m:r>
                        <a:rPr lang="en-US" sz="2200"/>
                        <m:t>=</m:t>
                      </m:r>
                      <m:r>
                        <a:rPr lang="en-US" sz="2200" i="1"/>
                        <m:t>𝑁</m:t>
                      </m:r>
                      <m:nary>
                        <m:naryPr>
                          <m:limLoc m:val="subSup"/>
                          <m:ctrlPr>
                            <a:rPr lang="en-US" sz="2200" i="1"/>
                          </m:ctrlPr>
                        </m:naryPr>
                        <m:sub>
                          <m:sSub>
                            <m:sSubPr>
                              <m:ctrlPr>
                                <a:rPr lang="en-US" sz="2200" i="1"/>
                              </m:ctrlPr>
                            </m:sSubPr>
                            <m:e>
                              <m:r>
                                <a:rPr lang="en-US" sz="2200" i="1"/>
                                <m:t>𝐵</m:t>
                              </m:r>
                            </m:e>
                            <m:sub>
                              <m:r>
                                <a:rPr lang="en-US" sz="2200" i="1"/>
                                <m:t>𝑅</m:t>
                              </m:r>
                            </m:sub>
                          </m:sSub>
                          <m:d>
                            <m:dPr>
                              <m:ctrlPr>
                                <a:rPr lang="en-US" sz="2200" i="1"/>
                              </m:ctrlPr>
                            </m:dPr>
                            <m:e>
                              <m:r>
                                <a:rPr lang="en-US" sz="2200" i="1"/>
                                <m:t>𝑥</m:t>
                              </m:r>
                            </m:e>
                          </m:d>
                          <m:r>
                            <a:rPr lang="en-US" sz="2200"/>
                            <m:t>∩</m:t>
                          </m:r>
                          <m:r>
                            <a:rPr lang="en-US" sz="2200" i="1"/>
                            <m:t>𝛤</m:t>
                          </m:r>
                        </m:sub>
                        <m:sup>
                          <m:r>
                            <a:rPr lang="en-US" sz="2200" i="1"/>
                            <m:t>​</m:t>
                          </m:r>
                        </m:sup>
                        <m:e>
                          <m:sSub>
                            <m:sSubPr>
                              <m:ctrlPr>
                                <a:rPr lang="en-US" sz="2200" i="1"/>
                              </m:ctrlPr>
                            </m:sSubPr>
                            <m:e>
                              <m:r>
                                <a:rPr lang="en-US" sz="2200" i="1"/>
                                <m:t>𝑑</m:t>
                              </m:r>
                            </m:e>
                            <m:sub>
                              <m:r>
                                <a:rPr lang="en-US" sz="2200" i="1"/>
                                <m:t>𝐴</m:t>
                              </m:r>
                            </m:sub>
                          </m:sSub>
                        </m:e>
                      </m:nary>
                      <m:d>
                        <m:dPr>
                          <m:ctrlPr>
                            <a:rPr lang="en-US" sz="2200" i="1"/>
                          </m:ctrlPr>
                        </m:dPr>
                        <m:e>
                          <m:r>
                            <a:rPr lang="en-US" sz="2200" i="1"/>
                            <m:t>𝑢</m:t>
                          </m:r>
                        </m:e>
                      </m:d>
                      <m:r>
                        <a:rPr lang="en-US" sz="2200" i="1"/>
                        <m:t> </m:t>
                      </m:r>
                      <m:r>
                        <a:rPr lang="en-US" sz="2200" i="1"/>
                        <m:t>𝑑𝑆</m:t>
                      </m:r>
                      <m:d>
                        <m:dPr>
                          <m:ctrlPr>
                            <a:rPr lang="en-US" sz="2200" i="1"/>
                          </m:ctrlPr>
                        </m:dPr>
                        <m:e>
                          <m:r>
                            <a:rPr lang="en-US" sz="2200" i="1"/>
                            <m:t>𝑢</m:t>
                          </m:r>
                        </m:e>
                      </m:d>
                      <m:r>
                        <a:rPr lang="en-US" sz="2200"/>
                        <m:t>.</m:t>
                      </m:r>
                    </m:oMath>
                  </m:oMathPara>
                </a14:m>
                <a:endParaRPr lang="en-US" sz="2200" dirty="0"/>
              </a:p>
              <a:p>
                <a:pPr marL="0" indent="0" algn="just">
                  <a:lnSpc>
                    <a:spcPct val="100000"/>
                  </a:lnSpc>
                  <a:buNone/>
                </a:pPr>
                <a:r>
                  <a:rPr lang="en-US" sz="2200" dirty="0"/>
                  <a:t>Here, </a:t>
                </a:r>
                <a14:m>
                  <m:oMath xmlns:m="http://schemas.openxmlformats.org/officeDocument/2006/math">
                    <m:r>
                      <a:rPr lang="en-US" sz="2200"/>
                      <m:t>𝔼</m:t>
                    </m:r>
                  </m:oMath>
                </a14:m>
                <a:r>
                  <a:rPr lang="en-US" sz="2200" dirty="0"/>
                  <a:t> denotes expectation over the point-sampling process. For a fixed-radius ball query, </a:t>
                </a:r>
                <a14:m>
                  <m:oMath xmlns:m="http://schemas.openxmlformats.org/officeDocument/2006/math">
                    <m:r>
                      <a:rPr lang="en-US" sz="2200" i="1"/>
                      <m:t>𝑅</m:t>
                    </m:r>
                  </m:oMath>
                </a14:m>
                <a:r>
                  <a:rPr lang="en-US" sz="2200" dirty="0"/>
                  <a:t> is fixed, so a change in </a:t>
                </a:r>
                <a14:m>
                  <m:oMath xmlns:m="http://schemas.openxmlformats.org/officeDocument/2006/math">
                    <m:sSub>
                      <m:sSubPr>
                        <m:ctrlPr>
                          <a:rPr lang="en-US" sz="2200" i="1"/>
                        </m:ctrlPr>
                      </m:sSubPr>
                      <m:e>
                        <m:r>
                          <a:rPr lang="en-US" sz="2200" i="1"/>
                          <m:t>𝑑</m:t>
                        </m:r>
                      </m:e>
                      <m:sub>
                        <m:r>
                          <a:rPr lang="en-US" sz="2200" i="1"/>
                          <m:t>𝐴</m:t>
                        </m:r>
                      </m:sub>
                    </m:sSub>
                  </m:oMath>
                </a14:m>
                <a:r>
                  <a:rPr lang="en-US" sz="2200" dirty="0"/>
                  <a:t> changes the expected number and spatial composition of points supporting that same physical neighborhood.</a:t>
                </a:r>
                <a:r>
                  <a:rPr lang="en-US" sz="2200" dirty="0">
                    <a:effectLst/>
                  </a:rPr>
                  <a:t> </a:t>
                </a:r>
                <a:endParaRPr lang="en-US" sz="2200" dirty="0"/>
              </a:p>
            </p:txBody>
          </p:sp>
        </mc:Choice>
        <mc:Fallback>
          <p:sp>
            <p:nvSpPr>
              <p:cNvPr id="6" name="Content Placeholder 5">
                <a:extLst>
                  <a:ext uri="{FF2B5EF4-FFF2-40B4-BE49-F238E27FC236}">
                    <a16:creationId xmlns:a16="http://schemas.microsoft.com/office/drawing/2014/main" id="{B8B18F22-343C-6E0B-C040-81763B8BA2DD}"/>
                  </a:ext>
                </a:extLst>
              </p:cNvPr>
              <p:cNvSpPr>
                <a:spLocks noGrp="1" noRot="1" noChangeAspect="1" noMove="1" noResize="1" noEditPoints="1" noAdjustHandles="1" noChangeArrowheads="1" noChangeShapeType="1" noTextEdit="1"/>
              </p:cNvSpPr>
              <p:nvPr>
                <p:ph idx="1"/>
              </p:nvPr>
            </p:nvSpPr>
            <p:spPr>
              <a:xfrm>
                <a:off x="838200" y="947057"/>
                <a:ext cx="10515600" cy="5769429"/>
              </a:xfrm>
              <a:blipFill>
                <a:blip r:embed="rId2"/>
                <a:stretch>
                  <a:fillRect l="-724" t="-659" r="-724"/>
                </a:stretch>
              </a:blipFill>
            </p:spPr>
            <p:txBody>
              <a:bodyPr/>
              <a:lstStyle/>
              <a:p>
                <a:r>
                  <a:rPr lang="en-US">
                    <a:noFill/>
                  </a:rPr>
                  <a:t> </a:t>
                </a:r>
              </a:p>
            </p:txBody>
          </p:sp>
        </mc:Fallback>
      </mc:AlternateContent>
    </p:spTree>
    <p:extLst>
      <p:ext uri="{BB962C8B-B14F-4D97-AF65-F5344CB8AC3E}">
        <p14:creationId xmlns:p14="http://schemas.microsoft.com/office/powerpoint/2010/main" val="3931845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658B2-8BEE-DB4D-DE41-013FD692A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0C4B3-611F-F340-ABF7-EABBCEF81533}"/>
              </a:ext>
            </a:extLst>
          </p:cNvPr>
          <p:cNvSpPr>
            <a:spLocks noGrp="1"/>
          </p:cNvSpPr>
          <p:nvPr>
            <p:ph type="title"/>
          </p:nvPr>
        </p:nvSpPr>
        <p:spPr>
          <a:xfrm>
            <a:off x="838200" y="141514"/>
            <a:ext cx="10515600" cy="805543"/>
          </a:xfrm>
        </p:spPr>
        <p:txBody>
          <a:bodyPr>
            <a:noAutofit/>
          </a:bodyPr>
          <a:lstStyle/>
          <a:p>
            <a:r>
              <a:rPr lang="en-US" sz="2800" b="1" dirty="0"/>
              <a:t>Hypothesis about density sensitivity – Local Aggregation with KNN</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19E3A9E1-3BBF-63EF-520C-16BE9BBD3085}"/>
                  </a:ext>
                </a:extLst>
              </p:cNvPr>
              <p:cNvSpPr>
                <a:spLocks noGrp="1"/>
              </p:cNvSpPr>
              <p:nvPr>
                <p:ph idx="1"/>
              </p:nvPr>
            </p:nvSpPr>
            <p:spPr>
              <a:xfrm>
                <a:off x="838200" y="947057"/>
                <a:ext cx="10515600" cy="5769429"/>
              </a:xfrm>
            </p:spPr>
            <p:txBody>
              <a:bodyPr>
                <a:noAutofit/>
              </a:bodyPr>
              <a:lstStyle/>
              <a:p>
                <a:pPr algn="just">
                  <a:lnSpc>
                    <a:spcPct val="100000"/>
                  </a:lnSpc>
                </a:pPr>
                <a:r>
                  <a:rPr lang="en-US" sz="2200" dirty="0"/>
                  <a:t>For a fixed-count neighborhood, let </a:t>
                </a:r>
                <a14:m>
                  <m:oMath xmlns:m="http://schemas.openxmlformats.org/officeDocument/2006/math">
                    <m:r>
                      <a:rPr lang="en-US" sz="2200" i="1"/>
                      <m:t>𝑘</m:t>
                    </m:r>
                  </m:oMath>
                </a14:m>
                <a:r>
                  <a:rPr lang="en-US" sz="2200" dirty="0"/>
                  <a:t> be the prescribed number of neighbors and let </a:t>
                </a:r>
                <a14:m>
                  <m:oMath xmlns:m="http://schemas.openxmlformats.org/officeDocument/2006/math">
                    <m:sSub>
                      <m:sSubPr>
                        <m:ctrlPr>
                          <a:rPr lang="en-US" sz="2200" i="1"/>
                        </m:ctrlPr>
                      </m:sSubPr>
                      <m:e>
                        <m:r>
                          <a:rPr lang="en-US" sz="2200" i="1"/>
                          <m:t>𝑅</m:t>
                        </m:r>
                      </m:e>
                      <m:sub>
                        <m:r>
                          <a:rPr lang="en-US" sz="2200" i="1"/>
                          <m:t>𝑘</m:t>
                        </m:r>
                        <m:r>
                          <a:rPr lang="en-US" sz="2200"/>
                          <m:t>,</m:t>
                        </m:r>
                        <m:r>
                          <a:rPr lang="en-US" sz="2200" i="1"/>
                          <m:t>𝐴</m:t>
                        </m:r>
                      </m:sub>
                    </m:sSub>
                    <m:d>
                      <m:dPr>
                        <m:ctrlPr>
                          <a:rPr lang="en-US" sz="2200" i="1"/>
                        </m:ctrlPr>
                      </m:dPr>
                      <m:e>
                        <m:r>
                          <a:rPr lang="en-US" sz="2200" i="1"/>
                          <m:t>𝑥</m:t>
                        </m:r>
                      </m:e>
                    </m:d>
                  </m:oMath>
                </a14:m>
                <a:r>
                  <a:rPr lang="en-US" sz="2200" dirty="0"/>
                  <a:t> be the radius around </a:t>
                </a:r>
                <a14:m>
                  <m:oMath xmlns:m="http://schemas.openxmlformats.org/officeDocument/2006/math">
                    <m:r>
                      <a:rPr lang="en-US" sz="2200" i="1"/>
                      <m:t>𝑥</m:t>
                    </m:r>
                  </m:oMath>
                </a14:m>
                <a:r>
                  <a:rPr lang="en-US" sz="2200" dirty="0"/>
                  <a:t> needed to contain approximately </a:t>
                </a:r>
                <a14:m>
                  <m:oMath xmlns:m="http://schemas.openxmlformats.org/officeDocument/2006/math">
                    <m:r>
                      <a:rPr lang="en-US" sz="2200" i="1"/>
                      <m:t>𝑘</m:t>
                    </m:r>
                  </m:oMath>
                </a14:m>
                <a:r>
                  <a:rPr lang="en-US" sz="2200" dirty="0"/>
                  <a:t> points from </a:t>
                </a:r>
                <a14:m>
                  <m:oMath xmlns:m="http://schemas.openxmlformats.org/officeDocument/2006/math">
                    <m:sSub>
                      <m:sSubPr>
                        <m:ctrlPr>
                          <a:rPr lang="en-US" sz="2200" i="1"/>
                        </m:ctrlPr>
                      </m:sSubPr>
                      <m:e>
                        <m:r>
                          <a:rPr lang="en-US" sz="2200" i="1"/>
                          <m:t>𝑋</m:t>
                        </m:r>
                      </m:e>
                      <m:sub>
                        <m:r>
                          <a:rPr lang="en-US" sz="2200" i="1"/>
                          <m:t>𝐴</m:t>
                        </m:r>
                      </m:sub>
                    </m:sSub>
                  </m:oMath>
                </a14:m>
                <a:r>
                  <a:rPr lang="en-US" sz="2200" dirty="0"/>
                  <a:t>. Then</a:t>
                </a:r>
              </a:p>
              <a:p>
                <a:pPr marL="0" indent="0" algn="just">
                  <a:lnSpc>
                    <a:spcPct val="100000"/>
                  </a:lnSpc>
                  <a:buNone/>
                </a:pPr>
                <a14:m>
                  <m:oMathPara xmlns:m="http://schemas.openxmlformats.org/officeDocument/2006/math">
                    <m:oMath>
                      <m:nary>
                        <m:naryPr>
                          <m:limLoc m:val="subSup"/>
                          <m:ctrlPr>
                            <a:rPr lang="en-US" sz="2200" i="1"/>
                          </m:ctrlPr>
                        </m:naryPr>
                        <m:sub>
                          <m:sSub>
                            <m:sSubPr>
                              <m:ctrlPr>
                                <a:rPr lang="en-US" sz="2200" i="1"/>
                              </m:ctrlPr>
                            </m:sSubPr>
                            <m:e>
                              <m:r>
                                <a:rPr lang="en-US" sz="2200" i="1"/>
                                <m:t>𝐵</m:t>
                              </m:r>
                            </m:e>
                            <m:sub>
                              <m:sSub>
                                <m:sSubPr>
                                  <m:ctrlPr>
                                    <a:rPr lang="en-US" sz="2200" i="1"/>
                                  </m:ctrlPr>
                                </m:sSubPr>
                                <m:e>
                                  <m:r>
                                    <a:rPr lang="en-US" sz="2200" i="1"/>
                                    <m:t>𝑅</m:t>
                                  </m:r>
                                </m:e>
                                <m:sub>
                                  <m:r>
                                    <a:rPr lang="en-US" sz="2200" i="1"/>
                                    <m:t>𝑘</m:t>
                                  </m:r>
                                  <m:r>
                                    <a:rPr lang="en-US" sz="2200"/>
                                    <m:t>,</m:t>
                                  </m:r>
                                  <m:r>
                                    <a:rPr lang="en-US" sz="2200" i="1"/>
                                    <m:t>𝐴</m:t>
                                  </m:r>
                                </m:sub>
                              </m:sSub>
                              <m:d>
                                <m:dPr>
                                  <m:ctrlPr>
                                    <a:rPr lang="en-US" sz="2200" i="1"/>
                                  </m:ctrlPr>
                                </m:dPr>
                                <m:e>
                                  <m:r>
                                    <a:rPr lang="en-US" sz="2200" i="1"/>
                                    <m:t>𝑥</m:t>
                                  </m:r>
                                </m:e>
                              </m:d>
                            </m:sub>
                          </m:sSub>
                          <m:d>
                            <m:dPr>
                              <m:ctrlPr>
                                <a:rPr lang="en-US" sz="2200" i="1"/>
                              </m:ctrlPr>
                            </m:dPr>
                            <m:e>
                              <m:r>
                                <a:rPr lang="en-US" sz="2200" i="1"/>
                                <m:t>𝑥</m:t>
                              </m:r>
                            </m:e>
                          </m:d>
                          <m:r>
                            <a:rPr lang="en-US" sz="2200"/>
                            <m:t>∩</m:t>
                          </m:r>
                          <m:r>
                            <a:rPr lang="en-US" sz="2200" i="1"/>
                            <m:t>𝛤</m:t>
                          </m:r>
                        </m:sub>
                        <m:sup>
                          <m:r>
                            <a:rPr lang="en-US" sz="2200" i="1"/>
                            <m:t>​</m:t>
                          </m:r>
                        </m:sup>
                        <m:e>
                          <m:sSub>
                            <m:sSubPr>
                              <m:ctrlPr>
                                <a:rPr lang="en-US" sz="2200" i="1"/>
                              </m:ctrlPr>
                            </m:sSubPr>
                            <m:e>
                              <m:r>
                                <a:rPr lang="en-US" sz="2200" i="1"/>
                                <m:t>𝑑</m:t>
                              </m:r>
                            </m:e>
                            <m:sub>
                              <m:r>
                                <a:rPr lang="en-US" sz="2200" i="1"/>
                                <m:t>𝐴</m:t>
                              </m:r>
                            </m:sub>
                          </m:sSub>
                        </m:e>
                      </m:nary>
                      <m:d>
                        <m:dPr>
                          <m:ctrlPr>
                            <a:rPr lang="en-US" sz="2200" i="1"/>
                          </m:ctrlPr>
                        </m:dPr>
                        <m:e>
                          <m:r>
                            <a:rPr lang="en-US" sz="2200" i="1"/>
                            <m:t>𝑢</m:t>
                          </m:r>
                        </m:e>
                      </m:d>
                      <m:r>
                        <a:rPr lang="en-US" sz="2200" i="1"/>
                        <m:t> </m:t>
                      </m:r>
                      <m:r>
                        <a:rPr lang="en-US" sz="2200" i="1"/>
                        <m:t>𝑑𝑆</m:t>
                      </m:r>
                      <m:d>
                        <m:dPr>
                          <m:ctrlPr>
                            <a:rPr lang="en-US" sz="2200" i="1"/>
                          </m:ctrlPr>
                        </m:dPr>
                        <m:e>
                          <m:r>
                            <a:rPr lang="en-US" sz="2200" i="1"/>
                            <m:t>𝑢</m:t>
                          </m:r>
                        </m:e>
                      </m:d>
                      <m:r>
                        <a:rPr lang="en-US" sz="2200"/>
                        <m:t>≈</m:t>
                      </m:r>
                      <m:f>
                        <m:fPr>
                          <m:ctrlPr>
                            <a:rPr lang="en-US" sz="2200" i="1"/>
                          </m:ctrlPr>
                        </m:fPr>
                        <m:num>
                          <m:r>
                            <a:rPr lang="en-US" sz="2200" i="1"/>
                            <m:t>𝑘</m:t>
                          </m:r>
                        </m:num>
                        <m:den>
                          <m:r>
                            <a:rPr lang="en-US" sz="2200" i="1"/>
                            <m:t>𝑁</m:t>
                          </m:r>
                        </m:den>
                      </m:f>
                      <m:r>
                        <a:rPr lang="en-US" sz="2200"/>
                        <m:t>.</m:t>
                      </m:r>
                    </m:oMath>
                  </m:oMathPara>
                </a14:m>
                <a:endParaRPr lang="en-US" sz="2200" dirty="0"/>
              </a:p>
              <a:p>
                <a:pPr marL="0" indent="0" algn="just">
                  <a:lnSpc>
                    <a:spcPct val="100000"/>
                  </a:lnSpc>
                  <a:buNone/>
                </a:pPr>
                <a:r>
                  <a:rPr lang="en-US" sz="2200" dirty="0"/>
                  <a:t>To connect both cases (KNN and Ball) directly to the learned representation, let </a:t>
                </a:r>
                <a14:m>
                  <m:oMath xmlns:m="http://schemas.openxmlformats.org/officeDocument/2006/math">
                    <m:sSub>
                      <m:sSubPr>
                        <m:ctrlPr>
                          <a:rPr lang="en-US" sz="2200" i="1"/>
                        </m:ctrlPr>
                      </m:sSubPr>
                      <m:e>
                        <m:r>
                          <a:rPr lang="en-US" sz="2200" i="1"/>
                          <m:t>𝐻</m:t>
                        </m:r>
                      </m:e>
                      <m:sub>
                        <m:r>
                          <a:rPr lang="en-US" sz="2200" i="1"/>
                          <m:t>𝐴</m:t>
                        </m:r>
                      </m:sub>
                    </m:sSub>
                    <m:d>
                      <m:dPr>
                        <m:ctrlPr>
                          <a:rPr lang="en-US" sz="2200" i="1"/>
                        </m:ctrlPr>
                      </m:dPr>
                      <m:e>
                        <m:r>
                          <a:rPr lang="en-US" sz="2200" i="1"/>
                          <m:t>𝑥</m:t>
                        </m:r>
                      </m:e>
                    </m:d>
                  </m:oMath>
                </a14:m>
                <a:r>
                  <a:rPr lang="en-US" sz="2200" dirty="0"/>
                  <a:t> denote the local feature obtained by aggregating point features </a:t>
                </a:r>
                <a14:m>
                  <m:oMath xmlns:m="http://schemas.openxmlformats.org/officeDocument/2006/math">
                    <m:r>
                      <a:rPr lang="en-US" sz="2200" i="1"/>
                      <m:t>𝜙</m:t>
                    </m:r>
                    <m:d>
                      <m:dPr>
                        <m:ctrlPr>
                          <a:rPr lang="en-US" sz="2200" i="1"/>
                        </m:ctrlPr>
                      </m:dPr>
                      <m:e>
                        <m:r>
                          <a:rPr lang="en-US" sz="2200" i="1"/>
                          <m:t>𝑢</m:t>
                        </m:r>
                      </m:e>
                    </m:d>
                  </m:oMath>
                </a14:m>
                <a:r>
                  <a:rPr lang="en-US" sz="2200" dirty="0"/>
                  <a:t>, with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𝐵</m:t>
                        </m:r>
                      </m:e>
                      <m:sub>
                        <m:r>
                          <a:rPr lang="en-US" sz="2200" i="1">
                            <a:latin typeface="Cambria Math" panose="02040503050406030204" pitchFamily="18" charset="0"/>
                          </a:rPr>
                          <m:t>𝑅</m:t>
                        </m:r>
                      </m:sub>
                    </m:sSub>
                    <m:d>
                      <m:dPr>
                        <m:ctrlPr>
                          <a:rPr lang="en-US" sz="2200" i="1">
                            <a:latin typeface="Cambria Math" panose="02040503050406030204" pitchFamily="18" charset="0"/>
                          </a:rPr>
                        </m:ctrlPr>
                      </m:dPr>
                      <m:e>
                        <m:r>
                          <a:rPr lang="en-US" sz="2200" i="1">
                            <a:latin typeface="Cambria Math" panose="02040503050406030204" pitchFamily="18" charset="0"/>
                          </a:rPr>
                          <m:t>𝑥</m:t>
                        </m:r>
                      </m:e>
                    </m:d>
                  </m:oMath>
                </a14:m>
                <a:r>
                  <a:rPr lang="en-US" sz="2200" dirty="0"/>
                  <a:t> denote the ball of physical radius </a:t>
                </a:r>
                <a14:m>
                  <m:oMath xmlns:m="http://schemas.openxmlformats.org/officeDocument/2006/math">
                    <m:r>
                      <a:rPr lang="en-US" sz="2200" i="1">
                        <a:latin typeface="Cambria Math" panose="02040503050406030204" pitchFamily="18" charset="0"/>
                      </a:rPr>
                      <m:t>𝑅</m:t>
                    </m:r>
                  </m:oMath>
                </a14:m>
                <a:r>
                  <a:rPr lang="en-US" sz="2200" dirty="0"/>
                  <a:t> centered at </a:t>
                </a:r>
                <a14:m>
                  <m:oMath xmlns:m="http://schemas.openxmlformats.org/officeDocument/2006/math">
                    <m:r>
                      <a:rPr lang="en-US" sz="2200" i="1">
                        <a:latin typeface="Cambria Math" panose="02040503050406030204" pitchFamily="18" charset="0"/>
                      </a:rPr>
                      <m:t>𝑥</m:t>
                    </m:r>
                    <m:r>
                      <a:rPr lang="en-US" sz="2200" i="1">
                        <a:latin typeface="Cambria Math" panose="02040503050406030204" pitchFamily="18" charset="0"/>
                      </a:rPr>
                      <m:t> </m:t>
                    </m:r>
                  </m:oMath>
                </a14:m>
                <a:r>
                  <a:rPr lang="en-US" sz="2200" dirty="0"/>
                  <a:t>:</a:t>
                </a:r>
              </a:p>
              <a:p>
                <a:pPr marL="0" indent="0" algn="just">
                  <a:lnSpc>
                    <a:spcPct val="100000"/>
                  </a:lnSpc>
                  <a:buNone/>
                </a:pPr>
                <a14:m>
                  <m:oMathPara xmlns:m="http://schemas.openxmlformats.org/officeDocument/2006/math">
                    <m:oMath>
                      <m:sSub>
                        <m:sSubPr>
                          <m:ctrlPr>
                            <a:rPr lang="en-US" sz="2200" i="1"/>
                          </m:ctrlPr>
                        </m:sSubPr>
                        <m:e>
                          <m:r>
                            <a:rPr lang="en-US" sz="2200" i="1"/>
                            <m:t>𝐻</m:t>
                          </m:r>
                        </m:e>
                        <m:sub>
                          <m:r>
                            <a:rPr lang="en-US" sz="2200" i="1"/>
                            <m:t>𝐴</m:t>
                          </m:r>
                        </m:sub>
                      </m:sSub>
                      <m:d>
                        <m:dPr>
                          <m:ctrlPr>
                            <a:rPr lang="en-US" sz="2200" i="1"/>
                          </m:ctrlPr>
                        </m:dPr>
                        <m:e>
                          <m:r>
                            <a:rPr lang="en-US" sz="2200" i="1"/>
                            <m:t>𝑥</m:t>
                          </m:r>
                        </m:e>
                      </m:d>
                      <m:r>
                        <a:rPr lang="en-US" sz="2200"/>
                        <m:t>=</m:t>
                      </m:r>
                      <m:r>
                        <a:rPr lang="en-US" sz="2200" i="1"/>
                        <m:t>𝐴𝑔𝑔</m:t>
                      </m:r>
                      <m:r>
                        <a:rPr lang="en-US" sz="2200"/>
                        <m:t>{</m:t>
                      </m:r>
                      <m:r>
                        <a:rPr lang="en-US" sz="2200" i="1"/>
                        <m:t>𝜙</m:t>
                      </m:r>
                      <m:d>
                        <m:dPr>
                          <m:ctrlPr>
                            <a:rPr lang="en-US" sz="2200" i="1"/>
                          </m:ctrlPr>
                        </m:dPr>
                        <m:e>
                          <m:r>
                            <a:rPr lang="en-US" sz="2200" i="1"/>
                            <m:t>𝑢</m:t>
                          </m:r>
                        </m:e>
                      </m:d>
                      <m:r>
                        <a:rPr lang="en-US" sz="2200"/>
                        <m:t>:</m:t>
                      </m:r>
                      <m:r>
                        <a:rPr lang="en-US" sz="2200" i="1"/>
                        <m:t>𝑢</m:t>
                      </m:r>
                      <m:r>
                        <a:rPr lang="en-US" sz="2200"/>
                        <m:t>∈</m:t>
                      </m:r>
                      <m:sSub>
                        <m:sSubPr>
                          <m:ctrlPr>
                            <a:rPr lang="en-US" sz="2200" i="1"/>
                          </m:ctrlPr>
                        </m:sSubPr>
                        <m:e>
                          <m:r>
                            <a:rPr lang="en-US" sz="2200" i="1"/>
                            <m:t>𝑋</m:t>
                          </m:r>
                        </m:e>
                        <m:sub>
                          <m:r>
                            <a:rPr lang="en-US" sz="2200" i="1"/>
                            <m:t>𝐴</m:t>
                          </m:r>
                        </m:sub>
                      </m:sSub>
                      <m:r>
                        <a:rPr lang="en-US" sz="2200"/>
                        <m:t>∩</m:t>
                      </m:r>
                      <m:sSub>
                        <m:sSubPr>
                          <m:ctrlPr>
                            <a:rPr lang="en-US" sz="2200" i="1"/>
                          </m:ctrlPr>
                        </m:sSubPr>
                        <m:e>
                          <m:r>
                            <a:rPr lang="en-US" sz="2200" i="1"/>
                            <m:t>𝐵</m:t>
                          </m:r>
                        </m:e>
                        <m:sub>
                          <m:sSub>
                            <m:sSubPr>
                              <m:ctrlPr>
                                <a:rPr lang="en-US" sz="2200" i="1"/>
                              </m:ctrlPr>
                            </m:sSubPr>
                            <m:e>
                              <m:r>
                                <a:rPr lang="en-US" sz="2200" i="1"/>
                                <m:t>𝑟</m:t>
                              </m:r>
                            </m:e>
                            <m:sub>
                              <m:r>
                                <a:rPr lang="en-US" sz="2200" i="1"/>
                                <m:t>𝐴</m:t>
                              </m:r>
                            </m:sub>
                          </m:sSub>
                          <m:d>
                            <m:dPr>
                              <m:ctrlPr>
                                <a:rPr lang="en-US" sz="2200" i="1"/>
                              </m:ctrlPr>
                            </m:dPr>
                            <m:e>
                              <m:r>
                                <a:rPr lang="en-US" sz="2200" i="1"/>
                                <m:t>𝑥</m:t>
                              </m:r>
                            </m:e>
                          </m:d>
                        </m:sub>
                      </m:sSub>
                      <m:d>
                        <m:dPr>
                          <m:ctrlPr>
                            <a:rPr lang="en-US" sz="2200" i="1"/>
                          </m:ctrlPr>
                        </m:dPr>
                        <m:e>
                          <m:r>
                            <a:rPr lang="en-US" sz="2200" i="1"/>
                            <m:t>𝑥</m:t>
                          </m:r>
                        </m:e>
                      </m:d>
                      <m:r>
                        <a:rPr lang="en-US" sz="2200"/>
                        <m:t>},</m:t>
                      </m:r>
                      <m:r>
                        <a:rPr lang="en-US" sz="2200" i="1"/>
                        <m:t>  </m:t>
                      </m:r>
                      <m:sSub>
                        <m:sSubPr>
                          <m:ctrlPr>
                            <a:rPr lang="en-US" sz="2200" i="1"/>
                          </m:ctrlPr>
                        </m:sSubPr>
                        <m:e>
                          <m:r>
                            <a:rPr lang="en-US" sz="2200" i="1"/>
                            <m:t>𝑟</m:t>
                          </m:r>
                        </m:e>
                        <m:sub>
                          <m:r>
                            <a:rPr lang="en-US" sz="2200" i="1"/>
                            <m:t>𝐴</m:t>
                          </m:r>
                        </m:sub>
                      </m:sSub>
                      <m:d>
                        <m:dPr>
                          <m:ctrlPr>
                            <a:rPr lang="en-US" sz="2200" i="1"/>
                          </m:ctrlPr>
                        </m:dPr>
                        <m:e>
                          <m:r>
                            <a:rPr lang="en-US" sz="2200" i="1"/>
                            <m:t>𝑥</m:t>
                          </m:r>
                        </m:e>
                      </m:d>
                      <m:r>
                        <a:rPr lang="en-US" sz="2200"/>
                        <m:t>=</m:t>
                      </m:r>
                      <m:d>
                        <m:dPr>
                          <m:begChr m:val="{"/>
                          <m:endChr m:val=""/>
                          <m:ctrlPr>
                            <a:rPr lang="en-US" sz="2200" i="1"/>
                          </m:ctrlPr>
                        </m:dPr>
                        <m:e>
                          <m:m>
                            <m:mPr>
                              <m:plcHide m:val="on"/>
                              <m:mcs>
                                <m:mc>
                                  <m:mcPr>
                                    <m:count m:val="2"/>
                                    <m:mcJc m:val="center"/>
                                  </m:mcPr>
                                </m:mc>
                              </m:mcs>
                              <m:ctrlPr>
                                <a:rPr lang="en-US" sz="2200" i="1"/>
                              </m:ctrlPr>
                            </m:mPr>
                            <m:mr>
                              <m:e>
                                <m:r>
                                  <a:rPr lang="en-US" sz="2200" i="1"/>
                                  <m:t>𝑅</m:t>
                                </m:r>
                                <m:r>
                                  <a:rPr lang="en-US" sz="2200"/>
                                  <m:t>,</m:t>
                                </m:r>
                              </m:e>
                              <m:e>
                                <m:r>
                                  <m:rPr>
                                    <m:nor/>
                                  </m:rPr>
                                  <a:rPr lang="en-US" sz="2200"/>
                                  <m:t>fixed−radius ball</m:t>
                                </m:r>
                                <m:r>
                                  <a:rPr lang="en-US" sz="2200"/>
                                  <m:t>,</m:t>
                                </m:r>
                              </m:e>
                            </m:mr>
                            <m:mr>
                              <m:e>
                                <m:sSub>
                                  <m:sSubPr>
                                    <m:ctrlPr>
                                      <a:rPr lang="en-US" sz="2200" i="1"/>
                                    </m:ctrlPr>
                                  </m:sSubPr>
                                  <m:e>
                                    <m:r>
                                      <a:rPr lang="en-US" sz="2200" i="1"/>
                                      <m:t>𝑅</m:t>
                                    </m:r>
                                  </m:e>
                                  <m:sub>
                                    <m:r>
                                      <a:rPr lang="en-US" sz="2200" i="1"/>
                                      <m:t>𝑘</m:t>
                                    </m:r>
                                    <m:r>
                                      <a:rPr lang="en-US" sz="2200"/>
                                      <m:t>,</m:t>
                                    </m:r>
                                    <m:r>
                                      <a:rPr lang="en-US" sz="2200" i="1"/>
                                      <m:t>𝐴</m:t>
                                    </m:r>
                                  </m:sub>
                                </m:sSub>
                                <m:d>
                                  <m:dPr>
                                    <m:ctrlPr>
                                      <a:rPr lang="en-US" sz="2200" i="1"/>
                                    </m:ctrlPr>
                                  </m:dPr>
                                  <m:e>
                                    <m:r>
                                      <a:rPr lang="en-US" sz="2200" i="1"/>
                                      <m:t>𝑥</m:t>
                                    </m:r>
                                  </m:e>
                                </m:d>
                                <m:r>
                                  <a:rPr lang="en-US" sz="2200"/>
                                  <m:t>,</m:t>
                                </m:r>
                              </m:e>
                              <m:e>
                                <m:r>
                                  <m:rPr>
                                    <m:nor/>
                                  </m:rPr>
                                  <a:rPr lang="en-US" sz="2200"/>
                                  <m:t>fixed−count</m:t>
                                </m:r>
                                <m:r>
                                  <a:rPr lang="en-US" sz="2200"/>
                                  <m:t>.</m:t>
                                </m:r>
                              </m:e>
                            </m:mr>
                          </m:m>
                        </m:e>
                      </m:d>
                    </m:oMath>
                  </m:oMathPara>
                </a14:m>
                <a:endParaRPr lang="en-US" sz="2200" dirty="0"/>
              </a:p>
              <a:p>
                <a:pPr marL="0" indent="0" algn="just">
                  <a:lnSpc>
                    <a:spcPct val="100000"/>
                  </a:lnSpc>
                  <a:buNone/>
                </a:pPr>
                <a:r>
                  <a:rPr lang="en-US" sz="2200" dirty="0"/>
                  <a:t>A density change, therefore, alters either the points inside the fixed ball or the physical radius of the fixed-count support, and can therefore change </a:t>
                </a:r>
                <a14:m>
                  <m:oMath xmlns:m="http://schemas.openxmlformats.org/officeDocument/2006/math">
                    <m:sSub>
                      <m:sSubPr>
                        <m:ctrlPr>
                          <a:rPr lang="en-US" sz="2200" i="1"/>
                        </m:ctrlPr>
                      </m:sSubPr>
                      <m:e>
                        <m:r>
                          <a:rPr lang="en-US" sz="2200" i="1"/>
                          <m:t>𝐻</m:t>
                        </m:r>
                      </m:e>
                      <m:sub>
                        <m:r>
                          <a:rPr lang="en-US" sz="2200" i="1"/>
                          <m:t>𝐴</m:t>
                        </m:r>
                      </m:sub>
                    </m:sSub>
                    <m:d>
                      <m:dPr>
                        <m:ctrlPr>
                          <a:rPr lang="en-US" sz="2200" i="1"/>
                        </m:ctrlPr>
                      </m:dPr>
                      <m:e>
                        <m:r>
                          <a:rPr lang="en-US" sz="2200" i="1"/>
                          <m:t>𝑥</m:t>
                        </m:r>
                      </m:e>
                    </m:d>
                  </m:oMath>
                </a14:m>
                <a:r>
                  <a:rPr lang="en-US" sz="2200" dirty="0"/>
                  <a:t>. </a:t>
                </a:r>
              </a:p>
            </p:txBody>
          </p:sp>
        </mc:Choice>
        <mc:Fallback>
          <p:sp>
            <p:nvSpPr>
              <p:cNvPr id="6" name="Content Placeholder 5">
                <a:extLst>
                  <a:ext uri="{FF2B5EF4-FFF2-40B4-BE49-F238E27FC236}">
                    <a16:creationId xmlns:a16="http://schemas.microsoft.com/office/drawing/2014/main" id="{19E3A9E1-3BBF-63EF-520C-16BE9BBD3085}"/>
                  </a:ext>
                </a:extLst>
              </p:cNvPr>
              <p:cNvSpPr>
                <a:spLocks noGrp="1" noRot="1" noChangeAspect="1" noMove="1" noResize="1" noEditPoints="1" noAdjustHandles="1" noChangeArrowheads="1" noChangeShapeType="1" noTextEdit="1"/>
              </p:cNvSpPr>
              <p:nvPr>
                <p:ph idx="1"/>
              </p:nvPr>
            </p:nvSpPr>
            <p:spPr>
              <a:xfrm>
                <a:off x="838200" y="947057"/>
                <a:ext cx="10515600" cy="5769429"/>
              </a:xfrm>
              <a:blipFill>
                <a:blip r:embed="rId2"/>
                <a:stretch>
                  <a:fillRect l="-724" t="-5934" r="-724" b="-9011"/>
                </a:stretch>
              </a:blipFill>
            </p:spPr>
            <p:txBody>
              <a:bodyPr/>
              <a:lstStyle/>
              <a:p>
                <a:r>
                  <a:rPr lang="en-US">
                    <a:noFill/>
                  </a:rPr>
                  <a:t> </a:t>
                </a:r>
              </a:p>
            </p:txBody>
          </p:sp>
        </mc:Fallback>
      </mc:AlternateContent>
    </p:spTree>
    <p:extLst>
      <p:ext uri="{BB962C8B-B14F-4D97-AF65-F5344CB8AC3E}">
        <p14:creationId xmlns:p14="http://schemas.microsoft.com/office/powerpoint/2010/main" val="1433522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37839-75FF-CC25-5E7D-909986F7D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FC9BB-7733-CC7C-174A-F94E98730B74}"/>
              </a:ext>
            </a:extLst>
          </p:cNvPr>
          <p:cNvSpPr>
            <a:spLocks noGrp="1"/>
          </p:cNvSpPr>
          <p:nvPr>
            <p:ph type="title"/>
          </p:nvPr>
        </p:nvSpPr>
        <p:spPr>
          <a:xfrm>
            <a:off x="838200" y="141514"/>
            <a:ext cx="10515600" cy="805543"/>
          </a:xfrm>
        </p:spPr>
        <p:txBody>
          <a:bodyPr>
            <a:noAutofit/>
          </a:bodyPr>
          <a:lstStyle/>
          <a:p>
            <a:r>
              <a:rPr lang="en-US" sz="3200" b="1" dirty="0"/>
              <a:t>Hypothesis about density sensitivity – Voxelization</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338C0DF-8798-2DEF-EBDA-A0771F057F62}"/>
                  </a:ext>
                </a:extLst>
              </p:cNvPr>
              <p:cNvSpPr>
                <a:spLocks noGrp="1"/>
              </p:cNvSpPr>
              <p:nvPr>
                <p:ph idx="1"/>
              </p:nvPr>
            </p:nvSpPr>
            <p:spPr>
              <a:xfrm>
                <a:off x="838200" y="947057"/>
                <a:ext cx="10515600" cy="5769429"/>
              </a:xfrm>
            </p:spPr>
            <p:txBody>
              <a:bodyPr>
                <a:noAutofit/>
              </a:bodyPr>
              <a:lstStyle/>
              <a:p>
                <a:pPr algn="just">
                  <a:lnSpc>
                    <a:spcPct val="100000"/>
                  </a:lnSpc>
                </a:pPr>
                <a:r>
                  <a:rPr lang="en-US" sz="2200" dirty="0"/>
                  <a:t>PointTransformerV3 introduces another mechanism through voxelization. Let </a:t>
                </a:r>
                <a14:m>
                  <m:oMath xmlns:m="http://schemas.openxmlformats.org/officeDocument/2006/math">
                    <m:sSub>
                      <m:sSubPr>
                        <m:ctrlPr>
                          <a:rPr lang="en-US" sz="2200" i="1"/>
                        </m:ctrlPr>
                      </m:sSubPr>
                      <m:e>
                        <m:r>
                          <a:rPr lang="en-US" sz="2200" i="1"/>
                          <m:t>𝑉</m:t>
                        </m:r>
                      </m:e>
                      <m:sub>
                        <m:r>
                          <a:rPr lang="en-US" sz="2200" i="1"/>
                          <m:t>𝑗</m:t>
                        </m:r>
                      </m:sub>
                    </m:sSub>
                  </m:oMath>
                </a14:m>
                <a:r>
                  <a:rPr lang="en-US" sz="2200" dirty="0"/>
                  <a:t> denote voxel </a:t>
                </a:r>
                <a14:m>
                  <m:oMath xmlns:m="http://schemas.openxmlformats.org/officeDocument/2006/math">
                    <m:r>
                      <a:rPr lang="en-US" sz="2200" i="1"/>
                      <m:t>𝑗</m:t>
                    </m:r>
                  </m:oMath>
                </a14:m>
                <a:r>
                  <a:rPr lang="en-US" sz="2200" dirty="0"/>
                  <a:t>. Let </a:t>
                </a:r>
                <a14:m>
                  <m:oMath xmlns:m="http://schemas.openxmlformats.org/officeDocument/2006/math">
                    <m:sSub>
                      <m:sSubPr>
                        <m:ctrlPr>
                          <a:rPr lang="en-US" sz="2200" i="1"/>
                        </m:ctrlPr>
                      </m:sSubPr>
                      <m:e>
                        <m:r>
                          <a:rPr lang="en-US" sz="2200" i="1"/>
                          <m:t>𝑠</m:t>
                        </m:r>
                      </m:e>
                      <m:sub>
                        <m:r>
                          <a:rPr lang="en-US" sz="2200" i="1"/>
                          <m:t>𝑗</m:t>
                        </m:r>
                      </m:sub>
                    </m:sSub>
                  </m:oMath>
                </a14:m>
                <a:r>
                  <a:rPr lang="en-US" sz="2200" dirty="0"/>
                  <a:t> denote the probability that one geometry point sampled according to density </a:t>
                </a:r>
                <a14:m>
                  <m:oMath xmlns:m="http://schemas.openxmlformats.org/officeDocument/2006/math">
                    <m:sSub>
                      <m:sSubPr>
                        <m:ctrlPr>
                          <a:rPr lang="en-US" sz="2200" i="1"/>
                        </m:ctrlPr>
                      </m:sSubPr>
                      <m:e>
                        <m:r>
                          <a:rPr lang="en-US" sz="2200" i="1"/>
                          <m:t>𝑑</m:t>
                        </m:r>
                      </m:e>
                      <m:sub>
                        <m:r>
                          <a:rPr lang="en-US" sz="2200" i="1"/>
                          <m:t>𝐴</m:t>
                        </m:r>
                      </m:sub>
                    </m:sSub>
                    <m:d>
                      <m:dPr>
                        <m:ctrlPr>
                          <a:rPr lang="en-US" sz="2200" i="1"/>
                        </m:ctrlPr>
                      </m:dPr>
                      <m:e>
                        <m:r>
                          <a:rPr lang="en-US" sz="2200" i="1"/>
                          <m:t>𝑥</m:t>
                        </m:r>
                      </m:e>
                    </m:d>
                  </m:oMath>
                </a14:m>
                <a:r>
                  <a:rPr lang="en-US" sz="2200" dirty="0"/>
                  <a:t> lies in that voxel:</a:t>
                </a:r>
              </a:p>
              <a:p>
                <a:pPr marL="0" indent="0" algn="just">
                  <a:lnSpc>
                    <a:spcPct val="100000"/>
                  </a:lnSpc>
                  <a:buNone/>
                </a:pPr>
                <a14:m>
                  <m:oMathPara xmlns:m="http://schemas.openxmlformats.org/officeDocument/2006/math">
                    <m:oMath>
                      <m:sSub>
                        <m:sSubPr>
                          <m:ctrlPr>
                            <a:rPr lang="en-US" sz="2200" i="1"/>
                          </m:ctrlPr>
                        </m:sSubPr>
                        <m:e>
                          <m:r>
                            <a:rPr lang="en-US" sz="2200" i="1"/>
                            <m:t>𝑠</m:t>
                          </m:r>
                        </m:e>
                        <m:sub>
                          <m:r>
                            <a:rPr lang="en-US" sz="2200" i="1"/>
                            <m:t>𝑗</m:t>
                          </m:r>
                        </m:sub>
                      </m:sSub>
                      <m:r>
                        <a:rPr lang="en-US" sz="2200"/>
                        <m:t>=</m:t>
                      </m:r>
                      <m:nary>
                        <m:naryPr>
                          <m:limLoc m:val="subSup"/>
                          <m:ctrlPr>
                            <a:rPr lang="en-US" sz="2200" i="1"/>
                          </m:ctrlPr>
                        </m:naryPr>
                        <m:sub>
                          <m:sSub>
                            <m:sSubPr>
                              <m:ctrlPr>
                                <a:rPr lang="en-US" sz="2200" i="1"/>
                              </m:ctrlPr>
                            </m:sSubPr>
                            <m:e>
                              <m:r>
                                <a:rPr lang="en-US" sz="2200" i="1"/>
                                <m:t>𝑉</m:t>
                              </m:r>
                            </m:e>
                            <m:sub>
                              <m:r>
                                <a:rPr lang="en-US" sz="2200" i="1"/>
                                <m:t>𝑗</m:t>
                              </m:r>
                            </m:sub>
                          </m:sSub>
                          <m:r>
                            <a:rPr lang="en-US" sz="2200"/>
                            <m:t>∩</m:t>
                          </m:r>
                          <m:r>
                            <a:rPr lang="en-US" sz="2200" i="1"/>
                            <m:t>𝛤</m:t>
                          </m:r>
                        </m:sub>
                        <m:sup>
                          <m:r>
                            <a:rPr lang="en-US" sz="2200" i="1"/>
                            <m:t>​</m:t>
                          </m:r>
                        </m:sup>
                        <m:e>
                          <m:sSub>
                            <m:sSubPr>
                              <m:ctrlPr>
                                <a:rPr lang="en-US" sz="2200" i="1"/>
                              </m:ctrlPr>
                            </m:sSubPr>
                            <m:e>
                              <m:r>
                                <a:rPr lang="en-US" sz="2200" i="1"/>
                                <m:t>𝑑</m:t>
                              </m:r>
                            </m:e>
                            <m:sub>
                              <m:r>
                                <a:rPr lang="en-US" sz="2200" i="1"/>
                                <m:t>𝐴</m:t>
                              </m:r>
                            </m:sub>
                          </m:sSub>
                        </m:e>
                      </m:nary>
                      <m:d>
                        <m:dPr>
                          <m:ctrlPr>
                            <a:rPr lang="en-US" sz="2200" i="1"/>
                          </m:ctrlPr>
                        </m:dPr>
                        <m:e>
                          <m:r>
                            <a:rPr lang="en-US" sz="2200" i="1"/>
                            <m:t>𝑥</m:t>
                          </m:r>
                        </m:e>
                      </m:d>
                      <m:r>
                        <a:rPr lang="en-US" sz="2200" i="1"/>
                        <m:t> </m:t>
                      </m:r>
                      <m:r>
                        <a:rPr lang="en-US" sz="2200" i="1"/>
                        <m:t>𝑑𝑆</m:t>
                      </m:r>
                      <m:d>
                        <m:dPr>
                          <m:ctrlPr>
                            <a:rPr lang="en-US" sz="2200" i="1"/>
                          </m:ctrlPr>
                        </m:dPr>
                        <m:e>
                          <m:r>
                            <a:rPr lang="en-US" sz="2200" i="1"/>
                            <m:t>𝑥</m:t>
                          </m:r>
                        </m:e>
                      </m:d>
                      <m:r>
                        <a:rPr lang="en-US" sz="2200"/>
                        <m:t>.</m:t>
                      </m:r>
                    </m:oMath>
                  </m:oMathPara>
                </a14:m>
                <a:endParaRPr lang="en-US" sz="2200" dirty="0"/>
              </a:p>
              <a:p>
                <a:pPr marL="0" indent="0" algn="just">
                  <a:lnSpc>
                    <a:spcPct val="100000"/>
                  </a:lnSpc>
                  <a:buNone/>
                </a:pPr>
                <a:r>
                  <a:rPr lang="en-US" sz="2200" dirty="0"/>
                  <a:t>Here, </a:t>
                </a:r>
                <a14:m>
                  <m:oMath xmlns:m="http://schemas.openxmlformats.org/officeDocument/2006/math">
                    <m:sSub>
                      <m:sSubPr>
                        <m:ctrlPr>
                          <a:rPr lang="en-US" sz="2200" i="1"/>
                        </m:ctrlPr>
                      </m:sSubPr>
                      <m:e>
                        <m:r>
                          <a:rPr lang="en-US" sz="2200" i="1"/>
                          <m:t>𝑉</m:t>
                        </m:r>
                      </m:e>
                      <m:sub>
                        <m:r>
                          <a:rPr lang="en-US" sz="2200" i="1"/>
                          <m:t>𝑗</m:t>
                        </m:r>
                      </m:sub>
                    </m:sSub>
                    <m:r>
                      <a:rPr lang="en-US" sz="2200"/>
                      <m:t>∩</m:t>
                    </m:r>
                    <m:r>
                      <a:rPr lang="en-US" sz="2200" i="1"/>
                      <m:t>𝛤</m:t>
                    </m:r>
                  </m:oMath>
                </a14:m>
                <a:r>
                  <a:rPr lang="en-US" sz="2200" dirty="0"/>
                  <a:t> denotes the portion of the geometry contained inside voxel </a:t>
                </a:r>
                <a14:m>
                  <m:oMath xmlns:m="http://schemas.openxmlformats.org/officeDocument/2006/math">
                    <m:sSub>
                      <m:sSubPr>
                        <m:ctrlPr>
                          <a:rPr lang="en-US" sz="2200" i="1"/>
                        </m:ctrlPr>
                      </m:sSubPr>
                      <m:e>
                        <m:r>
                          <a:rPr lang="en-US" sz="2200" i="1"/>
                          <m:t>𝑉</m:t>
                        </m:r>
                      </m:e>
                      <m:sub>
                        <m:r>
                          <a:rPr lang="en-US" sz="2200" i="1"/>
                          <m:t>𝑗</m:t>
                        </m:r>
                      </m:sub>
                    </m:sSub>
                  </m:oMath>
                </a14:m>
                <a:r>
                  <a:rPr lang="en-US" sz="2200" dirty="0"/>
                  <a:t>.</a:t>
                </a:r>
              </a:p>
              <a:p>
                <a:pPr marL="0" indent="0" algn="just">
                  <a:lnSpc>
                    <a:spcPct val="100000"/>
                  </a:lnSpc>
                  <a:buNone/>
                </a:pPr>
                <a:r>
                  <a:rPr lang="en-US" sz="2200" dirty="0"/>
                  <a:t>Let </a:t>
                </a:r>
                <a14:m>
                  <m:oMath xmlns:m="http://schemas.openxmlformats.org/officeDocument/2006/math">
                    <m:sSub>
                      <m:sSubPr>
                        <m:ctrlPr>
                          <a:rPr lang="en-US" sz="2200" i="1"/>
                        </m:ctrlPr>
                      </m:sSubPr>
                      <m:e>
                        <m:r>
                          <a:rPr lang="en-US" sz="2200" i="1"/>
                          <m:t>𝐶</m:t>
                        </m:r>
                      </m:e>
                      <m:sub>
                        <m:r>
                          <a:rPr lang="en-US" sz="2200" i="1"/>
                          <m:t>𝑗</m:t>
                        </m:r>
                      </m:sub>
                    </m:sSub>
                  </m:oMath>
                </a14:m>
                <a:r>
                  <a:rPr lang="en-US" sz="2200" dirty="0"/>
                  <a:t> denote the number of the </a:t>
                </a:r>
                <a14:m>
                  <m:oMath xmlns:m="http://schemas.openxmlformats.org/officeDocument/2006/math">
                    <m:r>
                      <a:rPr lang="en-US" sz="2200" i="1"/>
                      <m:t>𝑁</m:t>
                    </m:r>
                  </m:oMath>
                </a14:m>
                <a:r>
                  <a:rPr lang="en-US" sz="2200" dirty="0"/>
                  <a:t> sampled geometry points that fall inside voxel </a:t>
                </a:r>
                <a14:m>
                  <m:oMath xmlns:m="http://schemas.openxmlformats.org/officeDocument/2006/math">
                    <m:sSub>
                      <m:sSubPr>
                        <m:ctrlPr>
                          <a:rPr lang="en-US" sz="2200" i="1"/>
                        </m:ctrlPr>
                      </m:sSubPr>
                      <m:e>
                        <m:r>
                          <a:rPr lang="en-US" sz="2200" i="1"/>
                          <m:t>𝑉</m:t>
                        </m:r>
                      </m:e>
                      <m:sub>
                        <m:r>
                          <a:rPr lang="en-US" sz="2200" i="1"/>
                          <m:t>𝑗</m:t>
                        </m:r>
                      </m:sub>
                    </m:sSub>
                  </m:oMath>
                </a14:m>
                <a:r>
                  <a:rPr lang="en-US" sz="2200" dirty="0"/>
                  <a:t>. Under independent sampling,</a:t>
                </a:r>
              </a:p>
              <a:p>
                <a:pPr marL="0" indent="0" algn="just">
                  <a:lnSpc>
                    <a:spcPct val="100000"/>
                  </a:lnSpc>
                  <a:buNone/>
                </a:pPr>
                <a14:m>
                  <m:oMathPara xmlns:m="http://schemas.openxmlformats.org/officeDocument/2006/math">
                    <m:oMath>
                      <m:r>
                        <m:rPr>
                          <m:sty m:val="p"/>
                        </m:rPr>
                        <a:rPr lang="en-US" sz="2200"/>
                        <m:t>Pr</m:t>
                      </m:r>
                      <m:d>
                        <m:dPr>
                          <m:ctrlPr>
                            <a:rPr lang="en-US" sz="2200" i="1"/>
                          </m:ctrlPr>
                        </m:dPr>
                        <m:e>
                          <m:sSub>
                            <m:sSubPr>
                              <m:ctrlPr>
                                <a:rPr lang="en-US" sz="2200" i="1"/>
                              </m:ctrlPr>
                            </m:sSubPr>
                            <m:e>
                              <m:r>
                                <a:rPr lang="en-US" sz="2200" i="1"/>
                                <m:t>𝐶</m:t>
                              </m:r>
                            </m:e>
                            <m:sub>
                              <m:r>
                                <a:rPr lang="en-US" sz="2200" i="1"/>
                                <m:t>𝑗</m:t>
                              </m:r>
                            </m:sub>
                          </m:sSub>
                          <m:r>
                            <a:rPr lang="en-US" sz="2200"/>
                            <m:t>&gt;</m:t>
                          </m:r>
                          <m:r>
                            <a:rPr lang="en-US" sz="2200" i="1"/>
                            <m:t>0</m:t>
                          </m:r>
                        </m:e>
                      </m:d>
                      <m:r>
                        <a:rPr lang="en-US" sz="2200"/>
                        <m:t>=</m:t>
                      </m:r>
                      <m:r>
                        <a:rPr lang="en-US" sz="2200" i="1"/>
                        <m:t>1</m:t>
                      </m:r>
                      <m:r>
                        <a:rPr lang="en-US" sz="2200"/>
                        <m:t>−</m:t>
                      </m:r>
                      <m:sSup>
                        <m:sSupPr>
                          <m:ctrlPr>
                            <a:rPr lang="en-US" sz="2200" i="1"/>
                          </m:ctrlPr>
                        </m:sSupPr>
                        <m:e>
                          <m:d>
                            <m:dPr>
                              <m:ctrlPr>
                                <a:rPr lang="en-US" sz="2200" i="1"/>
                              </m:ctrlPr>
                            </m:dPr>
                            <m:e>
                              <m:r>
                                <a:rPr lang="en-US" sz="2200" i="1"/>
                                <m:t>1</m:t>
                              </m:r>
                              <m:r>
                                <a:rPr lang="en-US" sz="2200"/>
                                <m:t>−</m:t>
                              </m:r>
                              <m:sSub>
                                <m:sSubPr>
                                  <m:ctrlPr>
                                    <a:rPr lang="en-US" sz="2200" i="1"/>
                                  </m:ctrlPr>
                                </m:sSubPr>
                                <m:e>
                                  <m:r>
                                    <a:rPr lang="en-US" sz="2200" i="1"/>
                                    <m:t>𝑠</m:t>
                                  </m:r>
                                </m:e>
                                <m:sub>
                                  <m:r>
                                    <a:rPr lang="en-US" sz="2200" i="1"/>
                                    <m:t>𝑗</m:t>
                                  </m:r>
                                </m:sub>
                              </m:sSub>
                            </m:e>
                          </m:d>
                        </m:e>
                        <m:sup>
                          <m:r>
                            <a:rPr lang="en-US" sz="2200" i="1"/>
                            <m:t>𝑁</m:t>
                          </m:r>
                        </m:sup>
                      </m:sSup>
                      <m:r>
                        <a:rPr lang="en-US" sz="2200"/>
                        <m:t>,</m:t>
                      </m:r>
                    </m:oMath>
                  </m:oMathPara>
                </a14:m>
                <a:endParaRPr lang="en-US" sz="2200" dirty="0"/>
              </a:p>
              <a:p>
                <a:pPr marL="0" indent="0" algn="just">
                  <a:lnSpc>
                    <a:spcPct val="100000"/>
                  </a:lnSpc>
                  <a:buNone/>
                </a:pPr>
                <a:r>
                  <a:rPr lang="en-US" sz="2200" dirty="0"/>
                  <a:t>where </a:t>
                </a:r>
                <a14:m>
                  <m:oMath xmlns:m="http://schemas.openxmlformats.org/officeDocument/2006/math">
                    <m:r>
                      <m:rPr>
                        <m:sty m:val="p"/>
                      </m:rPr>
                      <a:rPr lang="en-US" sz="2200"/>
                      <m:t>Pr</m:t>
                    </m:r>
                    <m:d>
                      <m:dPr>
                        <m:ctrlPr>
                          <a:rPr lang="en-US" sz="2200" i="1"/>
                        </m:ctrlPr>
                      </m:dPr>
                      <m:e>
                        <m:sSub>
                          <m:sSubPr>
                            <m:ctrlPr>
                              <a:rPr lang="en-US" sz="2200" i="1"/>
                            </m:ctrlPr>
                          </m:sSubPr>
                          <m:e>
                            <m:r>
                              <a:rPr lang="en-US" sz="2200" i="1"/>
                              <m:t>𝐶</m:t>
                            </m:r>
                          </m:e>
                          <m:sub>
                            <m:r>
                              <a:rPr lang="en-US" sz="2200" i="1"/>
                              <m:t>𝑗</m:t>
                            </m:r>
                          </m:sub>
                        </m:sSub>
                        <m:r>
                          <a:rPr lang="en-US" sz="2200"/>
                          <m:t>&gt;</m:t>
                        </m:r>
                        <m:r>
                          <a:rPr lang="en-US" sz="2200" i="1"/>
                          <m:t>0</m:t>
                        </m:r>
                      </m:e>
                    </m:d>
                  </m:oMath>
                </a14:m>
                <a:r>
                  <a:rPr lang="en-US" sz="2200" dirty="0"/>
                  <a:t> is the probability that voxel </a:t>
                </a:r>
                <a14:m>
                  <m:oMath xmlns:m="http://schemas.openxmlformats.org/officeDocument/2006/math">
                    <m:sSub>
                      <m:sSubPr>
                        <m:ctrlPr>
                          <a:rPr lang="en-US" sz="2200" i="1"/>
                        </m:ctrlPr>
                      </m:sSubPr>
                      <m:e>
                        <m:r>
                          <a:rPr lang="en-US" sz="2200" i="1"/>
                          <m:t>𝑉</m:t>
                        </m:r>
                      </m:e>
                      <m:sub>
                        <m:r>
                          <a:rPr lang="en-US" sz="2200" i="1"/>
                          <m:t>𝑗</m:t>
                        </m:r>
                      </m:sub>
                    </m:sSub>
                  </m:oMath>
                </a14:m>
                <a:r>
                  <a:rPr lang="en-US" sz="2200" dirty="0"/>
                  <a:t> contains at least one point. Changing the sampling density changes </a:t>
                </a:r>
                <a14:m>
                  <m:oMath xmlns:m="http://schemas.openxmlformats.org/officeDocument/2006/math">
                    <m:sSub>
                      <m:sSubPr>
                        <m:ctrlPr>
                          <a:rPr lang="en-US" sz="2200" i="1"/>
                        </m:ctrlPr>
                      </m:sSubPr>
                      <m:e>
                        <m:r>
                          <a:rPr lang="en-US" sz="2200" i="1"/>
                          <m:t>𝑠</m:t>
                        </m:r>
                      </m:e>
                      <m:sub>
                        <m:r>
                          <a:rPr lang="en-US" sz="2200" i="1"/>
                          <m:t>𝑗</m:t>
                        </m:r>
                      </m:sub>
                    </m:sSub>
                  </m:oMath>
                </a14:m>
                <a:r>
                  <a:rPr lang="en-US" sz="2200" dirty="0"/>
                  <a:t>, and therefore changes the probability that a voxel exists in the sparse representation at all.</a:t>
                </a:r>
              </a:p>
            </p:txBody>
          </p:sp>
        </mc:Choice>
        <mc:Fallback>
          <p:sp>
            <p:nvSpPr>
              <p:cNvPr id="6" name="Content Placeholder 5">
                <a:extLst>
                  <a:ext uri="{FF2B5EF4-FFF2-40B4-BE49-F238E27FC236}">
                    <a16:creationId xmlns:a16="http://schemas.microsoft.com/office/drawing/2014/main" id="{D338C0DF-8798-2DEF-EBDA-A0771F057F62}"/>
                  </a:ext>
                </a:extLst>
              </p:cNvPr>
              <p:cNvSpPr>
                <a:spLocks noGrp="1" noRot="1" noChangeAspect="1" noMove="1" noResize="1" noEditPoints="1" noAdjustHandles="1" noChangeArrowheads="1" noChangeShapeType="1" noTextEdit="1"/>
              </p:cNvSpPr>
              <p:nvPr>
                <p:ph idx="1"/>
              </p:nvPr>
            </p:nvSpPr>
            <p:spPr>
              <a:xfrm>
                <a:off x="838200" y="947057"/>
                <a:ext cx="10515600" cy="5769429"/>
              </a:xfrm>
              <a:blipFill>
                <a:blip r:embed="rId2"/>
                <a:stretch>
                  <a:fillRect l="-724" t="-5714" r="-724"/>
                </a:stretch>
              </a:blipFill>
            </p:spPr>
            <p:txBody>
              <a:bodyPr/>
              <a:lstStyle/>
              <a:p>
                <a:r>
                  <a:rPr lang="en-US">
                    <a:noFill/>
                  </a:rPr>
                  <a:t> </a:t>
                </a:r>
              </a:p>
            </p:txBody>
          </p:sp>
        </mc:Fallback>
      </mc:AlternateContent>
    </p:spTree>
    <p:extLst>
      <p:ext uri="{BB962C8B-B14F-4D97-AF65-F5344CB8AC3E}">
        <p14:creationId xmlns:p14="http://schemas.microsoft.com/office/powerpoint/2010/main" val="3975037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2ACE4-141D-4CBB-5A87-67C588FBD1A4}"/>
              </a:ext>
            </a:extLst>
          </p:cNvPr>
          <p:cNvSpPr>
            <a:spLocks noGrp="1"/>
          </p:cNvSpPr>
          <p:nvPr>
            <p:ph type="title"/>
          </p:nvPr>
        </p:nvSpPr>
        <p:spPr>
          <a:xfrm>
            <a:off x="838200" y="365125"/>
            <a:ext cx="10515600" cy="6111875"/>
          </a:xfrm>
        </p:spPr>
        <p:txBody>
          <a:bodyPr/>
          <a:lstStyle/>
          <a:p>
            <a:pPr algn="ctr"/>
            <a:r>
              <a:rPr lang="en-US" dirty="0"/>
              <a:t>Proposed solution</a:t>
            </a:r>
          </a:p>
        </p:txBody>
      </p:sp>
    </p:spTree>
    <p:extLst>
      <p:ext uri="{BB962C8B-B14F-4D97-AF65-F5344CB8AC3E}">
        <p14:creationId xmlns:p14="http://schemas.microsoft.com/office/powerpoint/2010/main" val="667127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0F0D-3FF8-EC47-397E-4309D1350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70C4D-1FC6-03AD-3BFD-C030AD7D77FB}"/>
              </a:ext>
            </a:extLst>
          </p:cNvPr>
          <p:cNvSpPr>
            <a:spLocks noGrp="1"/>
          </p:cNvSpPr>
          <p:nvPr>
            <p:ph type="title"/>
          </p:nvPr>
        </p:nvSpPr>
        <p:spPr>
          <a:xfrm>
            <a:off x="838200" y="141514"/>
            <a:ext cx="10515600" cy="805543"/>
          </a:xfrm>
        </p:spPr>
        <p:txBody>
          <a:bodyPr>
            <a:noAutofit/>
          </a:bodyPr>
          <a:lstStyle/>
          <a:p>
            <a:r>
              <a:rPr lang="en-US" sz="3200" b="1" dirty="0"/>
              <a:t>Proposed solution</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25B0534F-4983-F2EB-E47B-8B2A57C4337B}"/>
                  </a:ext>
                </a:extLst>
              </p:cNvPr>
              <p:cNvSpPr>
                <a:spLocks noGrp="1"/>
              </p:cNvSpPr>
              <p:nvPr>
                <p:ph idx="1"/>
              </p:nvPr>
            </p:nvSpPr>
            <p:spPr>
              <a:xfrm>
                <a:off x="838200" y="947057"/>
                <a:ext cx="10515600" cy="5769429"/>
              </a:xfrm>
            </p:spPr>
            <p:txBody>
              <a:bodyPr>
                <a:noAutofit/>
              </a:bodyPr>
              <a:lstStyle/>
              <a:p>
                <a:pPr algn="just">
                  <a:lnSpc>
                    <a:spcPct val="100000"/>
                  </a:lnSpc>
                </a:pPr>
                <a:r>
                  <a:rPr lang="en-US" sz="2200" dirty="0"/>
                  <a:t>Let </a:t>
                </a:r>
                <a14:m>
                  <m:oMath xmlns:m="http://schemas.openxmlformats.org/officeDocument/2006/math">
                    <m:sSub>
                      <m:sSubPr>
                        <m:ctrlPr>
                          <a:rPr lang="en-US" sz="2200" i="1"/>
                        </m:ctrlPr>
                      </m:sSubPr>
                      <m:e>
                        <m:acc>
                          <m:accPr>
                            <m:chr m:val="̂"/>
                            <m:ctrlPr>
                              <a:rPr lang="en-US" sz="2200" i="1"/>
                            </m:ctrlPr>
                          </m:accPr>
                          <m:e>
                            <m:r>
                              <a:rPr lang="en-US" sz="2200" i="1"/>
                              <m:t>𝑑</m:t>
                            </m:r>
                          </m:e>
                        </m:acc>
                      </m:e>
                      <m:sub>
                        <m:r>
                          <a:rPr lang="en-US" sz="2200" i="1"/>
                          <m:t>𝑖</m:t>
                        </m:r>
                      </m:sub>
                    </m:sSub>
                    <m:r>
                      <a:rPr lang="en-US" sz="2200"/>
                      <m:t>&gt;</m:t>
                    </m:r>
                    <m:r>
                      <a:rPr lang="en-US" sz="2200" i="1"/>
                      <m:t>0</m:t>
                    </m:r>
                  </m:oMath>
                </a14:m>
                <a:r>
                  <a:rPr lang="en-US" sz="2200" dirty="0"/>
                  <a:t> denote the estimated local density score of source point </a:t>
                </a:r>
                <a14:m>
                  <m:oMath xmlns:m="http://schemas.openxmlformats.org/officeDocument/2006/math">
                    <m:r>
                      <a:rPr lang="en-US" sz="2200" i="1"/>
                      <m:t>𝑖</m:t>
                    </m:r>
                  </m:oMath>
                </a14:m>
                <a:r>
                  <a:rPr lang="en-US" sz="2200" dirty="0"/>
                  <a:t>. The hat distinguishes the estimated finite-cloud density score </a:t>
                </a:r>
                <a14:m>
                  <m:oMath xmlns:m="http://schemas.openxmlformats.org/officeDocument/2006/math">
                    <m:sSub>
                      <m:sSubPr>
                        <m:ctrlPr>
                          <a:rPr lang="en-US" sz="2200" i="1"/>
                        </m:ctrlPr>
                      </m:sSubPr>
                      <m:e>
                        <m:acc>
                          <m:accPr>
                            <m:chr m:val="̂"/>
                            <m:ctrlPr>
                              <a:rPr lang="en-US" sz="2200" i="1"/>
                            </m:ctrlPr>
                          </m:accPr>
                          <m:e>
                            <m:r>
                              <a:rPr lang="en-US" sz="2200" i="1"/>
                              <m:t>𝑑</m:t>
                            </m:r>
                          </m:e>
                        </m:acc>
                      </m:e>
                      <m:sub>
                        <m:r>
                          <a:rPr lang="en-US" sz="2200" i="1"/>
                          <m:t>𝑖</m:t>
                        </m:r>
                      </m:sub>
                    </m:sSub>
                  </m:oMath>
                </a14:m>
                <a:r>
                  <a:rPr lang="en-US" sz="2200" dirty="0"/>
                  <a:t> from the continuous sampling densities </a:t>
                </a:r>
                <a14:m>
                  <m:oMath xmlns:m="http://schemas.openxmlformats.org/officeDocument/2006/math">
                    <m:sSub>
                      <m:sSubPr>
                        <m:ctrlPr>
                          <a:rPr lang="en-US" sz="2200" i="1"/>
                        </m:ctrlPr>
                      </m:sSubPr>
                      <m:e>
                        <m:r>
                          <a:rPr lang="en-US" sz="2200" i="1"/>
                          <m:t>𝑑</m:t>
                        </m:r>
                      </m:e>
                      <m:sub>
                        <m:r>
                          <a:rPr lang="en-US" sz="2200" i="1"/>
                          <m:t>𝐴</m:t>
                        </m:r>
                      </m:sub>
                    </m:sSub>
                    <m:d>
                      <m:dPr>
                        <m:ctrlPr>
                          <a:rPr lang="en-US" sz="2200" i="1"/>
                        </m:ctrlPr>
                      </m:dPr>
                      <m:e>
                        <m:r>
                          <a:rPr lang="en-US" sz="2200" i="1"/>
                          <m:t>𝑥</m:t>
                        </m:r>
                      </m:e>
                    </m:d>
                  </m:oMath>
                </a14:m>
                <a:r>
                  <a:rPr lang="en-US" sz="2200" dirty="0"/>
                  <a:t> and </a:t>
                </a:r>
                <a14:m>
                  <m:oMath xmlns:m="http://schemas.openxmlformats.org/officeDocument/2006/math">
                    <m:sSub>
                      <m:sSubPr>
                        <m:ctrlPr>
                          <a:rPr lang="en-US" sz="2200" i="1"/>
                        </m:ctrlPr>
                      </m:sSubPr>
                      <m:e>
                        <m:r>
                          <a:rPr lang="en-US" sz="2200" i="1"/>
                          <m:t>𝑑</m:t>
                        </m:r>
                      </m:e>
                      <m:sub>
                        <m:r>
                          <a:rPr lang="en-US" sz="2200" i="1"/>
                          <m:t>𝐵</m:t>
                        </m:r>
                      </m:sub>
                    </m:sSub>
                    <m:d>
                      <m:dPr>
                        <m:ctrlPr>
                          <a:rPr lang="en-US" sz="2200" i="1"/>
                        </m:ctrlPr>
                      </m:dPr>
                      <m:e>
                        <m:r>
                          <a:rPr lang="en-US" sz="2200" i="1"/>
                          <m:t>𝑥</m:t>
                        </m:r>
                      </m:e>
                    </m:d>
                  </m:oMath>
                </a14:m>
                <a:r>
                  <a:rPr lang="en-US" sz="2200" dirty="0"/>
                  <a:t>. Let </a:t>
                </a:r>
                <a14:m>
                  <m:oMath xmlns:m="http://schemas.openxmlformats.org/officeDocument/2006/math">
                    <m:r>
                      <a:rPr lang="en-US" sz="2200" i="1"/>
                      <m:t>𝛽</m:t>
                    </m:r>
                    <m:r>
                      <a:rPr lang="en-US" sz="2200"/>
                      <m:t>≥</m:t>
                    </m:r>
                    <m:r>
                      <a:rPr lang="en-US" sz="2200" i="1"/>
                      <m:t>0</m:t>
                    </m:r>
                  </m:oMath>
                </a14:m>
                <a:r>
                  <a:rPr lang="en-US" sz="2200" dirty="0"/>
                  <a:t> denote the strength of inverse-density resampling. Let </a:t>
                </a:r>
                <a14:m>
                  <m:oMath xmlns:m="http://schemas.openxmlformats.org/officeDocument/2006/math">
                    <m:sSub>
                      <m:sSubPr>
                        <m:ctrlPr>
                          <a:rPr lang="en-US" sz="2200" i="1"/>
                        </m:ctrlPr>
                      </m:sSubPr>
                      <m:e>
                        <m:r>
                          <a:rPr lang="en-US" sz="2200" i="1"/>
                          <m:t>𝑈</m:t>
                        </m:r>
                      </m:e>
                      <m:sub>
                        <m:r>
                          <a:rPr lang="en-US" sz="2200" i="1"/>
                          <m:t>𝑡</m:t>
                        </m:r>
                      </m:sub>
                    </m:sSub>
                  </m:oMath>
                </a14:m>
                <a:r>
                  <a:rPr lang="en-US" sz="2200" dirty="0"/>
                  <a:t> denote the set of source-point indices still available at sampling step </a:t>
                </a:r>
                <a14:m>
                  <m:oMath xmlns:m="http://schemas.openxmlformats.org/officeDocument/2006/math">
                    <m:r>
                      <a:rPr lang="en-US" sz="2200" i="1"/>
                      <m:t>𝑡</m:t>
                    </m:r>
                  </m:oMath>
                </a14:m>
                <a:r>
                  <a:rPr lang="en-US" sz="2200" dirty="0"/>
                  <a:t>. The exact conditional probability of selecting point </a:t>
                </a:r>
                <a14:m>
                  <m:oMath xmlns:m="http://schemas.openxmlformats.org/officeDocument/2006/math">
                    <m:r>
                      <a:rPr lang="en-US" sz="2200" i="1"/>
                      <m:t>𝑖</m:t>
                    </m:r>
                    <m:r>
                      <a:rPr lang="en-US" sz="2200"/>
                      <m:t>∈</m:t>
                    </m:r>
                    <m:sSub>
                      <m:sSubPr>
                        <m:ctrlPr>
                          <a:rPr lang="en-US" sz="2200" i="1"/>
                        </m:ctrlPr>
                      </m:sSubPr>
                      <m:e>
                        <m:r>
                          <a:rPr lang="en-US" sz="2200" i="1"/>
                          <m:t>𝑈</m:t>
                        </m:r>
                      </m:e>
                      <m:sub>
                        <m:r>
                          <a:rPr lang="en-US" sz="2200" i="1"/>
                          <m:t>𝑡</m:t>
                        </m:r>
                      </m:sub>
                    </m:sSub>
                  </m:oMath>
                </a14:m>
                <a:r>
                  <a:rPr lang="en-US" sz="2200" dirty="0"/>
                  <a:t> is</a:t>
                </a:r>
              </a:p>
              <a:p>
                <a:pPr marL="0" indent="0" algn="just">
                  <a:lnSpc>
                    <a:spcPct val="100000"/>
                  </a:lnSpc>
                  <a:buNone/>
                </a:pPr>
                <a14:m>
                  <m:oMathPara xmlns:m="http://schemas.openxmlformats.org/officeDocument/2006/math">
                    <m:oMath>
                      <m:sSub>
                        <m:sSubPr>
                          <m:ctrlPr>
                            <a:rPr lang="en-US" sz="2200" i="1"/>
                          </m:ctrlPr>
                        </m:sSubPr>
                        <m:e>
                          <m:r>
                            <a:rPr lang="en-US" sz="2200" i="1"/>
                            <m:t>𝑃</m:t>
                          </m:r>
                        </m:e>
                        <m:sub>
                          <m:r>
                            <a:rPr lang="en-US" sz="2200" i="1"/>
                            <m:t>𝑡</m:t>
                          </m:r>
                        </m:sub>
                      </m:sSub>
                      <m:d>
                        <m:dPr>
                          <m:ctrlPr>
                            <a:rPr lang="en-US" sz="2200" i="1"/>
                          </m:ctrlPr>
                        </m:dPr>
                        <m:e>
                          <m:r>
                            <a:rPr lang="en-US" sz="2200" i="1"/>
                            <m:t>𝑖</m:t>
                          </m:r>
                          <m:r>
                            <a:rPr lang="en-US" sz="2200"/>
                            <m:t>;</m:t>
                          </m:r>
                          <m:r>
                            <a:rPr lang="en-US" sz="2200" i="1"/>
                            <m:t>𝛽</m:t>
                          </m:r>
                        </m:e>
                      </m:d>
                      <m:r>
                        <a:rPr lang="en-US" sz="2200"/>
                        <m:t>=</m:t>
                      </m:r>
                      <m:f>
                        <m:fPr>
                          <m:ctrlPr>
                            <a:rPr lang="en-US" sz="2200" i="1"/>
                          </m:ctrlPr>
                        </m:fPr>
                        <m:num>
                          <m:sSubSup>
                            <m:sSubSupPr>
                              <m:ctrlPr>
                                <a:rPr lang="en-US" sz="2200" i="1"/>
                              </m:ctrlPr>
                            </m:sSubSupPr>
                            <m:e>
                              <m:acc>
                                <m:accPr>
                                  <m:chr m:val="̂"/>
                                  <m:ctrlPr>
                                    <a:rPr lang="en-US" sz="2200" i="1"/>
                                  </m:ctrlPr>
                                </m:accPr>
                                <m:e>
                                  <m:r>
                                    <a:rPr lang="en-US" sz="2200" i="1"/>
                                    <m:t>𝑑</m:t>
                                  </m:r>
                                </m:e>
                              </m:acc>
                            </m:e>
                            <m:sub>
                              <m:r>
                                <a:rPr lang="en-US" sz="2200" i="1"/>
                                <m:t>𝑖</m:t>
                              </m:r>
                            </m:sub>
                            <m:sup>
                              <m:r>
                                <a:rPr lang="en-US" sz="2200"/>
                                <m:t>−</m:t>
                              </m:r>
                              <m:r>
                                <a:rPr lang="en-US" sz="2200" i="1"/>
                                <m:t>𝛽</m:t>
                              </m:r>
                            </m:sup>
                          </m:sSubSup>
                        </m:num>
                        <m:den>
                          <m:nary>
                            <m:naryPr>
                              <m:chr m:val="∑"/>
                              <m:limLoc m:val="undOvr"/>
                              <m:ctrlPr>
                                <a:rPr lang="en-US" sz="2200" i="1"/>
                              </m:ctrlPr>
                            </m:naryPr>
                            <m:sub>
                              <m:r>
                                <a:rPr lang="en-US" sz="2200" i="1"/>
                                <m:t>𝑗</m:t>
                              </m:r>
                              <m:r>
                                <a:rPr lang="en-US" sz="2200"/>
                                <m:t>∈</m:t>
                              </m:r>
                              <m:sSub>
                                <m:sSubPr>
                                  <m:ctrlPr>
                                    <a:rPr lang="en-US" sz="2200" i="1"/>
                                  </m:ctrlPr>
                                </m:sSubPr>
                                <m:e>
                                  <m:r>
                                    <a:rPr lang="en-US" sz="2200" i="1"/>
                                    <m:t>𝑈</m:t>
                                  </m:r>
                                </m:e>
                                <m:sub>
                                  <m:r>
                                    <a:rPr lang="en-US" sz="2200" i="1"/>
                                    <m:t>𝑡</m:t>
                                  </m:r>
                                </m:sub>
                              </m:sSub>
                            </m:sub>
                            <m:sup>
                              <m:r>
                                <a:rPr lang="en-US" sz="2200" i="1"/>
                                <m:t>​</m:t>
                              </m:r>
                            </m:sup>
                            <m:e>
                              <m:sSubSup>
                                <m:sSubSupPr>
                                  <m:ctrlPr>
                                    <a:rPr lang="en-US" sz="2200" i="1"/>
                                  </m:ctrlPr>
                                </m:sSubSupPr>
                                <m:e>
                                  <m:acc>
                                    <m:accPr>
                                      <m:chr m:val="̂"/>
                                      <m:ctrlPr>
                                        <a:rPr lang="en-US" sz="2200" i="1"/>
                                      </m:ctrlPr>
                                    </m:accPr>
                                    <m:e>
                                      <m:r>
                                        <a:rPr lang="en-US" sz="2200" i="1"/>
                                        <m:t>𝑑</m:t>
                                      </m:r>
                                    </m:e>
                                  </m:acc>
                                </m:e>
                                <m:sub>
                                  <m:r>
                                    <a:rPr lang="en-US" sz="2200" i="1"/>
                                    <m:t>𝑗</m:t>
                                  </m:r>
                                </m:sub>
                                <m:sup>
                                  <m:r>
                                    <a:rPr lang="en-US" sz="2200"/>
                                    <m:t>−</m:t>
                                  </m:r>
                                  <m:r>
                                    <a:rPr lang="en-US" sz="2200" i="1"/>
                                    <m:t>𝛽</m:t>
                                  </m:r>
                                </m:sup>
                              </m:sSubSup>
                            </m:e>
                          </m:nary>
                        </m:den>
                      </m:f>
                      <m:r>
                        <a:rPr lang="en-US" sz="2200"/>
                        <m:t>.</m:t>
                      </m:r>
                    </m:oMath>
                  </m:oMathPara>
                </a14:m>
                <a:endParaRPr lang="en-US" sz="2200" dirty="0"/>
              </a:p>
              <a:p>
                <a:pPr algn="just">
                  <a:lnSpc>
                    <a:spcPct val="100000"/>
                  </a:lnSpc>
                </a:pPr>
                <a:r>
                  <a:rPr lang="en-US" sz="2200" dirty="0"/>
                  <a:t>Here, </a:t>
                </a:r>
                <a14:m>
                  <m:oMath xmlns:m="http://schemas.openxmlformats.org/officeDocument/2006/math">
                    <m:sSub>
                      <m:sSubPr>
                        <m:ctrlPr>
                          <a:rPr lang="en-US" sz="2200" i="1"/>
                        </m:ctrlPr>
                      </m:sSubPr>
                      <m:e>
                        <m:r>
                          <a:rPr lang="en-US" sz="2200" i="1"/>
                          <m:t>𝑃</m:t>
                        </m:r>
                      </m:e>
                      <m:sub>
                        <m:r>
                          <a:rPr lang="en-US" sz="2200" i="1"/>
                          <m:t>𝑡</m:t>
                        </m:r>
                      </m:sub>
                    </m:sSub>
                    <m:d>
                      <m:dPr>
                        <m:ctrlPr>
                          <a:rPr lang="en-US" sz="2200" i="1"/>
                        </m:ctrlPr>
                      </m:dPr>
                      <m:e>
                        <m:r>
                          <a:rPr lang="en-US" sz="2200" i="1"/>
                          <m:t>𝑖</m:t>
                        </m:r>
                        <m:r>
                          <a:rPr lang="en-US" sz="2200"/>
                          <m:t>;</m:t>
                        </m:r>
                        <m:r>
                          <a:rPr lang="en-US" sz="2200" i="1"/>
                          <m:t>𝛽</m:t>
                        </m:r>
                      </m:e>
                    </m:d>
                  </m:oMath>
                </a14:m>
                <a:r>
                  <a:rPr lang="en-US" sz="2200" dirty="0"/>
                  <a:t> is the probability of selecting point </a:t>
                </a:r>
                <a14:m>
                  <m:oMath xmlns:m="http://schemas.openxmlformats.org/officeDocument/2006/math">
                    <m:r>
                      <a:rPr lang="en-US" sz="2200" i="1"/>
                      <m:t>𝑖</m:t>
                    </m:r>
                  </m:oMath>
                </a14:m>
                <a:r>
                  <a:rPr lang="en-US" sz="2200" dirty="0"/>
                  <a:t> at step </a:t>
                </a:r>
                <a14:m>
                  <m:oMath xmlns:m="http://schemas.openxmlformats.org/officeDocument/2006/math">
                    <m:r>
                      <a:rPr lang="en-US" sz="2200" i="1"/>
                      <m:t>𝑡</m:t>
                    </m:r>
                  </m:oMath>
                </a14:m>
                <a:r>
                  <a:rPr lang="en-US" sz="2200" dirty="0"/>
                  <a:t>, and </a:t>
                </a:r>
                <a14:m>
                  <m:oMath xmlns:m="http://schemas.openxmlformats.org/officeDocument/2006/math">
                    <m:r>
                      <a:rPr lang="en-US" sz="2200" i="1"/>
                      <m:t>𝑗</m:t>
                    </m:r>
                  </m:oMath>
                </a14:m>
                <a:r>
                  <a:rPr lang="en-US" sz="2200" dirty="0"/>
                  <a:t> is only the summation index over the remaining points. For two remaining points </a:t>
                </a:r>
                <a14:m>
                  <m:oMath xmlns:m="http://schemas.openxmlformats.org/officeDocument/2006/math">
                    <m:r>
                      <a:rPr lang="en-US" sz="2200" i="1"/>
                      <m:t>𝑖</m:t>
                    </m:r>
                  </m:oMath>
                </a14:m>
                <a:r>
                  <a:rPr lang="en-US" sz="2200" dirty="0"/>
                  <a:t> and </a:t>
                </a:r>
                <a14:m>
                  <m:oMath xmlns:m="http://schemas.openxmlformats.org/officeDocument/2006/math">
                    <m:r>
                      <a:rPr lang="en-US" sz="2200" i="1"/>
                      <m:t>𝑗</m:t>
                    </m:r>
                  </m:oMath>
                </a14:m>
                <a:r>
                  <a:rPr lang="en-US" sz="2200" dirty="0"/>
                  <a:t>,</a:t>
                </a:r>
              </a:p>
              <a:p>
                <a:pPr marL="0" indent="0" algn="just">
                  <a:lnSpc>
                    <a:spcPct val="100000"/>
                  </a:lnSpc>
                  <a:buNone/>
                </a:pPr>
                <a14:m>
                  <m:oMathPara xmlns:m="http://schemas.openxmlformats.org/officeDocument/2006/math">
                    <m:oMath>
                      <m:f>
                        <m:fPr>
                          <m:ctrlPr>
                            <a:rPr lang="en-US" sz="2200" i="1"/>
                          </m:ctrlPr>
                        </m:fPr>
                        <m:num>
                          <m:sSub>
                            <m:sSubPr>
                              <m:ctrlPr>
                                <a:rPr lang="en-US" sz="2200" i="1"/>
                              </m:ctrlPr>
                            </m:sSubPr>
                            <m:e>
                              <m:r>
                                <a:rPr lang="en-US" sz="2200" i="1"/>
                                <m:t>𝑃</m:t>
                              </m:r>
                            </m:e>
                            <m:sub>
                              <m:r>
                                <a:rPr lang="en-US" sz="2200" i="1"/>
                                <m:t>𝑡</m:t>
                              </m:r>
                            </m:sub>
                          </m:sSub>
                          <m:d>
                            <m:dPr>
                              <m:ctrlPr>
                                <a:rPr lang="en-US" sz="2200" i="1"/>
                              </m:ctrlPr>
                            </m:dPr>
                            <m:e>
                              <m:r>
                                <a:rPr lang="en-US" sz="2200" i="1"/>
                                <m:t>𝑖</m:t>
                              </m:r>
                              <m:r>
                                <a:rPr lang="en-US" sz="2200"/>
                                <m:t>;</m:t>
                              </m:r>
                              <m:r>
                                <a:rPr lang="en-US" sz="2200" i="1"/>
                                <m:t>𝛽</m:t>
                              </m:r>
                            </m:e>
                          </m:d>
                        </m:num>
                        <m:den>
                          <m:sSub>
                            <m:sSubPr>
                              <m:ctrlPr>
                                <a:rPr lang="en-US" sz="2200" i="1"/>
                              </m:ctrlPr>
                            </m:sSubPr>
                            <m:e>
                              <m:r>
                                <a:rPr lang="en-US" sz="2200" i="1"/>
                                <m:t>𝑃</m:t>
                              </m:r>
                            </m:e>
                            <m:sub>
                              <m:r>
                                <a:rPr lang="en-US" sz="2200" i="1"/>
                                <m:t>𝑡</m:t>
                              </m:r>
                            </m:sub>
                          </m:sSub>
                          <m:d>
                            <m:dPr>
                              <m:ctrlPr>
                                <a:rPr lang="en-US" sz="2200" i="1"/>
                              </m:ctrlPr>
                            </m:dPr>
                            <m:e>
                              <m:r>
                                <a:rPr lang="en-US" sz="2200" i="1"/>
                                <m:t>𝑗</m:t>
                              </m:r>
                              <m:r>
                                <a:rPr lang="en-US" sz="2200"/>
                                <m:t>;</m:t>
                              </m:r>
                              <m:r>
                                <a:rPr lang="en-US" sz="2200" i="1"/>
                                <m:t>𝛽</m:t>
                              </m:r>
                            </m:e>
                          </m:d>
                        </m:den>
                      </m:f>
                      <m:r>
                        <a:rPr lang="en-US" sz="2200"/>
                        <m:t>=</m:t>
                      </m:r>
                      <m:sSup>
                        <m:sSupPr>
                          <m:ctrlPr>
                            <a:rPr lang="en-US" sz="2200" i="1"/>
                          </m:ctrlPr>
                        </m:sSupPr>
                        <m:e>
                          <m:d>
                            <m:dPr>
                              <m:ctrlPr>
                                <a:rPr lang="en-US" sz="2200" i="1"/>
                              </m:ctrlPr>
                            </m:dPr>
                            <m:e>
                              <m:f>
                                <m:fPr>
                                  <m:ctrlPr>
                                    <a:rPr lang="en-US" sz="2200" i="1"/>
                                  </m:ctrlPr>
                                </m:fPr>
                                <m:num>
                                  <m:sSub>
                                    <m:sSubPr>
                                      <m:ctrlPr>
                                        <a:rPr lang="en-US" sz="2200" i="1"/>
                                      </m:ctrlPr>
                                    </m:sSubPr>
                                    <m:e>
                                      <m:acc>
                                        <m:accPr>
                                          <m:chr m:val="̂"/>
                                          <m:ctrlPr>
                                            <a:rPr lang="en-US" sz="2200" i="1"/>
                                          </m:ctrlPr>
                                        </m:accPr>
                                        <m:e>
                                          <m:r>
                                            <a:rPr lang="en-US" sz="2200" i="1"/>
                                            <m:t>𝑑</m:t>
                                          </m:r>
                                        </m:e>
                                      </m:acc>
                                    </m:e>
                                    <m:sub>
                                      <m:r>
                                        <a:rPr lang="en-US" sz="2200" i="1"/>
                                        <m:t>𝑗</m:t>
                                      </m:r>
                                    </m:sub>
                                  </m:sSub>
                                </m:num>
                                <m:den>
                                  <m:sSub>
                                    <m:sSubPr>
                                      <m:ctrlPr>
                                        <a:rPr lang="en-US" sz="2200" i="1"/>
                                      </m:ctrlPr>
                                    </m:sSubPr>
                                    <m:e>
                                      <m:acc>
                                        <m:accPr>
                                          <m:chr m:val="̂"/>
                                          <m:ctrlPr>
                                            <a:rPr lang="en-US" sz="2200" i="1"/>
                                          </m:ctrlPr>
                                        </m:accPr>
                                        <m:e>
                                          <m:r>
                                            <a:rPr lang="en-US" sz="2200" i="1"/>
                                            <m:t>𝑑</m:t>
                                          </m:r>
                                        </m:e>
                                      </m:acc>
                                    </m:e>
                                    <m:sub>
                                      <m:r>
                                        <a:rPr lang="en-US" sz="2200" i="1"/>
                                        <m:t>𝑖</m:t>
                                      </m:r>
                                    </m:sub>
                                  </m:sSub>
                                </m:den>
                              </m:f>
                            </m:e>
                          </m:d>
                        </m:e>
                        <m:sup>
                          <m:r>
                            <a:rPr lang="en-US" sz="2200" i="1"/>
                            <m:t>𝛽</m:t>
                          </m:r>
                        </m:sup>
                      </m:sSup>
                      <m:r>
                        <a:rPr lang="en-US" sz="2200"/>
                        <m:t>.</m:t>
                      </m:r>
                    </m:oMath>
                  </m:oMathPara>
                </a14:m>
                <a:endParaRPr lang="en-US" sz="2200" dirty="0"/>
              </a:p>
              <a:p>
                <a:pPr algn="just">
                  <a:lnSpc>
                    <a:spcPct val="100000"/>
                  </a:lnSpc>
                </a:pPr>
                <a:r>
                  <a:rPr lang="en-US" sz="2200" dirty="0"/>
                  <a:t>Therefore, if </a:t>
                </a:r>
                <a14:m>
                  <m:oMath xmlns:m="http://schemas.openxmlformats.org/officeDocument/2006/math">
                    <m:sSub>
                      <m:sSubPr>
                        <m:ctrlPr>
                          <a:rPr lang="en-US" sz="2200" i="1"/>
                        </m:ctrlPr>
                      </m:sSubPr>
                      <m:e>
                        <m:acc>
                          <m:accPr>
                            <m:chr m:val="̂"/>
                            <m:ctrlPr>
                              <a:rPr lang="en-US" sz="2200" i="1"/>
                            </m:ctrlPr>
                          </m:accPr>
                          <m:e>
                            <m:r>
                              <a:rPr lang="en-US" sz="2200" i="1"/>
                              <m:t>𝑑</m:t>
                            </m:r>
                          </m:e>
                        </m:acc>
                      </m:e>
                      <m:sub>
                        <m:r>
                          <a:rPr lang="en-US" sz="2200" i="1"/>
                          <m:t>𝑖</m:t>
                        </m:r>
                      </m:sub>
                    </m:sSub>
                    <m:r>
                      <a:rPr lang="en-US" sz="2200"/>
                      <m:t>&gt;</m:t>
                    </m:r>
                    <m:sSub>
                      <m:sSubPr>
                        <m:ctrlPr>
                          <a:rPr lang="en-US" sz="2200" i="1"/>
                        </m:ctrlPr>
                      </m:sSubPr>
                      <m:e>
                        <m:acc>
                          <m:accPr>
                            <m:chr m:val="̂"/>
                            <m:ctrlPr>
                              <a:rPr lang="en-US" sz="2200" i="1"/>
                            </m:ctrlPr>
                          </m:accPr>
                          <m:e>
                            <m:r>
                              <a:rPr lang="en-US" sz="2200" i="1"/>
                              <m:t>𝑑</m:t>
                            </m:r>
                          </m:e>
                        </m:acc>
                      </m:e>
                      <m:sub>
                        <m:r>
                          <a:rPr lang="en-US" sz="2200" i="1"/>
                          <m:t>𝑗</m:t>
                        </m:r>
                      </m:sub>
                    </m:sSub>
                  </m:oMath>
                </a14:m>
                <a:r>
                  <a:rPr lang="en-US" sz="2200" dirty="0"/>
                  <a:t>, point </a:t>
                </a:r>
                <a14:m>
                  <m:oMath xmlns:m="http://schemas.openxmlformats.org/officeDocument/2006/math">
                    <m:r>
                      <a:rPr lang="en-US" sz="2200" i="1"/>
                      <m:t>𝑖</m:t>
                    </m:r>
                  </m:oMath>
                </a14:m>
                <a:r>
                  <a:rPr lang="en-US" sz="2200" dirty="0"/>
                  <a:t> is estimated to lie in a denser region than point </a:t>
                </a:r>
                <a14:m>
                  <m:oMath xmlns:m="http://schemas.openxmlformats.org/officeDocument/2006/math">
                    <m:r>
                      <a:rPr lang="en-US" sz="2200" i="1"/>
                      <m:t>𝑗</m:t>
                    </m:r>
                  </m:oMath>
                </a14:m>
                <a:r>
                  <a:rPr lang="en-US" sz="2200" dirty="0"/>
                  <a:t>, and any </a:t>
                </a:r>
                <a14:m>
                  <m:oMath xmlns:m="http://schemas.openxmlformats.org/officeDocument/2006/math">
                    <m:r>
                      <a:rPr lang="en-US" sz="2200" i="1"/>
                      <m:t>𝛽</m:t>
                    </m:r>
                    <m:r>
                      <a:rPr lang="en-US" sz="2200"/>
                      <m:t>&gt;</m:t>
                    </m:r>
                    <m:r>
                      <a:rPr lang="en-US" sz="2200" i="1"/>
                      <m:t>0</m:t>
                    </m:r>
                  </m:oMath>
                </a14:m>
                <a:r>
                  <a:rPr lang="en-US" sz="2200" dirty="0"/>
                  <a:t> increases the relative probability of selecting the sparser point </a:t>
                </a:r>
                <a14:m>
                  <m:oMath xmlns:m="http://schemas.openxmlformats.org/officeDocument/2006/math">
                    <m:r>
                      <a:rPr lang="en-US" sz="2200" i="1"/>
                      <m:t>𝑗</m:t>
                    </m:r>
                  </m:oMath>
                </a14:m>
                <a:r>
                  <a:rPr lang="en-US" sz="2200" dirty="0"/>
                  <a:t>. Increasing </a:t>
                </a:r>
                <a14:m>
                  <m:oMath xmlns:m="http://schemas.openxmlformats.org/officeDocument/2006/math">
                    <m:r>
                      <a:rPr lang="en-US" sz="2200" i="1"/>
                      <m:t>𝛽</m:t>
                    </m:r>
                  </m:oMath>
                </a14:m>
                <a:r>
                  <a:rPr lang="en-US" sz="2200" dirty="0"/>
                  <a:t> strengthens this effect.</a:t>
                </a:r>
              </a:p>
            </p:txBody>
          </p:sp>
        </mc:Choice>
        <mc:Fallback>
          <p:sp>
            <p:nvSpPr>
              <p:cNvPr id="6" name="Content Placeholder 5">
                <a:extLst>
                  <a:ext uri="{FF2B5EF4-FFF2-40B4-BE49-F238E27FC236}">
                    <a16:creationId xmlns:a16="http://schemas.microsoft.com/office/drawing/2014/main" id="{25B0534F-4983-F2EB-E47B-8B2A57C4337B}"/>
                  </a:ext>
                </a:extLst>
              </p:cNvPr>
              <p:cNvSpPr>
                <a:spLocks noGrp="1" noRot="1" noChangeAspect="1" noMove="1" noResize="1" noEditPoints="1" noAdjustHandles="1" noChangeArrowheads="1" noChangeShapeType="1" noTextEdit="1"/>
              </p:cNvSpPr>
              <p:nvPr>
                <p:ph idx="1"/>
              </p:nvPr>
            </p:nvSpPr>
            <p:spPr>
              <a:xfrm>
                <a:off x="838200" y="947057"/>
                <a:ext cx="10515600" cy="5769429"/>
              </a:xfrm>
              <a:blipFill>
                <a:blip r:embed="rId2"/>
                <a:stretch>
                  <a:fillRect l="-724" t="-440" r="-724"/>
                </a:stretch>
              </a:blipFill>
            </p:spPr>
            <p:txBody>
              <a:bodyPr/>
              <a:lstStyle/>
              <a:p>
                <a:r>
                  <a:rPr lang="en-US">
                    <a:noFill/>
                  </a:rPr>
                  <a:t> </a:t>
                </a:r>
              </a:p>
            </p:txBody>
          </p:sp>
        </mc:Fallback>
      </mc:AlternateContent>
    </p:spTree>
    <p:extLst>
      <p:ext uri="{BB962C8B-B14F-4D97-AF65-F5344CB8AC3E}">
        <p14:creationId xmlns:p14="http://schemas.microsoft.com/office/powerpoint/2010/main" val="1145839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3BF6-5C62-D0D6-D053-846D0E1B5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820D28-02EB-C477-CF68-28BD52AAC90F}"/>
              </a:ext>
            </a:extLst>
          </p:cNvPr>
          <p:cNvSpPr>
            <a:spLocks noGrp="1"/>
          </p:cNvSpPr>
          <p:nvPr>
            <p:ph type="title"/>
          </p:nvPr>
        </p:nvSpPr>
        <p:spPr>
          <a:xfrm>
            <a:off x="838200" y="141514"/>
            <a:ext cx="10515600" cy="805543"/>
          </a:xfrm>
        </p:spPr>
        <p:txBody>
          <a:bodyPr>
            <a:noAutofit/>
          </a:bodyPr>
          <a:lstStyle/>
          <a:p>
            <a:r>
              <a:rPr lang="en-US" sz="3200" b="1" dirty="0"/>
              <a:t>Proposed solution</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CC22BFBD-C59C-2B1C-2D13-93253B8E08BE}"/>
                  </a:ext>
                </a:extLst>
              </p:cNvPr>
              <p:cNvSpPr>
                <a:spLocks noGrp="1"/>
              </p:cNvSpPr>
              <p:nvPr>
                <p:ph idx="1"/>
              </p:nvPr>
            </p:nvSpPr>
            <p:spPr>
              <a:xfrm>
                <a:off x="838200" y="947057"/>
                <a:ext cx="10515600" cy="5769429"/>
              </a:xfrm>
            </p:spPr>
            <p:txBody>
              <a:bodyPr>
                <a:noAutofit/>
              </a:bodyPr>
              <a:lstStyle/>
              <a:p>
                <a:pPr algn="just"/>
                <a:r>
                  <a:rPr lang="en-US" sz="1800" dirty="0"/>
                  <a:t>Let </a:t>
                </a:r>
                <a14:m>
                  <m:oMath xmlns:m="http://schemas.openxmlformats.org/officeDocument/2006/math">
                    <m:r>
                      <a:rPr lang="en-US" sz="1800" i="1"/>
                      <m:t>𝑔</m:t>
                    </m:r>
                    <m:r>
                      <a:rPr lang="en-US" sz="1800"/>
                      <m:t>∈{</m:t>
                    </m:r>
                    <m:r>
                      <a:rPr lang="en-US" sz="1800" i="1"/>
                      <m:t>𝑠</m:t>
                    </m:r>
                    <m:r>
                      <a:rPr lang="en-US" sz="1800"/>
                      <m:t>,</m:t>
                    </m:r>
                    <m:r>
                      <a:rPr lang="en-US" sz="1800" i="1"/>
                      <m:t>𝑣</m:t>
                    </m:r>
                    <m:r>
                      <a:rPr lang="en-US" sz="1800"/>
                      <m:t>}</m:t>
                    </m:r>
                  </m:oMath>
                </a14:m>
                <a:r>
                  <a:rPr lang="en-US" sz="1800" dirty="0"/>
                  <a:t> denote the output group, with </a:t>
                </a:r>
                <a14:m>
                  <m:oMath xmlns:m="http://schemas.openxmlformats.org/officeDocument/2006/math">
                    <m:r>
                      <a:rPr lang="en-US" sz="1800" i="1"/>
                      <m:t>𝑔</m:t>
                    </m:r>
                    <m:r>
                      <a:rPr lang="en-US" sz="1800"/>
                      <m:t>=</m:t>
                    </m:r>
                    <m:r>
                      <a:rPr lang="en-US" sz="1800" i="1"/>
                      <m:t>𝑠</m:t>
                    </m:r>
                  </m:oMath>
                </a14:m>
                <a:r>
                  <a:rPr lang="en-US" sz="1800" dirty="0"/>
                  <a:t> for surface and </a:t>
                </a:r>
                <a14:m>
                  <m:oMath xmlns:m="http://schemas.openxmlformats.org/officeDocument/2006/math">
                    <m:r>
                      <a:rPr lang="en-US" sz="1800" i="1"/>
                      <m:t>𝑔</m:t>
                    </m:r>
                    <m:r>
                      <a:rPr lang="en-US" sz="1800"/>
                      <m:t>=</m:t>
                    </m:r>
                    <m:r>
                      <a:rPr lang="en-US" sz="1800" i="1"/>
                      <m:t>𝑣</m:t>
                    </m:r>
                  </m:oMath>
                </a14:m>
                <a:r>
                  <a:rPr lang="en-US" sz="1800" dirty="0"/>
                  <a:t> for volume. Let </a:t>
                </a:r>
                <a14:m>
                  <m:oMath xmlns:m="http://schemas.openxmlformats.org/officeDocument/2006/math">
                    <m:r>
                      <a:rPr lang="en-US" sz="1800" i="1"/>
                      <m:t>𝑟</m:t>
                    </m:r>
                    <m:r>
                      <a:rPr lang="en-US" sz="1800"/>
                      <m:t>∈{</m:t>
                    </m:r>
                    <m:r>
                      <a:rPr lang="en-US" sz="1800" i="1"/>
                      <m:t>𝐴</m:t>
                    </m:r>
                    <m:r>
                      <a:rPr lang="en-US" sz="1800"/>
                      <m:t>,</m:t>
                    </m:r>
                    <m:r>
                      <a:rPr lang="en-US" sz="1800" i="1"/>
                      <m:t>𝐵</m:t>
                    </m:r>
                    <m:r>
                      <a:rPr lang="en-US" sz="1800"/>
                      <m:t>}</m:t>
                    </m:r>
                  </m:oMath>
                </a14:m>
                <a:r>
                  <a:rPr lang="en-US" sz="1800" dirty="0"/>
                  <a:t> denote the geometry-view label. Let </a:t>
                </a:r>
                <a14:m>
                  <m:oMath xmlns:m="http://schemas.openxmlformats.org/officeDocument/2006/math">
                    <m:sSub>
                      <m:sSubPr>
                        <m:ctrlPr>
                          <a:rPr lang="en-US" sz="1800"/>
                        </m:ctrlPr>
                      </m:sSubPr>
                      <m:e>
                        <m:r>
                          <a:rPr lang="en-US" sz="1800"/>
                          <m:t>𝓁</m:t>
                        </m:r>
                      </m:e>
                      <m:sub>
                        <m:r>
                          <a:rPr lang="en-US" sz="1800" i="1"/>
                          <m:t>𝑔</m:t>
                        </m:r>
                      </m:sub>
                    </m:sSub>
                    <m:d>
                      <m:dPr>
                        <m:ctrlPr>
                          <a:rPr lang="en-US" sz="1800" i="1"/>
                        </m:ctrlPr>
                      </m:dPr>
                      <m:e>
                        <m:r>
                          <a:rPr lang="en-US" sz="1800" i="1"/>
                          <m:t>𝑈</m:t>
                        </m:r>
                        <m:r>
                          <a:rPr lang="en-US" sz="1800"/>
                          <m:t>,</m:t>
                        </m:r>
                        <m:r>
                          <a:rPr lang="en-US" sz="1800" i="1"/>
                          <m:t>𝑉</m:t>
                        </m:r>
                      </m:e>
                    </m:d>
                    <m:r>
                      <a:rPr lang="en-US" sz="1800"/>
                      <m:t>≥</m:t>
                    </m:r>
                    <m:r>
                      <a:rPr lang="en-US" sz="1800" i="1"/>
                      <m:t>0</m:t>
                    </m:r>
                  </m:oMath>
                </a14:m>
                <a:r>
                  <a:rPr lang="en-US" sz="1800" dirty="0"/>
                  <a:t> denote any supervised loss for output group </a:t>
                </a:r>
                <a14:m>
                  <m:oMath xmlns:m="http://schemas.openxmlformats.org/officeDocument/2006/math">
                    <m:r>
                      <a:rPr lang="en-US" sz="1800" i="1"/>
                      <m:t>𝑔</m:t>
                    </m:r>
                  </m:oMath>
                </a14:m>
                <a:r>
                  <a:rPr lang="en-US" sz="1800" dirty="0"/>
                  <a:t>, where </a:t>
                </a:r>
                <a14:m>
                  <m:oMath xmlns:m="http://schemas.openxmlformats.org/officeDocument/2006/math">
                    <m:r>
                      <a:rPr lang="en-US" sz="1800" i="1"/>
                      <m:t>𝑈</m:t>
                    </m:r>
                  </m:oMath>
                </a14:m>
                <a:r>
                  <a:rPr lang="en-US" sz="1800" dirty="0"/>
                  <a:t> is a prediction and </a:t>
                </a:r>
                <a14:m>
                  <m:oMath xmlns:m="http://schemas.openxmlformats.org/officeDocument/2006/math">
                    <m:r>
                      <a:rPr lang="en-US" sz="1800" i="1"/>
                      <m:t>𝑉</m:t>
                    </m:r>
                  </m:oMath>
                </a14:m>
                <a:r>
                  <a:rPr lang="en-US" sz="1800" dirty="0"/>
                  <a:t> is its target, and assume that </a:t>
                </a:r>
                <a14:m>
                  <m:oMath xmlns:m="http://schemas.openxmlformats.org/officeDocument/2006/math">
                    <m:sSub>
                      <m:sSubPr>
                        <m:ctrlPr>
                          <a:rPr lang="en-US" sz="1800"/>
                        </m:ctrlPr>
                      </m:sSubPr>
                      <m:e>
                        <m:r>
                          <a:rPr lang="en-US" sz="1800"/>
                          <m:t>𝓁</m:t>
                        </m:r>
                      </m:e>
                      <m:sub>
                        <m:r>
                          <a:rPr lang="en-US" sz="1800" i="1"/>
                          <m:t>𝑔</m:t>
                        </m:r>
                      </m:sub>
                    </m:sSub>
                    <m:d>
                      <m:dPr>
                        <m:ctrlPr>
                          <a:rPr lang="en-US" sz="1800" i="1"/>
                        </m:ctrlPr>
                      </m:dPr>
                      <m:e>
                        <m:r>
                          <a:rPr lang="en-US" sz="1800" i="1"/>
                          <m:t>𝑈</m:t>
                        </m:r>
                        <m:r>
                          <a:rPr lang="en-US" sz="1800"/>
                          <m:t>,</m:t>
                        </m:r>
                        <m:r>
                          <a:rPr lang="en-US" sz="1800" i="1"/>
                          <m:t>𝑉</m:t>
                        </m:r>
                      </m:e>
                    </m:d>
                    <m:r>
                      <a:rPr lang="en-US" sz="1800"/>
                      <m:t>=</m:t>
                    </m:r>
                    <m:r>
                      <a:rPr lang="en-US" sz="1800" i="1"/>
                      <m:t>0</m:t>
                    </m:r>
                  </m:oMath>
                </a14:m>
                <a:r>
                  <a:rPr lang="en-US" sz="1800" dirty="0"/>
                  <a:t> only when </a:t>
                </a:r>
                <a14:m>
                  <m:oMath xmlns:m="http://schemas.openxmlformats.org/officeDocument/2006/math">
                    <m:r>
                      <a:rPr lang="en-US" sz="1800" i="1"/>
                      <m:t>𝑈</m:t>
                    </m:r>
                    <m:r>
                      <a:rPr lang="en-US" sz="1800"/>
                      <m:t>=</m:t>
                    </m:r>
                    <m:r>
                      <a:rPr lang="en-US" sz="1800" i="1"/>
                      <m:t>𝑉</m:t>
                    </m:r>
                  </m:oMath>
                </a14:m>
                <a:r>
                  <a:rPr lang="en-US" sz="1800" dirty="0"/>
                  <a:t>. The two-view supervised objective is</a:t>
                </a:r>
              </a:p>
              <a:p>
                <a:pPr marL="0" indent="0" algn="just">
                  <a:buNone/>
                </a:pPr>
                <a14:m>
                  <m:oMathPara xmlns:m="http://schemas.openxmlformats.org/officeDocument/2006/math">
                    <m:oMath>
                      <m:sSub>
                        <m:sSubPr>
                          <m:ctrlPr>
                            <a:rPr lang="en-US" sz="1800" i="1"/>
                          </m:ctrlPr>
                        </m:sSubPr>
                        <m:e>
                          <m:r>
                            <a:rPr lang="en-US" sz="1800" i="1"/>
                            <m:t>𝐿</m:t>
                          </m:r>
                        </m:e>
                        <m:sub>
                          <m:r>
                            <m:rPr>
                              <m:sty m:val="p"/>
                            </m:rPr>
                            <a:rPr lang="en-US" sz="1800"/>
                            <m:t>sup</m:t>
                          </m:r>
                        </m:sub>
                      </m:sSub>
                      <m:r>
                        <a:rPr lang="en-US" sz="1800"/>
                        <m:t>=</m:t>
                      </m:r>
                      <m:f>
                        <m:fPr>
                          <m:ctrlPr>
                            <a:rPr lang="en-US" sz="1800" i="1"/>
                          </m:ctrlPr>
                        </m:fPr>
                        <m:num>
                          <m:r>
                            <a:rPr lang="en-US" sz="1800" i="1"/>
                            <m:t>1</m:t>
                          </m:r>
                        </m:num>
                        <m:den>
                          <m:r>
                            <a:rPr lang="en-US" sz="1800" i="1"/>
                            <m:t>2</m:t>
                          </m:r>
                        </m:den>
                      </m:f>
                      <m:nary>
                        <m:naryPr>
                          <m:chr m:val="∑"/>
                          <m:limLoc m:val="undOvr"/>
                          <m:ctrlPr>
                            <a:rPr lang="en-US" sz="1800" i="1"/>
                          </m:ctrlPr>
                        </m:naryPr>
                        <m:sub>
                          <m:r>
                            <a:rPr lang="en-US" sz="1800" i="1"/>
                            <m:t>𝑟</m:t>
                          </m:r>
                          <m:r>
                            <a:rPr lang="en-US" sz="1800"/>
                            <m:t>∈{</m:t>
                          </m:r>
                          <m:r>
                            <a:rPr lang="en-US" sz="1800" i="1"/>
                            <m:t>𝐴</m:t>
                          </m:r>
                          <m:r>
                            <a:rPr lang="en-US" sz="1800"/>
                            <m:t>,</m:t>
                          </m:r>
                          <m:r>
                            <a:rPr lang="en-US" sz="1800" i="1"/>
                            <m:t>𝐵</m:t>
                          </m:r>
                          <m:r>
                            <a:rPr lang="en-US" sz="1800"/>
                            <m:t>}</m:t>
                          </m:r>
                        </m:sub>
                        <m:sup>
                          <m:r>
                            <a:rPr lang="en-US" sz="1800" i="1"/>
                            <m:t>​</m:t>
                          </m:r>
                        </m:sup>
                        <m:e>
                          <m:nary>
                            <m:naryPr>
                              <m:chr m:val="∑"/>
                              <m:limLoc m:val="undOvr"/>
                              <m:ctrlPr>
                                <a:rPr lang="en-US" sz="1800" i="1"/>
                              </m:ctrlPr>
                            </m:naryPr>
                            <m:sub>
                              <m:r>
                                <a:rPr lang="en-US" sz="1800" i="1"/>
                                <m:t>𝑔</m:t>
                              </m:r>
                              <m:r>
                                <a:rPr lang="en-US" sz="1800"/>
                                <m:t>∈{</m:t>
                              </m:r>
                              <m:r>
                                <a:rPr lang="en-US" sz="1800" i="1"/>
                                <m:t>𝑠</m:t>
                              </m:r>
                              <m:r>
                                <a:rPr lang="en-US" sz="1800"/>
                                <m:t>,</m:t>
                              </m:r>
                              <m:r>
                                <a:rPr lang="en-US" sz="1800" i="1"/>
                                <m:t>𝑣</m:t>
                              </m:r>
                              <m:r>
                                <a:rPr lang="en-US" sz="1800"/>
                                <m:t>}</m:t>
                              </m:r>
                            </m:sub>
                            <m:sup>
                              <m:r>
                                <a:rPr lang="en-US" sz="1800" i="1"/>
                                <m:t>​</m:t>
                              </m:r>
                            </m:sup>
                            <m:e>
                              <m:sSub>
                                <m:sSubPr>
                                  <m:ctrlPr>
                                    <a:rPr lang="en-US" sz="1800"/>
                                  </m:ctrlPr>
                                </m:sSubPr>
                                <m:e>
                                  <m:r>
                                    <a:rPr lang="en-US" sz="1800"/>
                                    <m:t>𝓁</m:t>
                                  </m:r>
                                </m:e>
                                <m:sub>
                                  <m:r>
                                    <a:rPr lang="en-US" sz="1800" i="1"/>
                                    <m:t>𝑔</m:t>
                                  </m:r>
                                </m:sub>
                              </m:sSub>
                            </m:e>
                          </m:nary>
                        </m:e>
                      </m:nary>
                      <m:d>
                        <m:dPr>
                          <m:ctrlPr>
                            <a:rPr lang="en-US" sz="1800" i="1"/>
                          </m:ctrlPr>
                        </m:dPr>
                        <m:e>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𝑟</m:t>
                              </m:r>
                            </m:sub>
                          </m:sSub>
                          <m:r>
                            <a:rPr lang="en-US" sz="1800"/>
                            <m:t>,</m:t>
                          </m:r>
                          <m:sSub>
                            <m:sSubPr>
                              <m:ctrlPr>
                                <a:rPr lang="en-US" sz="1800" i="1"/>
                              </m:ctrlPr>
                            </m:sSubPr>
                            <m:e>
                              <m:r>
                                <a:rPr lang="en-US" sz="1800" i="1"/>
                                <m:t>𝑌</m:t>
                              </m:r>
                            </m:e>
                            <m:sub>
                              <m:r>
                                <a:rPr lang="en-US" sz="1800" i="1"/>
                                <m:t>𝑔</m:t>
                              </m:r>
                            </m:sub>
                          </m:sSub>
                        </m:e>
                      </m:d>
                      <m:r>
                        <a:rPr lang="en-US" sz="1800"/>
                        <m:t>,</m:t>
                      </m:r>
                    </m:oMath>
                  </m:oMathPara>
                </a14:m>
                <a:endParaRPr lang="en-US" sz="1800" dirty="0"/>
              </a:p>
              <a:p>
                <a:pPr algn="just"/>
                <a:r>
                  <a:rPr lang="en-US" sz="1800" dirty="0"/>
                  <a:t>where </a:t>
                </a:r>
                <a14:m>
                  <m:oMath xmlns:m="http://schemas.openxmlformats.org/officeDocument/2006/math">
                    <m:sSub>
                      <m:sSubPr>
                        <m:ctrlPr>
                          <a:rPr lang="en-US" sz="1800" i="1"/>
                        </m:ctrlPr>
                      </m:sSubPr>
                      <m:e>
                        <m:r>
                          <a:rPr lang="en-US" sz="1800" i="1"/>
                          <m:t>𝐿</m:t>
                        </m:r>
                      </m:e>
                      <m:sub>
                        <m:r>
                          <m:rPr>
                            <m:sty m:val="p"/>
                          </m:rPr>
                          <a:rPr lang="en-US" sz="1800"/>
                          <m:t>sup</m:t>
                        </m:r>
                      </m:sub>
                    </m:sSub>
                  </m:oMath>
                </a14:m>
                <a:r>
                  <a:rPr lang="en-US" sz="1800" dirty="0"/>
                  <a:t> averages over the two geometry views and sums the supervised errors of the surface and volume groups. The mathematical argument requires only the stated zero condition on </a:t>
                </a:r>
                <a14:m>
                  <m:oMath xmlns:m="http://schemas.openxmlformats.org/officeDocument/2006/math">
                    <m:sSub>
                      <m:sSubPr>
                        <m:ctrlPr>
                          <a:rPr lang="en-US" sz="1800"/>
                        </m:ctrlPr>
                      </m:sSubPr>
                      <m:e>
                        <m:r>
                          <a:rPr lang="en-US" sz="1800"/>
                          <m:t>𝓁</m:t>
                        </m:r>
                      </m:e>
                      <m:sub>
                        <m:r>
                          <a:rPr lang="en-US" sz="1800" i="1"/>
                          <m:t>𝑔</m:t>
                        </m:r>
                      </m:sub>
                    </m:sSub>
                  </m:oMath>
                </a14:m>
                <a:r>
                  <a:rPr lang="en-US" sz="1800" dirty="0"/>
                  <a:t>.</a:t>
                </a:r>
              </a:p>
              <a:p>
                <a:pPr algn="just"/>
                <a:r>
                  <a:rPr lang="en-US" sz="1800" dirty="0"/>
                  <a:t>Let </a:t>
                </a:r>
                <a14:m>
                  <m:oMath xmlns:m="http://schemas.openxmlformats.org/officeDocument/2006/math">
                    <m:sSub>
                      <m:sSubPr>
                        <m:ctrlPr>
                          <a:rPr lang="en-US" sz="1800"/>
                        </m:ctrlPr>
                      </m:sSubPr>
                      <m:e>
                        <m:r>
                          <a:rPr lang="en-US" sz="1800"/>
                          <m:t>𝒟</m:t>
                        </m:r>
                      </m:e>
                      <m:sub>
                        <m:r>
                          <a:rPr lang="en-US" sz="1800" i="1"/>
                          <m:t>𝑔</m:t>
                        </m:r>
                      </m:sub>
                    </m:sSub>
                    <m:d>
                      <m:dPr>
                        <m:ctrlPr>
                          <a:rPr lang="en-US" sz="1800" i="1"/>
                        </m:ctrlPr>
                      </m:dPr>
                      <m:e>
                        <m:r>
                          <a:rPr lang="en-US" sz="1800" i="1"/>
                          <m:t>𝑈</m:t>
                        </m:r>
                        <m:r>
                          <a:rPr lang="en-US" sz="1800"/>
                          <m:t>,</m:t>
                        </m:r>
                        <m:r>
                          <a:rPr lang="en-US" sz="1800" i="1"/>
                          <m:t>𝑉</m:t>
                        </m:r>
                      </m:e>
                    </m:d>
                    <m:r>
                      <a:rPr lang="en-US" sz="1800"/>
                      <m:t>≥</m:t>
                    </m:r>
                    <m:r>
                      <a:rPr lang="en-US" sz="1800" i="1"/>
                      <m:t>0</m:t>
                    </m:r>
                  </m:oMath>
                </a14:m>
                <a:r>
                  <a:rPr lang="en-US" sz="1800" dirty="0"/>
                  <a:t> denote a symmetric prediction-discrepancy function for output group </a:t>
                </a:r>
                <a14:m>
                  <m:oMath xmlns:m="http://schemas.openxmlformats.org/officeDocument/2006/math">
                    <m:r>
                      <a:rPr lang="en-US" sz="1800" i="1"/>
                      <m:t>𝑔</m:t>
                    </m:r>
                  </m:oMath>
                </a14:m>
                <a:r>
                  <a:rPr lang="en-US" sz="1800" dirty="0"/>
                  <a:t>, with </a:t>
                </a:r>
                <a14:m>
                  <m:oMath xmlns:m="http://schemas.openxmlformats.org/officeDocument/2006/math">
                    <m:sSub>
                      <m:sSubPr>
                        <m:ctrlPr>
                          <a:rPr lang="en-US" sz="1800"/>
                        </m:ctrlPr>
                      </m:sSubPr>
                      <m:e>
                        <m:r>
                          <a:rPr lang="en-US" sz="1800"/>
                          <m:t>𝒟</m:t>
                        </m:r>
                      </m:e>
                      <m:sub>
                        <m:r>
                          <a:rPr lang="en-US" sz="1800" i="1"/>
                          <m:t>𝑔</m:t>
                        </m:r>
                      </m:sub>
                    </m:sSub>
                    <m:d>
                      <m:dPr>
                        <m:ctrlPr>
                          <a:rPr lang="en-US" sz="1800" i="1"/>
                        </m:ctrlPr>
                      </m:dPr>
                      <m:e>
                        <m:r>
                          <a:rPr lang="en-US" sz="1800" i="1"/>
                          <m:t>𝑈</m:t>
                        </m:r>
                        <m:r>
                          <a:rPr lang="en-US" sz="1800"/>
                          <m:t>,</m:t>
                        </m:r>
                        <m:r>
                          <a:rPr lang="en-US" sz="1800" i="1"/>
                          <m:t>𝑉</m:t>
                        </m:r>
                      </m:e>
                    </m:d>
                    <m:r>
                      <a:rPr lang="en-US" sz="1800"/>
                      <m:t>=</m:t>
                    </m:r>
                    <m:r>
                      <a:rPr lang="en-US" sz="1800" i="1"/>
                      <m:t>0</m:t>
                    </m:r>
                  </m:oMath>
                </a14:m>
                <a:r>
                  <a:rPr lang="en-US" sz="1800" dirty="0"/>
                  <a:t> if and only if </a:t>
                </a:r>
                <a14:m>
                  <m:oMath xmlns:m="http://schemas.openxmlformats.org/officeDocument/2006/math">
                    <m:r>
                      <a:rPr lang="en-US" sz="1800" i="1"/>
                      <m:t>𝑈</m:t>
                    </m:r>
                    <m:r>
                      <a:rPr lang="en-US" sz="1800"/>
                      <m:t>=</m:t>
                    </m:r>
                    <m:r>
                      <a:rPr lang="en-US" sz="1800" i="1"/>
                      <m:t>𝑉</m:t>
                    </m:r>
                  </m:oMath>
                </a14:m>
                <a:r>
                  <a:rPr lang="en-US" sz="1800" dirty="0"/>
                  <a:t>. Let </a:t>
                </a:r>
                <a14:m>
                  <m:oMath xmlns:m="http://schemas.openxmlformats.org/officeDocument/2006/math">
                    <m:r>
                      <m:rPr>
                        <m:sty m:val="p"/>
                      </m:rPr>
                      <a:rPr lang="en-US" sz="1800"/>
                      <m:t>sg</m:t>
                    </m:r>
                    <m:d>
                      <m:dPr>
                        <m:ctrlPr>
                          <a:rPr lang="en-US" sz="1800"/>
                        </m:ctrlPr>
                      </m:dPr>
                      <m:e>
                        <m:r>
                          <a:rPr lang="en-US" sz="1800"/>
                          <m:t>⋅</m:t>
                        </m:r>
                      </m:e>
                    </m:d>
                  </m:oMath>
                </a14:m>
                <a:r>
                  <a:rPr lang="en-US" sz="1800" dirty="0"/>
                  <a:t> denote stop-gradient: it leaves its numerical argument unchanged but treats that argument as constant during differentiation. The bidirectional consistency objective is</a:t>
                </a:r>
              </a:p>
              <a:p>
                <a:pPr marL="0" indent="0" algn="just">
                  <a:buNone/>
                </a:pPr>
                <a14:m>
                  <m:oMathPara xmlns:m="http://schemas.openxmlformats.org/officeDocument/2006/math">
                    <m:oMath>
                      <m:sSub>
                        <m:sSubPr>
                          <m:ctrlPr>
                            <a:rPr lang="en-US" sz="1800" i="1"/>
                          </m:ctrlPr>
                        </m:sSubPr>
                        <m:e>
                          <m:r>
                            <a:rPr lang="en-US" sz="1800" i="1"/>
                            <m:t>𝐿</m:t>
                          </m:r>
                        </m:e>
                        <m:sub>
                          <m:r>
                            <m:rPr>
                              <m:sty m:val="p"/>
                            </m:rPr>
                            <a:rPr lang="en-US" sz="1800"/>
                            <m:t>con</m:t>
                          </m:r>
                        </m:sub>
                      </m:sSub>
                      <m:r>
                        <a:rPr lang="en-US" sz="1800"/>
                        <m:t>=</m:t>
                      </m:r>
                      <m:f>
                        <m:fPr>
                          <m:ctrlPr>
                            <a:rPr lang="en-US" sz="1800" i="1"/>
                          </m:ctrlPr>
                        </m:fPr>
                        <m:num>
                          <m:r>
                            <a:rPr lang="en-US" sz="1800" i="1"/>
                            <m:t>1</m:t>
                          </m:r>
                        </m:num>
                        <m:den>
                          <m:r>
                            <a:rPr lang="en-US" sz="1800" i="1"/>
                            <m:t>2</m:t>
                          </m:r>
                        </m:den>
                      </m:f>
                      <m:nary>
                        <m:naryPr>
                          <m:chr m:val="∑"/>
                          <m:limLoc m:val="undOvr"/>
                          <m:ctrlPr>
                            <a:rPr lang="en-US" sz="1800" i="1"/>
                          </m:ctrlPr>
                        </m:naryPr>
                        <m:sub>
                          <m:r>
                            <a:rPr lang="en-US" sz="1800" i="1"/>
                            <m:t>𝑔</m:t>
                          </m:r>
                          <m:r>
                            <a:rPr lang="en-US" sz="1800"/>
                            <m:t>∈{</m:t>
                          </m:r>
                          <m:r>
                            <a:rPr lang="en-US" sz="1800" i="1"/>
                            <m:t>𝑠</m:t>
                          </m:r>
                          <m:r>
                            <a:rPr lang="en-US" sz="1800"/>
                            <m:t>,</m:t>
                          </m:r>
                          <m:r>
                            <a:rPr lang="en-US" sz="1800" i="1"/>
                            <m:t>𝑣</m:t>
                          </m:r>
                          <m:r>
                            <a:rPr lang="en-US" sz="1800"/>
                            <m:t>}</m:t>
                          </m:r>
                        </m:sub>
                        <m:sup>
                          <m:r>
                            <a:rPr lang="en-US" sz="1800" i="1"/>
                            <m:t>​</m:t>
                          </m:r>
                        </m:sup>
                        <m:e>
                          <m:sSub>
                            <m:sSubPr>
                              <m:ctrlPr>
                                <a:rPr lang="en-US" sz="1800"/>
                              </m:ctrlPr>
                            </m:sSubPr>
                            <m:e>
                              <m:r>
                                <a:rPr lang="en-US" sz="1800"/>
                                <m:t>𝒟</m:t>
                              </m:r>
                            </m:e>
                            <m:sub>
                              <m:r>
                                <a:rPr lang="en-US" sz="1800" i="1"/>
                                <m:t>𝑔</m:t>
                              </m:r>
                            </m:sub>
                          </m:sSub>
                        </m:e>
                      </m:nary>
                      <m:r>
                        <a:rPr lang="en-US" sz="1800" i="1"/>
                        <m:t>​</m:t>
                      </m:r>
                      <m:d>
                        <m:dPr>
                          <m:ctrlPr>
                            <a:rPr lang="en-US" sz="1800" i="1"/>
                          </m:ctrlPr>
                        </m:dPr>
                        <m:e>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𝐴</m:t>
                              </m:r>
                            </m:sub>
                          </m:sSub>
                          <m:r>
                            <a:rPr lang="en-US" sz="1800"/>
                            <m:t>,</m:t>
                          </m:r>
                          <m:r>
                            <m:rPr>
                              <m:sty m:val="p"/>
                            </m:rPr>
                            <a:rPr lang="en-US" sz="1800"/>
                            <m:t>sg</m:t>
                          </m:r>
                          <m:d>
                            <m:dPr>
                              <m:ctrlPr>
                                <a:rPr lang="en-US" sz="1800" i="1"/>
                              </m:ctrlPr>
                            </m:dPr>
                            <m:e>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𝐵</m:t>
                                  </m:r>
                                </m:sub>
                              </m:sSub>
                            </m:e>
                          </m:d>
                        </m:e>
                      </m:d>
                      <m:r>
                        <a:rPr lang="en-US" sz="1800"/>
                        <m:t>+</m:t>
                      </m:r>
                      <m:f>
                        <m:fPr>
                          <m:ctrlPr>
                            <a:rPr lang="en-US" sz="1800" i="1"/>
                          </m:ctrlPr>
                        </m:fPr>
                        <m:num>
                          <m:r>
                            <a:rPr lang="en-US" sz="1800" i="1"/>
                            <m:t>1</m:t>
                          </m:r>
                        </m:num>
                        <m:den>
                          <m:r>
                            <a:rPr lang="en-US" sz="1800" i="1"/>
                            <m:t>2</m:t>
                          </m:r>
                        </m:den>
                      </m:f>
                      <m:nary>
                        <m:naryPr>
                          <m:chr m:val="∑"/>
                          <m:limLoc m:val="undOvr"/>
                          <m:ctrlPr>
                            <a:rPr lang="en-US" sz="1800" i="1"/>
                          </m:ctrlPr>
                        </m:naryPr>
                        <m:sub>
                          <m:r>
                            <a:rPr lang="en-US" sz="1800" i="1"/>
                            <m:t>𝑔</m:t>
                          </m:r>
                          <m:r>
                            <a:rPr lang="en-US" sz="1800"/>
                            <m:t>∈{</m:t>
                          </m:r>
                          <m:r>
                            <a:rPr lang="en-US" sz="1800" i="1"/>
                            <m:t>𝑠</m:t>
                          </m:r>
                          <m:r>
                            <a:rPr lang="en-US" sz="1800"/>
                            <m:t>,</m:t>
                          </m:r>
                          <m:r>
                            <a:rPr lang="en-US" sz="1800" i="1"/>
                            <m:t>𝑣</m:t>
                          </m:r>
                          <m:r>
                            <a:rPr lang="en-US" sz="1800"/>
                            <m:t>}</m:t>
                          </m:r>
                        </m:sub>
                        <m:sup>
                          <m:r>
                            <a:rPr lang="en-US" sz="1800" i="1"/>
                            <m:t>​</m:t>
                          </m:r>
                        </m:sup>
                        <m:e>
                          <m:sSub>
                            <m:sSubPr>
                              <m:ctrlPr>
                                <a:rPr lang="en-US" sz="1800"/>
                              </m:ctrlPr>
                            </m:sSubPr>
                            <m:e>
                              <m:r>
                                <a:rPr lang="en-US" sz="1800"/>
                                <m:t>𝒟</m:t>
                              </m:r>
                            </m:e>
                            <m:sub>
                              <m:r>
                                <a:rPr lang="en-US" sz="1800" i="1"/>
                                <m:t>𝑔</m:t>
                              </m:r>
                            </m:sub>
                          </m:sSub>
                        </m:e>
                      </m:nary>
                      <m:r>
                        <a:rPr lang="en-US" sz="1800" i="1"/>
                        <m:t>​</m:t>
                      </m:r>
                      <m:d>
                        <m:dPr>
                          <m:ctrlPr>
                            <a:rPr lang="en-US" sz="1800" i="1"/>
                          </m:ctrlPr>
                        </m:dPr>
                        <m:e>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𝐵</m:t>
                              </m:r>
                            </m:sub>
                          </m:sSub>
                          <m:r>
                            <a:rPr lang="en-US" sz="1800"/>
                            <m:t>,</m:t>
                          </m:r>
                          <m:r>
                            <m:rPr>
                              <m:sty m:val="p"/>
                            </m:rPr>
                            <a:rPr lang="en-US" sz="1800"/>
                            <m:t>sg</m:t>
                          </m:r>
                          <m:d>
                            <m:dPr>
                              <m:ctrlPr>
                                <a:rPr lang="en-US" sz="1800" i="1"/>
                              </m:ctrlPr>
                            </m:dPr>
                            <m:e>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𝐴</m:t>
                                  </m:r>
                                </m:sub>
                              </m:sSub>
                            </m:e>
                          </m:d>
                        </m:e>
                      </m:d>
                      <m:r>
                        <a:rPr lang="en-US" sz="1800"/>
                        <m:t>,</m:t>
                      </m:r>
                    </m:oMath>
                  </m:oMathPara>
                </a14:m>
                <a:endParaRPr lang="en-US" sz="1800" dirty="0"/>
              </a:p>
              <a:p>
                <a:pPr algn="just"/>
                <a:r>
                  <a:rPr lang="en-US" sz="1800" dirty="0"/>
                  <a:t>where </a:t>
                </a:r>
                <a14:m>
                  <m:oMath xmlns:m="http://schemas.openxmlformats.org/officeDocument/2006/math">
                    <m:sSub>
                      <m:sSubPr>
                        <m:ctrlPr>
                          <a:rPr lang="en-US" sz="1800" i="1"/>
                        </m:ctrlPr>
                      </m:sSubPr>
                      <m:e>
                        <m:r>
                          <a:rPr lang="en-US" sz="1800" i="1"/>
                          <m:t>𝐿</m:t>
                        </m:r>
                      </m:e>
                      <m:sub>
                        <m:r>
                          <m:rPr>
                            <m:sty m:val="p"/>
                          </m:rPr>
                          <a:rPr lang="en-US" sz="1800"/>
                          <m:t>con</m:t>
                        </m:r>
                      </m:sub>
                    </m:sSub>
                  </m:oMath>
                </a14:m>
                <a:r>
                  <a:rPr lang="en-US" sz="1800" dirty="0"/>
                  <a:t> is the two-view consistency loss. In differentiation, the first half carries gradient only through the view-</a:t>
                </a:r>
                <a14:m>
                  <m:oMath xmlns:m="http://schemas.openxmlformats.org/officeDocument/2006/math">
                    <m:r>
                      <a:rPr lang="en-US" sz="1800" i="1"/>
                      <m:t>𝐴</m:t>
                    </m:r>
                  </m:oMath>
                </a14:m>
                <a:r>
                  <a:rPr lang="en-US" sz="1800" dirty="0"/>
                  <a:t> prediction, while the second half carries gradient only through the view-</a:t>
                </a:r>
                <a14:m>
                  <m:oMath xmlns:m="http://schemas.openxmlformats.org/officeDocument/2006/math">
                    <m:r>
                      <a:rPr lang="en-US" sz="1800" i="1"/>
                      <m:t>𝐵</m:t>
                    </m:r>
                  </m:oMath>
                </a14:m>
                <a:r>
                  <a:rPr lang="en-US" sz="1800" dirty="0"/>
                  <a:t> prediction. Because stop-gradient changes only differentiation and not numerical values, the zero set is</a:t>
                </a:r>
              </a:p>
              <a:p>
                <a:pPr marL="0" indent="0" algn="just">
                  <a:buNone/>
                </a:pPr>
                <a14:m>
                  <m:oMathPara xmlns:m="http://schemas.openxmlformats.org/officeDocument/2006/math">
                    <m:oMath>
                      <m:sSub>
                        <m:sSubPr>
                          <m:ctrlPr>
                            <a:rPr lang="en-US" sz="1800" i="1"/>
                          </m:ctrlPr>
                        </m:sSubPr>
                        <m:e>
                          <m:r>
                            <a:rPr lang="en-US" sz="1800" i="1"/>
                            <m:t>𝐿</m:t>
                          </m:r>
                        </m:e>
                        <m:sub>
                          <m:r>
                            <m:rPr>
                              <m:sty m:val="p"/>
                            </m:rPr>
                            <a:rPr lang="en-US" sz="1800"/>
                            <m:t>con</m:t>
                          </m:r>
                        </m:sub>
                      </m:sSub>
                      <m:r>
                        <a:rPr lang="en-US" sz="1800"/>
                        <m:t>=</m:t>
                      </m:r>
                      <m:r>
                        <a:rPr lang="en-US" sz="1800" i="1"/>
                        <m:t>0 </m:t>
                      </m:r>
                      <m:r>
                        <a:rPr lang="en-US" sz="1800"/>
                        <m:t>⇔</m:t>
                      </m:r>
                      <m:r>
                        <a:rPr lang="en-US" sz="1800" i="1"/>
                        <m:t> </m:t>
                      </m:r>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𝐴</m:t>
                          </m:r>
                        </m:sub>
                      </m:sSub>
                      <m:r>
                        <a:rPr lang="en-US" sz="1800"/>
                        <m:t>=</m:t>
                      </m:r>
                      <m:sSub>
                        <m:sSubPr>
                          <m:ctrlPr>
                            <a:rPr lang="en-US" sz="1800" i="1"/>
                          </m:ctrlPr>
                        </m:sSubPr>
                        <m:e>
                          <m:acc>
                            <m:accPr>
                              <m:chr m:val="̂"/>
                              <m:ctrlPr>
                                <a:rPr lang="en-US" sz="1800" i="1"/>
                              </m:ctrlPr>
                            </m:accPr>
                            <m:e>
                              <m:r>
                                <a:rPr lang="en-US" sz="1800" i="1"/>
                                <m:t>𝑌</m:t>
                              </m:r>
                            </m:e>
                          </m:acc>
                        </m:e>
                        <m:sub>
                          <m:r>
                            <a:rPr lang="en-US" sz="1800" i="1"/>
                            <m:t>𝑔</m:t>
                          </m:r>
                          <m:r>
                            <a:rPr lang="en-US" sz="1800"/>
                            <m:t>,</m:t>
                          </m:r>
                          <m:r>
                            <a:rPr lang="en-US" sz="1800" i="1"/>
                            <m:t>𝐵</m:t>
                          </m:r>
                        </m:sub>
                      </m:sSub>
                      <m:r>
                        <a:rPr lang="en-US" sz="1800" i="1"/>
                        <m:t> </m:t>
                      </m:r>
                      <m:r>
                        <a:rPr lang="en-US" sz="1800" i="1"/>
                        <m:t>𝑔</m:t>
                      </m:r>
                      <m:r>
                        <a:rPr lang="en-US" sz="1800"/>
                        <m:t>∈{</m:t>
                      </m:r>
                      <m:r>
                        <a:rPr lang="en-US" sz="1800" i="1"/>
                        <m:t>𝑠</m:t>
                      </m:r>
                      <m:r>
                        <a:rPr lang="en-US" sz="1800"/>
                        <m:t>,</m:t>
                      </m:r>
                      <m:r>
                        <a:rPr lang="en-US" sz="1800" i="1"/>
                        <m:t>𝑣</m:t>
                      </m:r>
                      <m:r>
                        <a:rPr lang="en-US" sz="1800"/>
                        <m:t>}.</m:t>
                      </m:r>
                    </m:oMath>
                  </m:oMathPara>
                </a14:m>
                <a:endParaRPr lang="en-US" sz="1800" dirty="0"/>
              </a:p>
            </p:txBody>
          </p:sp>
        </mc:Choice>
        <mc:Fallback>
          <p:sp>
            <p:nvSpPr>
              <p:cNvPr id="6" name="Content Placeholder 5">
                <a:extLst>
                  <a:ext uri="{FF2B5EF4-FFF2-40B4-BE49-F238E27FC236}">
                    <a16:creationId xmlns:a16="http://schemas.microsoft.com/office/drawing/2014/main" id="{CC22BFBD-C59C-2B1C-2D13-93253B8E08BE}"/>
                  </a:ext>
                </a:extLst>
              </p:cNvPr>
              <p:cNvSpPr>
                <a:spLocks noGrp="1" noRot="1" noChangeAspect="1" noMove="1" noResize="1" noEditPoints="1" noAdjustHandles="1" noChangeArrowheads="1" noChangeShapeType="1" noTextEdit="1"/>
              </p:cNvSpPr>
              <p:nvPr>
                <p:ph idx="1"/>
              </p:nvPr>
            </p:nvSpPr>
            <p:spPr>
              <a:xfrm>
                <a:off x="838200" y="947057"/>
                <a:ext cx="10515600" cy="5769429"/>
              </a:xfrm>
              <a:blipFill>
                <a:blip r:embed="rId2"/>
                <a:stretch>
                  <a:fillRect l="-483" t="-879" r="-483"/>
                </a:stretch>
              </a:blipFill>
            </p:spPr>
            <p:txBody>
              <a:bodyPr/>
              <a:lstStyle/>
              <a:p>
                <a:r>
                  <a:rPr lang="en-US">
                    <a:noFill/>
                  </a:rPr>
                  <a:t> </a:t>
                </a:r>
              </a:p>
            </p:txBody>
          </p:sp>
        </mc:Fallback>
      </mc:AlternateContent>
    </p:spTree>
    <p:extLst>
      <p:ext uri="{BB962C8B-B14F-4D97-AF65-F5344CB8AC3E}">
        <p14:creationId xmlns:p14="http://schemas.microsoft.com/office/powerpoint/2010/main" val="724556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BE46E-9D66-5A79-44CF-CD7B280EA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814F1-83CA-D7FD-2B46-B872245794E1}"/>
              </a:ext>
            </a:extLst>
          </p:cNvPr>
          <p:cNvSpPr>
            <a:spLocks noGrp="1"/>
          </p:cNvSpPr>
          <p:nvPr>
            <p:ph type="title"/>
          </p:nvPr>
        </p:nvSpPr>
        <p:spPr>
          <a:xfrm>
            <a:off x="838200" y="141514"/>
            <a:ext cx="10515600" cy="805543"/>
          </a:xfrm>
        </p:spPr>
        <p:txBody>
          <a:bodyPr>
            <a:noAutofit/>
          </a:bodyPr>
          <a:lstStyle/>
          <a:p>
            <a:r>
              <a:rPr lang="en-US" sz="3200" b="1" dirty="0"/>
              <a:t>If both views are supervised, why is consistency needed?</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50C7BFC9-A568-B24E-E876-1513C456D48A}"/>
                  </a:ext>
                </a:extLst>
              </p:cNvPr>
              <p:cNvSpPr>
                <a:spLocks noGrp="1"/>
              </p:cNvSpPr>
              <p:nvPr>
                <p:ph idx="1"/>
              </p:nvPr>
            </p:nvSpPr>
            <p:spPr>
              <a:xfrm>
                <a:off x="838200" y="947057"/>
                <a:ext cx="10515600" cy="5769429"/>
              </a:xfrm>
            </p:spPr>
            <p:txBody>
              <a:bodyPr>
                <a:noAutofit/>
              </a:bodyPr>
              <a:lstStyle/>
              <a:p>
                <a:pPr algn="just">
                  <a:lnSpc>
                    <a:spcPct val="100000"/>
                  </a:lnSpc>
                </a:pPr>
                <a:r>
                  <a:rPr lang="en-US" sz="2400" dirty="0"/>
                  <a:t>At the ideal zero-error solution, consistency is mathematically redundant. Because each supervised loss has its unique zero at the target,</a:t>
                </a:r>
              </a:p>
              <a:p>
                <a:pPr marL="0" indent="0" algn="just">
                  <a:lnSpc>
                    <a:spcPct val="100000"/>
                  </a:lnSpc>
                  <a:buNone/>
                </a:pPr>
                <a14:m>
                  <m:oMathPara xmlns:m="http://schemas.openxmlformats.org/officeDocument/2006/math">
                    <m:oMath>
                      <m:sSub>
                        <m:sSubPr>
                          <m:ctrlPr>
                            <a:rPr lang="en-US" sz="2400" i="1"/>
                          </m:ctrlPr>
                        </m:sSubPr>
                        <m:e>
                          <m:r>
                            <a:rPr lang="en-US" sz="2400" i="1"/>
                            <m:t>𝐿</m:t>
                          </m:r>
                        </m:e>
                        <m:sub>
                          <m:r>
                            <m:rPr>
                              <m:sty m:val="p"/>
                            </m:rPr>
                            <a:rPr lang="en-US" sz="2400"/>
                            <m:t>sup</m:t>
                          </m:r>
                        </m:sub>
                      </m:sSub>
                      <m:r>
                        <a:rPr lang="en-US" sz="2400"/>
                        <m:t>=</m:t>
                      </m:r>
                      <m:r>
                        <a:rPr lang="en-US" sz="2400" i="1"/>
                        <m:t>0 </m:t>
                      </m:r>
                      <m:r>
                        <a:rPr lang="en-US" sz="2400"/>
                        <m:t>⇒</m:t>
                      </m:r>
                      <m:r>
                        <a:rPr lang="en-US" sz="2400" i="1"/>
                        <m:t> </m:t>
                      </m:r>
                      <m:sSub>
                        <m:sSubPr>
                          <m:ctrlPr>
                            <a:rPr lang="en-US" sz="2400" i="1"/>
                          </m:ctrlPr>
                        </m:sSubPr>
                        <m:e>
                          <m:acc>
                            <m:accPr>
                              <m:chr m:val="̂"/>
                              <m:ctrlPr>
                                <a:rPr lang="en-US" sz="2400" i="1"/>
                              </m:ctrlPr>
                            </m:accPr>
                            <m:e>
                              <m:r>
                                <a:rPr lang="en-US" sz="2400" i="1"/>
                                <m:t>𝑌</m:t>
                              </m:r>
                            </m:e>
                          </m:acc>
                        </m:e>
                        <m:sub>
                          <m:r>
                            <a:rPr lang="en-US" sz="2400" i="1"/>
                            <m:t>𝑔</m:t>
                          </m:r>
                          <m:r>
                            <a:rPr lang="en-US" sz="2400"/>
                            <m:t>,</m:t>
                          </m:r>
                          <m:r>
                            <a:rPr lang="en-US" sz="2400" i="1"/>
                            <m:t>𝐴</m:t>
                          </m:r>
                        </m:sub>
                      </m:sSub>
                      <m:r>
                        <a:rPr lang="en-US" sz="2400"/>
                        <m:t>=</m:t>
                      </m:r>
                      <m:sSub>
                        <m:sSubPr>
                          <m:ctrlPr>
                            <a:rPr lang="en-US" sz="2400" i="1"/>
                          </m:ctrlPr>
                        </m:sSubPr>
                        <m:e>
                          <m:r>
                            <a:rPr lang="en-US" sz="2400" i="1"/>
                            <m:t>𝑌</m:t>
                          </m:r>
                        </m:e>
                        <m:sub>
                          <m:r>
                            <a:rPr lang="en-US" sz="2400" i="1"/>
                            <m:t>𝑔</m:t>
                          </m:r>
                        </m:sub>
                      </m:sSub>
                      <m:r>
                        <a:rPr lang="en-US" sz="2400"/>
                        <m:t>=</m:t>
                      </m:r>
                      <m:sSub>
                        <m:sSubPr>
                          <m:ctrlPr>
                            <a:rPr lang="en-US" sz="2400" i="1"/>
                          </m:ctrlPr>
                        </m:sSubPr>
                        <m:e>
                          <m:acc>
                            <m:accPr>
                              <m:chr m:val="̂"/>
                              <m:ctrlPr>
                                <a:rPr lang="en-US" sz="2400" i="1"/>
                              </m:ctrlPr>
                            </m:accPr>
                            <m:e>
                              <m:r>
                                <a:rPr lang="en-US" sz="2400" i="1"/>
                                <m:t>𝑌</m:t>
                              </m:r>
                            </m:e>
                          </m:acc>
                        </m:e>
                        <m:sub>
                          <m:r>
                            <a:rPr lang="en-US" sz="2400" i="1"/>
                            <m:t>𝑔</m:t>
                          </m:r>
                          <m:r>
                            <a:rPr lang="en-US" sz="2400"/>
                            <m:t>,</m:t>
                          </m:r>
                          <m:r>
                            <a:rPr lang="en-US" sz="2400" i="1"/>
                            <m:t>𝐵</m:t>
                          </m:r>
                        </m:sub>
                      </m:sSub>
                      <m:r>
                        <a:rPr lang="en-US" sz="2400" i="1"/>
                        <m:t> </m:t>
                      </m:r>
                      <m:r>
                        <a:rPr lang="en-US" sz="2400" i="1"/>
                        <m:t>𝑔</m:t>
                      </m:r>
                      <m:r>
                        <a:rPr lang="en-US" sz="2400"/>
                        <m:t>∈{</m:t>
                      </m:r>
                      <m:r>
                        <a:rPr lang="en-US" sz="2400" i="1"/>
                        <m:t>𝑠</m:t>
                      </m:r>
                      <m:r>
                        <a:rPr lang="en-US" sz="2400"/>
                        <m:t>,</m:t>
                      </m:r>
                      <m:r>
                        <a:rPr lang="en-US" sz="2400" i="1"/>
                        <m:t>𝑣</m:t>
                      </m:r>
                      <m:r>
                        <a:rPr lang="en-US" sz="2400"/>
                        <m:t>},</m:t>
                      </m:r>
                    </m:oMath>
                  </m:oMathPara>
                </a14:m>
                <a:endParaRPr lang="en-US" sz="2400" dirty="0"/>
              </a:p>
              <a:p>
                <a:pPr algn="just">
                  <a:lnSpc>
                    <a:spcPct val="100000"/>
                  </a:lnSpc>
                </a:pPr>
                <a:r>
                  <a:rPr lang="en-US" sz="2400" dirty="0"/>
                  <a:t>The distinction appears away from this ideal limit. Supervision constrains each view relative to the target, whereas consistency directly constrains the two view-dependent predictions relative to one another. These are different quantities. For example, for a scalar target </a:t>
                </a:r>
                <a14:m>
                  <m:oMath xmlns:m="http://schemas.openxmlformats.org/officeDocument/2006/math">
                    <m:r>
                      <a:rPr lang="en-US" sz="2400" i="1"/>
                      <m:t>𝑦</m:t>
                    </m:r>
                  </m:oMath>
                </a14:m>
                <a:r>
                  <a:rPr lang="en-US" sz="2400" dirty="0"/>
                  <a:t> and a nonzero scalar error </a:t>
                </a:r>
                <a14:m>
                  <m:oMath xmlns:m="http://schemas.openxmlformats.org/officeDocument/2006/math">
                    <m:r>
                      <a:rPr lang="en-US" sz="2400" i="1"/>
                      <m:t>𝑎</m:t>
                    </m:r>
                  </m:oMath>
                </a14:m>
                <a:r>
                  <a:rPr lang="en-US" sz="2400" dirty="0"/>
                  <a:t>, the two prediction pairs</a:t>
                </a:r>
              </a:p>
              <a:p>
                <a:pPr marL="0" indent="0" algn="just">
                  <a:lnSpc>
                    <a:spcPct val="100000"/>
                  </a:lnSpc>
                  <a:buNone/>
                </a:pPr>
                <a14:m>
                  <m:oMathPara xmlns:m="http://schemas.openxmlformats.org/officeDocument/2006/math">
                    <m:oMath>
                      <m:d>
                        <m:dPr>
                          <m:ctrlPr>
                            <a:rPr lang="en-US" sz="2400" i="1"/>
                          </m:ctrlPr>
                        </m:dPr>
                        <m:e>
                          <m:r>
                            <a:rPr lang="en-US" sz="2400" i="1"/>
                            <m:t>𝑦</m:t>
                          </m:r>
                          <m:r>
                            <a:rPr lang="en-US" sz="2400"/>
                            <m:t>+</m:t>
                          </m:r>
                          <m:r>
                            <a:rPr lang="en-US" sz="2400" i="1"/>
                            <m:t>𝑎</m:t>
                          </m:r>
                          <m:r>
                            <a:rPr lang="en-US" sz="2400"/>
                            <m:t>,</m:t>
                          </m:r>
                          <m:r>
                            <a:rPr lang="en-US" sz="2400" i="1"/>
                            <m:t> </m:t>
                          </m:r>
                          <m:r>
                            <a:rPr lang="en-US" sz="2400" i="1"/>
                            <m:t>𝑦</m:t>
                          </m:r>
                          <m:r>
                            <a:rPr lang="en-US" sz="2400"/>
                            <m:t>+</m:t>
                          </m:r>
                          <m:r>
                            <a:rPr lang="en-US" sz="2400" i="1"/>
                            <m:t>𝑎</m:t>
                          </m:r>
                        </m:e>
                      </m:d>
                      <m:r>
                        <a:rPr lang="en-US" sz="2400" i="1"/>
                        <m:t>    </m:t>
                      </m:r>
                      <m:d>
                        <m:dPr>
                          <m:ctrlPr>
                            <a:rPr lang="en-US" sz="2400" i="1"/>
                          </m:ctrlPr>
                        </m:dPr>
                        <m:e>
                          <m:r>
                            <a:rPr lang="en-US" sz="2400" i="1"/>
                            <m:t>𝑦</m:t>
                          </m:r>
                          <m:r>
                            <a:rPr lang="en-US" sz="2400"/>
                            <m:t>+</m:t>
                          </m:r>
                          <m:r>
                            <a:rPr lang="en-US" sz="2400" i="1"/>
                            <m:t>𝑎</m:t>
                          </m:r>
                          <m:r>
                            <a:rPr lang="en-US" sz="2400"/>
                            <m:t>,</m:t>
                          </m:r>
                          <m:r>
                            <a:rPr lang="en-US" sz="2400" i="1"/>
                            <m:t> </m:t>
                          </m:r>
                          <m:r>
                            <a:rPr lang="en-US" sz="2400" i="1"/>
                            <m:t>𝑦</m:t>
                          </m:r>
                          <m:r>
                            <a:rPr lang="en-US" sz="2400"/>
                            <m:t>−</m:t>
                          </m:r>
                          <m:r>
                            <a:rPr lang="en-US" sz="2400" i="1"/>
                            <m:t>𝑎</m:t>
                          </m:r>
                        </m:e>
                      </m:d>
                    </m:oMath>
                  </m:oMathPara>
                </a14:m>
                <a:endParaRPr lang="en-US" sz="2400" dirty="0"/>
              </a:p>
              <a:p>
                <a:pPr algn="just">
                  <a:lnSpc>
                    <a:spcPct val="100000"/>
                  </a:lnSpc>
                </a:pPr>
                <a:r>
                  <a:rPr lang="en-US" sz="2400" dirty="0"/>
                  <a:t>have the same average squared supervised error </a:t>
                </a:r>
                <a14:m>
                  <m:oMath xmlns:m="http://schemas.openxmlformats.org/officeDocument/2006/math">
                    <m:sSup>
                      <m:sSupPr>
                        <m:ctrlPr>
                          <a:rPr lang="en-US" sz="2400" i="1"/>
                        </m:ctrlPr>
                      </m:sSupPr>
                      <m:e>
                        <m:r>
                          <a:rPr lang="en-US" sz="2400" i="1"/>
                          <m:t>𝑎</m:t>
                        </m:r>
                      </m:e>
                      <m:sup>
                        <m:r>
                          <a:rPr lang="en-US" sz="2400" i="1"/>
                          <m:t>2</m:t>
                        </m:r>
                      </m:sup>
                    </m:sSup>
                  </m:oMath>
                </a14:m>
                <a:r>
                  <a:rPr lang="en-US" sz="2400" dirty="0"/>
                  <a:t>, but their squared cross-view disagreements are </a:t>
                </a:r>
                <a14:m>
                  <m:oMath xmlns:m="http://schemas.openxmlformats.org/officeDocument/2006/math">
                    <m:r>
                      <a:rPr lang="en-US" sz="2400" i="1"/>
                      <m:t>0</m:t>
                    </m:r>
                  </m:oMath>
                </a14:m>
                <a:r>
                  <a:rPr lang="en-US" sz="2400" dirty="0"/>
                  <a:t> and </a:t>
                </a:r>
                <a14:m>
                  <m:oMath xmlns:m="http://schemas.openxmlformats.org/officeDocument/2006/math">
                    <m:r>
                      <a:rPr lang="en-US" sz="2400" i="1"/>
                      <m:t>4</m:t>
                    </m:r>
                    <m:sSup>
                      <m:sSupPr>
                        <m:ctrlPr>
                          <a:rPr lang="en-US" sz="2400" i="1"/>
                        </m:ctrlPr>
                      </m:sSupPr>
                      <m:e>
                        <m:r>
                          <a:rPr lang="en-US" sz="2400" i="1"/>
                          <m:t>𝑎</m:t>
                        </m:r>
                      </m:e>
                      <m:sup>
                        <m:r>
                          <a:rPr lang="en-US" sz="2400" i="1"/>
                          <m:t>2</m:t>
                        </m:r>
                      </m:sup>
                    </m:sSup>
                  </m:oMath>
                </a14:m>
                <a:r>
                  <a:rPr lang="en-US" sz="2400" dirty="0"/>
                  <a:t>, respectively. Thus equal supervised accuracy does not uniquely determine sampling stability at nonzero error.</a:t>
                </a:r>
              </a:p>
            </p:txBody>
          </p:sp>
        </mc:Choice>
        <mc:Fallback>
          <p:sp>
            <p:nvSpPr>
              <p:cNvPr id="6" name="Content Placeholder 5">
                <a:extLst>
                  <a:ext uri="{FF2B5EF4-FFF2-40B4-BE49-F238E27FC236}">
                    <a16:creationId xmlns:a16="http://schemas.microsoft.com/office/drawing/2014/main" id="{50C7BFC9-A568-B24E-E876-1513C456D48A}"/>
                  </a:ext>
                </a:extLst>
              </p:cNvPr>
              <p:cNvSpPr>
                <a:spLocks noGrp="1" noRot="1" noChangeAspect="1" noMove="1" noResize="1" noEditPoints="1" noAdjustHandles="1" noChangeArrowheads="1" noChangeShapeType="1" noTextEdit="1"/>
              </p:cNvSpPr>
              <p:nvPr>
                <p:ph idx="1"/>
              </p:nvPr>
            </p:nvSpPr>
            <p:spPr>
              <a:xfrm>
                <a:off x="838200" y="947057"/>
                <a:ext cx="10515600" cy="5769429"/>
              </a:xfrm>
              <a:blipFill>
                <a:blip r:embed="rId2"/>
                <a:stretch>
                  <a:fillRect l="-844" t="-879" r="-844"/>
                </a:stretch>
              </a:blipFill>
            </p:spPr>
            <p:txBody>
              <a:bodyPr/>
              <a:lstStyle/>
              <a:p>
                <a:r>
                  <a:rPr lang="en-US">
                    <a:noFill/>
                  </a:rPr>
                  <a:t> </a:t>
                </a:r>
              </a:p>
            </p:txBody>
          </p:sp>
        </mc:Fallback>
      </mc:AlternateContent>
    </p:spTree>
    <p:extLst>
      <p:ext uri="{BB962C8B-B14F-4D97-AF65-F5344CB8AC3E}">
        <p14:creationId xmlns:p14="http://schemas.microsoft.com/office/powerpoint/2010/main" val="3225738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835E4-DB46-C387-3C30-47F0CD687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0A451-3EA3-72C8-CACE-93C2CB9FF2B6}"/>
              </a:ext>
            </a:extLst>
          </p:cNvPr>
          <p:cNvSpPr>
            <a:spLocks noGrp="1"/>
          </p:cNvSpPr>
          <p:nvPr>
            <p:ph type="title"/>
          </p:nvPr>
        </p:nvSpPr>
        <p:spPr>
          <a:xfrm>
            <a:off x="0" y="10885"/>
            <a:ext cx="5066674" cy="6847115"/>
          </a:xfrm>
        </p:spPr>
        <p:txBody>
          <a:bodyPr anchor="t">
            <a:noAutofit/>
          </a:bodyPr>
          <a:lstStyle/>
          <a:p>
            <a:r>
              <a:rPr lang="en-US" sz="2000" b="1" dirty="0"/>
              <a:t>Example of the gradient provided by each of the losses during training</a:t>
            </a:r>
            <a:br>
              <a:rPr lang="en-US" sz="2000" b="1" dirty="0"/>
            </a:br>
            <a:br>
              <a:rPr lang="en-US" sz="2000" b="1" dirty="0"/>
            </a:br>
            <a:r>
              <a:rPr lang="en-US" sz="2000" dirty="0"/>
              <a:t>Worth noting that this is PCA, and the size of each of the vectors doesn’t represent the actual size of the gradient.</a:t>
            </a:r>
            <a:br>
              <a:rPr lang="en-US" sz="2000" dirty="0"/>
            </a:br>
            <a:br>
              <a:rPr lang="en-US" sz="2000" dirty="0"/>
            </a:br>
            <a:r>
              <a:rPr lang="en-US" sz="2000" dirty="0"/>
              <a:t>It‘s clear that the consistency loss (purple) is not aligned with views 1 (blue) and view 2 (orange). It also shifts the average of their gradients toward itself</a:t>
            </a:r>
            <a:br>
              <a:rPr lang="en-US" sz="2000" dirty="0"/>
            </a:br>
            <a:br>
              <a:rPr lang="en-US" sz="2000" dirty="0"/>
            </a:br>
            <a:r>
              <a:rPr lang="en-US" sz="2000" dirty="0"/>
              <a:t>Green is the gradient with consistency loss, and black is without consistency loss.</a:t>
            </a:r>
            <a:endParaRPr lang="en-US" sz="2000" b="1" dirty="0"/>
          </a:p>
        </p:txBody>
      </p:sp>
      <p:pic>
        <p:nvPicPr>
          <p:cNvPr id="3" name="Picture 2">
            <a:extLst>
              <a:ext uri="{FF2B5EF4-FFF2-40B4-BE49-F238E27FC236}">
                <a16:creationId xmlns:a16="http://schemas.microsoft.com/office/drawing/2014/main" id="{57DB5EF2-70D4-6374-4DD3-CB79875B7C83}"/>
              </a:ext>
            </a:extLst>
          </p:cNvPr>
          <p:cNvPicPr>
            <a:picLocks noChangeAspect="1"/>
          </p:cNvPicPr>
          <p:nvPr/>
        </p:nvPicPr>
        <p:blipFill>
          <a:blip r:embed="rId3"/>
          <a:srcRect b="1611"/>
          <a:stretch>
            <a:fillRect/>
          </a:stretch>
        </p:blipFill>
        <p:spPr>
          <a:xfrm>
            <a:off x="5066674" y="82446"/>
            <a:ext cx="7048440" cy="6693108"/>
          </a:xfrm>
          <a:prstGeom prst="rect">
            <a:avLst/>
          </a:prstGeom>
        </p:spPr>
      </p:pic>
    </p:spTree>
    <p:extLst>
      <p:ext uri="{BB962C8B-B14F-4D97-AF65-F5344CB8AC3E}">
        <p14:creationId xmlns:p14="http://schemas.microsoft.com/office/powerpoint/2010/main" val="360197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83DA-6D1F-C432-1FBA-A342683D56E2}"/>
              </a:ext>
            </a:extLst>
          </p:cNvPr>
          <p:cNvSpPr>
            <a:spLocks noGrp="1"/>
          </p:cNvSpPr>
          <p:nvPr>
            <p:ph type="title"/>
          </p:nvPr>
        </p:nvSpPr>
        <p:spPr>
          <a:xfrm>
            <a:off x="324942" y="191333"/>
            <a:ext cx="10515600" cy="827314"/>
          </a:xfrm>
        </p:spPr>
        <p:txBody>
          <a:bodyPr>
            <a:normAutofit/>
          </a:bodyPr>
          <a:lstStyle/>
          <a:p>
            <a:r>
              <a:rPr lang="en-US" sz="3200" b="1" dirty="0"/>
              <a:t>Toy Case – Heat Exchanger Plate</a:t>
            </a:r>
          </a:p>
        </p:txBody>
      </p:sp>
      <p:pic>
        <p:nvPicPr>
          <p:cNvPr id="5" name="Picture 4">
            <a:extLst>
              <a:ext uri="{FF2B5EF4-FFF2-40B4-BE49-F238E27FC236}">
                <a16:creationId xmlns:a16="http://schemas.microsoft.com/office/drawing/2014/main" id="{F3991774-623F-6790-C8B0-AFA84734D1E6}"/>
              </a:ext>
            </a:extLst>
          </p:cNvPr>
          <p:cNvPicPr>
            <a:picLocks noChangeAspect="1"/>
          </p:cNvPicPr>
          <p:nvPr/>
        </p:nvPicPr>
        <p:blipFill>
          <a:blip r:embed="rId2"/>
          <a:srcRect l="13586" r="26331"/>
          <a:stretch>
            <a:fillRect/>
          </a:stretch>
        </p:blipFill>
        <p:spPr>
          <a:xfrm>
            <a:off x="6293850" y="174322"/>
            <a:ext cx="2151853" cy="2452716"/>
          </a:xfrm>
          <a:prstGeom prst="rect">
            <a:avLst/>
          </a:prstGeom>
        </p:spPr>
      </p:pic>
      <p:pic>
        <p:nvPicPr>
          <p:cNvPr id="7" name="Picture 6">
            <a:extLst>
              <a:ext uri="{FF2B5EF4-FFF2-40B4-BE49-F238E27FC236}">
                <a16:creationId xmlns:a16="http://schemas.microsoft.com/office/drawing/2014/main" id="{3F6912A0-C6A3-1210-E786-0105488C27AF}"/>
              </a:ext>
            </a:extLst>
          </p:cNvPr>
          <p:cNvPicPr>
            <a:picLocks noChangeAspect="1"/>
          </p:cNvPicPr>
          <p:nvPr/>
        </p:nvPicPr>
        <p:blipFill>
          <a:blip r:embed="rId3"/>
          <a:srcRect l="13586" r="26331"/>
          <a:stretch>
            <a:fillRect/>
          </a:stretch>
        </p:blipFill>
        <p:spPr>
          <a:xfrm>
            <a:off x="6869922" y="2812244"/>
            <a:ext cx="2151853" cy="2452716"/>
          </a:xfrm>
          <a:prstGeom prst="rect">
            <a:avLst/>
          </a:prstGeom>
        </p:spPr>
      </p:pic>
      <p:pic>
        <p:nvPicPr>
          <p:cNvPr id="9" name="Picture 8">
            <a:extLst>
              <a:ext uri="{FF2B5EF4-FFF2-40B4-BE49-F238E27FC236}">
                <a16:creationId xmlns:a16="http://schemas.microsoft.com/office/drawing/2014/main" id="{B37CA8F3-2B6E-F30C-74E2-8F1CCDEAED55}"/>
              </a:ext>
            </a:extLst>
          </p:cNvPr>
          <p:cNvPicPr>
            <a:picLocks noChangeAspect="1"/>
          </p:cNvPicPr>
          <p:nvPr/>
        </p:nvPicPr>
        <p:blipFill>
          <a:blip r:embed="rId4"/>
          <a:srcRect l="13586" r="26331"/>
          <a:stretch>
            <a:fillRect/>
          </a:stretch>
        </p:blipFill>
        <p:spPr>
          <a:xfrm>
            <a:off x="6800044" y="4738715"/>
            <a:ext cx="2151852" cy="2452716"/>
          </a:xfrm>
          <a:prstGeom prst="rect">
            <a:avLst/>
          </a:prstGeom>
        </p:spPr>
      </p:pic>
      <p:pic>
        <p:nvPicPr>
          <p:cNvPr id="11" name="Picture 10">
            <a:extLst>
              <a:ext uri="{FF2B5EF4-FFF2-40B4-BE49-F238E27FC236}">
                <a16:creationId xmlns:a16="http://schemas.microsoft.com/office/drawing/2014/main" id="{761FB141-0FD3-8475-B918-D56FE5714050}"/>
              </a:ext>
            </a:extLst>
          </p:cNvPr>
          <p:cNvPicPr>
            <a:picLocks noChangeAspect="1"/>
          </p:cNvPicPr>
          <p:nvPr/>
        </p:nvPicPr>
        <p:blipFill>
          <a:blip r:embed="rId5"/>
          <a:srcRect l="13586" r="26331"/>
          <a:stretch>
            <a:fillRect/>
          </a:stretch>
        </p:blipFill>
        <p:spPr>
          <a:xfrm>
            <a:off x="8340533" y="261260"/>
            <a:ext cx="2026192" cy="2309487"/>
          </a:xfrm>
          <a:prstGeom prst="rect">
            <a:avLst/>
          </a:prstGeom>
        </p:spPr>
      </p:pic>
      <p:pic>
        <p:nvPicPr>
          <p:cNvPr id="13" name="Picture 12">
            <a:extLst>
              <a:ext uri="{FF2B5EF4-FFF2-40B4-BE49-F238E27FC236}">
                <a16:creationId xmlns:a16="http://schemas.microsoft.com/office/drawing/2014/main" id="{6A686D19-6BBE-4BE3-4FB4-19B7CA37AE5F}"/>
              </a:ext>
            </a:extLst>
          </p:cNvPr>
          <p:cNvPicPr>
            <a:picLocks noChangeAspect="1"/>
          </p:cNvPicPr>
          <p:nvPr/>
        </p:nvPicPr>
        <p:blipFill>
          <a:blip r:embed="rId6"/>
          <a:srcRect l="13586" r="26331"/>
          <a:stretch>
            <a:fillRect/>
          </a:stretch>
        </p:blipFill>
        <p:spPr>
          <a:xfrm>
            <a:off x="8526466" y="2630615"/>
            <a:ext cx="2026192" cy="2309487"/>
          </a:xfrm>
          <a:prstGeom prst="rect">
            <a:avLst/>
          </a:prstGeom>
        </p:spPr>
      </p:pic>
      <p:pic>
        <p:nvPicPr>
          <p:cNvPr id="15" name="Picture 14">
            <a:extLst>
              <a:ext uri="{FF2B5EF4-FFF2-40B4-BE49-F238E27FC236}">
                <a16:creationId xmlns:a16="http://schemas.microsoft.com/office/drawing/2014/main" id="{4A4DC5F2-7014-5A98-369C-1A24A2ABDDE9}"/>
              </a:ext>
            </a:extLst>
          </p:cNvPr>
          <p:cNvPicPr>
            <a:picLocks noChangeAspect="1"/>
          </p:cNvPicPr>
          <p:nvPr/>
        </p:nvPicPr>
        <p:blipFill>
          <a:blip r:embed="rId7"/>
          <a:srcRect l="13586" r="26331"/>
          <a:stretch>
            <a:fillRect/>
          </a:stretch>
        </p:blipFill>
        <p:spPr>
          <a:xfrm>
            <a:off x="8549120" y="4655357"/>
            <a:ext cx="2026191" cy="2309487"/>
          </a:xfrm>
          <a:prstGeom prst="rect">
            <a:avLst/>
          </a:prstGeom>
        </p:spPr>
      </p:pic>
      <p:pic>
        <p:nvPicPr>
          <p:cNvPr id="17" name="Picture 16">
            <a:extLst>
              <a:ext uri="{FF2B5EF4-FFF2-40B4-BE49-F238E27FC236}">
                <a16:creationId xmlns:a16="http://schemas.microsoft.com/office/drawing/2014/main" id="{7E1217D3-4403-F1D8-56C5-B4FE9D295F01}"/>
              </a:ext>
            </a:extLst>
          </p:cNvPr>
          <p:cNvPicPr>
            <a:picLocks noChangeAspect="1"/>
          </p:cNvPicPr>
          <p:nvPr/>
        </p:nvPicPr>
        <p:blipFill>
          <a:blip r:embed="rId8"/>
          <a:srcRect l="13586" r="26331"/>
          <a:stretch>
            <a:fillRect/>
          </a:stretch>
        </p:blipFill>
        <p:spPr>
          <a:xfrm>
            <a:off x="10041908" y="150685"/>
            <a:ext cx="2151851" cy="2452716"/>
          </a:xfrm>
          <a:prstGeom prst="rect">
            <a:avLst/>
          </a:prstGeom>
        </p:spPr>
      </p:pic>
      <p:pic>
        <p:nvPicPr>
          <p:cNvPr id="19" name="Picture 18">
            <a:extLst>
              <a:ext uri="{FF2B5EF4-FFF2-40B4-BE49-F238E27FC236}">
                <a16:creationId xmlns:a16="http://schemas.microsoft.com/office/drawing/2014/main" id="{D88CE808-A67B-3E6A-7184-FBE7B34C8FD9}"/>
              </a:ext>
            </a:extLst>
          </p:cNvPr>
          <p:cNvPicPr>
            <a:picLocks noChangeAspect="1"/>
          </p:cNvPicPr>
          <p:nvPr/>
        </p:nvPicPr>
        <p:blipFill>
          <a:blip r:embed="rId9"/>
          <a:srcRect l="13586" r="26331"/>
          <a:stretch>
            <a:fillRect/>
          </a:stretch>
        </p:blipFill>
        <p:spPr>
          <a:xfrm>
            <a:off x="10366725" y="2721430"/>
            <a:ext cx="2151850" cy="2452716"/>
          </a:xfrm>
          <a:prstGeom prst="rect">
            <a:avLst/>
          </a:prstGeom>
        </p:spPr>
      </p:pic>
      <p:pic>
        <p:nvPicPr>
          <p:cNvPr id="21" name="Picture 20">
            <a:extLst>
              <a:ext uri="{FF2B5EF4-FFF2-40B4-BE49-F238E27FC236}">
                <a16:creationId xmlns:a16="http://schemas.microsoft.com/office/drawing/2014/main" id="{4D54D48F-D1D7-A15D-4B24-598DE287232F}"/>
              </a:ext>
            </a:extLst>
          </p:cNvPr>
          <p:cNvPicPr>
            <a:picLocks noChangeAspect="1"/>
          </p:cNvPicPr>
          <p:nvPr/>
        </p:nvPicPr>
        <p:blipFill>
          <a:blip r:embed="rId10"/>
          <a:srcRect l="13586" r="26331"/>
          <a:stretch>
            <a:fillRect/>
          </a:stretch>
        </p:blipFill>
        <p:spPr>
          <a:xfrm>
            <a:off x="10226970" y="4604658"/>
            <a:ext cx="2151850" cy="2452716"/>
          </a:xfrm>
          <a:prstGeom prst="rect">
            <a:avLst/>
          </a:prstGeom>
        </p:spPr>
      </p:pic>
      <mc:AlternateContent xmlns:mc="http://schemas.openxmlformats.org/markup-compatibility/2006">
        <mc:Choice xmlns:a14="http://schemas.microsoft.com/office/drawing/2010/main" Requires="a14">
          <p:graphicFrame>
            <p:nvGraphicFramePr>
              <p:cNvPr id="26" name="Table 25">
                <a:extLst>
                  <a:ext uri="{FF2B5EF4-FFF2-40B4-BE49-F238E27FC236}">
                    <a16:creationId xmlns:a16="http://schemas.microsoft.com/office/drawing/2014/main" id="{B95AFEFE-DC8F-FC42-DF18-F6C197BE45EF}"/>
                  </a:ext>
                </a:extLst>
              </p:cNvPr>
              <p:cNvGraphicFramePr>
                <a:graphicFrameLocks noGrp="1"/>
              </p:cNvGraphicFramePr>
              <p:nvPr>
                <p:extLst>
                  <p:ext uri="{D42A27DB-BD31-4B8C-83A1-F6EECF244321}">
                    <p14:modId xmlns:p14="http://schemas.microsoft.com/office/powerpoint/2010/main" val="2923432836"/>
                  </p:ext>
                </p:extLst>
              </p:nvPr>
            </p:nvGraphicFramePr>
            <p:xfrm>
              <a:off x="493886" y="3102429"/>
              <a:ext cx="5978718" cy="3168000"/>
            </p:xfrm>
            <a:graphic>
              <a:graphicData uri="http://schemas.openxmlformats.org/drawingml/2006/table">
                <a:tbl>
                  <a:tblPr firstRow="1" bandRow="1" bandCol="1">
                    <a:tableStyleId>{7E9639D4-E3E2-4D34-9284-5A2195B3D0D7}</a:tableStyleId>
                  </a:tblPr>
                  <a:tblGrid>
                    <a:gridCol w="2767432">
                      <a:extLst>
                        <a:ext uri="{9D8B030D-6E8A-4147-A177-3AD203B41FA5}">
                          <a16:colId xmlns:a16="http://schemas.microsoft.com/office/drawing/2014/main" val="1470616960"/>
                        </a:ext>
                      </a:extLst>
                    </a:gridCol>
                    <a:gridCol w="3211286">
                      <a:extLst>
                        <a:ext uri="{9D8B030D-6E8A-4147-A177-3AD203B41FA5}">
                          <a16:colId xmlns:a16="http://schemas.microsoft.com/office/drawing/2014/main" val="3146547731"/>
                        </a:ext>
                      </a:extLst>
                    </a:gridCol>
                  </a:tblGrid>
                  <a:tr h="288000">
                    <a:tc>
                      <a:txBody>
                        <a:bodyPr/>
                        <a:lstStyle/>
                        <a:p>
                          <a:pPr marL="0" marR="0">
                            <a:spcBef>
                              <a:spcPts val="180"/>
                            </a:spcBef>
                            <a:spcAft>
                              <a:spcPts val="180"/>
                            </a:spcAft>
                            <a:buNone/>
                          </a:pPr>
                          <a:r>
                            <a:rPr lang="en-US" sz="1600" dirty="0">
                              <a:effectLst/>
                            </a:rPr>
                            <a:t>Generator quantity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spcBef>
                              <a:spcPts val="180"/>
                            </a:spcBef>
                            <a:spcAft>
                              <a:spcPts val="180"/>
                            </a:spcAft>
                            <a:buNone/>
                          </a:pPr>
                          <a:r>
                            <a:rPr lang="en-US" sz="1600" dirty="0">
                              <a:effectLst/>
                            </a:rPr>
                            <a:t>Range / variety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35485905"/>
                      </a:ext>
                    </a:extLst>
                  </a:tr>
                  <a:tr h="288000">
                    <a:tc>
                      <a:txBody>
                        <a:bodyPr/>
                        <a:lstStyle/>
                        <a:p>
                          <a:pPr marL="0" marR="0">
                            <a:spcBef>
                              <a:spcPts val="180"/>
                            </a:spcBef>
                            <a:spcAft>
                              <a:spcPts val="180"/>
                            </a:spcAft>
                            <a:buNone/>
                          </a:pPr>
                          <a:r>
                            <a:rPr lang="en-US" sz="1600" dirty="0">
                              <a:effectLst/>
                            </a:rPr>
                            <a:t>Height, </a:t>
                          </a:r>
                          <a14:m>
                            <m:oMath xmlns:m="http://schemas.openxmlformats.org/officeDocument/2006/math">
                              <m:r>
                                <a:rPr lang="en-US" sz="1600">
                                  <a:effectLst/>
                                </a:rPr>
                                <m:t>𝐻</m:t>
                              </m:r>
                            </m:oMath>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1.25,1.75</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18839665"/>
                      </a:ext>
                    </a:extLst>
                  </a:tr>
                  <a:tr h="288000">
                    <a:tc>
                      <a:txBody>
                        <a:bodyPr/>
                        <a:lstStyle/>
                        <a:p>
                          <a:pPr marL="0" marR="0">
                            <a:spcBef>
                              <a:spcPts val="180"/>
                            </a:spcBef>
                            <a:spcAft>
                              <a:spcPts val="180"/>
                            </a:spcAft>
                            <a:buNone/>
                          </a:pPr>
                          <a:r>
                            <a:rPr lang="en-US" sz="1600" dirty="0">
                              <a:effectLst/>
                            </a:rPr>
                            <a:t>Thickness, </a:t>
                          </a:r>
                          <a14:m>
                            <m:oMath xmlns:m="http://schemas.openxmlformats.org/officeDocument/2006/math">
                              <m:r>
                                <a:rPr lang="en-US" sz="1600">
                                  <a:effectLst/>
                                </a:rPr>
                                <m:t>𝑡</m:t>
                              </m:r>
                            </m:oMath>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0.20,0.32</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63097598"/>
                      </a:ext>
                    </a:extLst>
                  </a:tr>
                  <a:tr h="288000">
                    <a:tc>
                      <a:txBody>
                        <a:bodyPr/>
                        <a:lstStyle/>
                        <a:p>
                          <a:pPr marL="0" marR="0">
                            <a:spcBef>
                              <a:spcPts val="180"/>
                            </a:spcBef>
                            <a:spcAft>
                              <a:spcPts val="180"/>
                            </a:spcAft>
                            <a:buNone/>
                          </a:pPr>
                          <a:r>
                            <a:rPr lang="en-US" sz="1600" dirty="0">
                              <a:effectLst/>
                            </a:rPr>
                            <a:t>Nominal left boundary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−0.67,−0.52</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8573384"/>
                      </a:ext>
                    </a:extLst>
                  </a:tr>
                  <a:tr h="288000">
                    <a:tc>
                      <a:txBody>
                        <a:bodyPr/>
                        <a:lstStyle/>
                        <a:p>
                          <a:pPr marL="0" marR="0">
                            <a:spcBef>
                              <a:spcPts val="180"/>
                            </a:spcBef>
                            <a:spcAft>
                              <a:spcPts val="180"/>
                            </a:spcAft>
                            <a:buNone/>
                          </a:pPr>
                          <a:r>
                            <a:rPr lang="en-US" sz="1600" dirty="0">
                              <a:effectLst/>
                            </a:rPr>
                            <a:t>Nominal right boundary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0.52,0.67</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37847247"/>
                      </a:ext>
                    </a:extLst>
                  </a:tr>
                  <a:tr h="288000">
                    <a:tc>
                      <a:txBody>
                        <a:bodyPr/>
                        <a:lstStyle/>
                        <a:p>
                          <a:pPr marL="0" marR="0">
                            <a:spcBef>
                              <a:spcPts val="180"/>
                            </a:spcBef>
                            <a:spcAft>
                              <a:spcPts val="180"/>
                            </a:spcAft>
                            <a:buNone/>
                          </a:pPr>
                          <a:r>
                            <a:rPr lang="en-US" sz="1600" dirty="0">
                              <a:effectLst/>
                            </a:rPr>
                            <a:t>Wavy-side category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both sides, left only, or right only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95582474"/>
                      </a:ext>
                    </a:extLst>
                  </a:tr>
                  <a:tr h="288000">
                    <a:tc>
                      <a:txBody>
                        <a:bodyPr/>
                        <a:lstStyle/>
                        <a:p>
                          <a:pPr marL="0" marR="0">
                            <a:spcBef>
                              <a:spcPts val="180"/>
                            </a:spcBef>
                            <a:spcAft>
                              <a:spcPts val="180"/>
                            </a:spcAft>
                            <a:buNone/>
                          </a:pPr>
                          <a:r>
                            <a:rPr lang="en-US" sz="1600" dirty="0">
                              <a:effectLst/>
                            </a:rPr>
                            <a:t>Number of through-channels</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1 to 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7274524"/>
                      </a:ext>
                    </a:extLst>
                  </a:tr>
                  <a:tr h="288000">
                    <a:tc>
                      <a:txBody>
                        <a:bodyPr/>
                        <a:lstStyle/>
                        <a:p>
                          <a:pPr marL="0" marR="0">
                            <a:spcBef>
                              <a:spcPts val="180"/>
                            </a:spcBef>
                            <a:spcAft>
                              <a:spcPts val="180"/>
                            </a:spcAft>
                            <a:buNone/>
                          </a:pPr>
                          <a:r>
                            <a:rPr lang="en-US" sz="1600">
                              <a:effectLst/>
                            </a:rPr>
                            <a:t>Channel type</a:t>
                          </a:r>
                          <a:endParaRPr lang="en-US" sz="160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circular (55%) or rectangular (45%)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22935097"/>
                      </a:ext>
                    </a:extLst>
                  </a:tr>
                  <a:tr h="288000">
                    <a:tc>
                      <a:txBody>
                        <a:bodyPr/>
                        <a:lstStyle/>
                        <a:p>
                          <a:pPr marL="0" marR="0">
                            <a:spcBef>
                              <a:spcPts val="180"/>
                            </a:spcBef>
                            <a:spcAft>
                              <a:spcPts val="180"/>
                            </a:spcAft>
                            <a:buNone/>
                          </a:pPr>
                          <a:r>
                            <a:rPr lang="en-US" sz="1600">
                              <a:effectLst/>
                            </a:rPr>
                            <a:t>Circular radius, </a:t>
                          </a:r>
                          <a14:m>
                            <m:oMath xmlns:m="http://schemas.openxmlformats.org/officeDocument/2006/math">
                              <m:r>
                                <a:rPr lang="en-US" sz="1600">
                                  <a:effectLst/>
                                </a:rPr>
                                <m:t>𝑟</m:t>
                              </m:r>
                            </m:oMath>
                          </a14:m>
                          <a:endParaRPr lang="en-US" sz="160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0.055,0.115</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65781178"/>
                      </a:ext>
                    </a:extLst>
                  </a:tr>
                  <a:tr h="288000">
                    <a:tc>
                      <a:txBody>
                        <a:bodyPr/>
                        <a:lstStyle/>
                        <a:p>
                          <a:pPr marL="0" marR="0">
                            <a:spcBef>
                              <a:spcPts val="180"/>
                            </a:spcBef>
                            <a:spcAft>
                              <a:spcPts val="180"/>
                            </a:spcAft>
                            <a:buNone/>
                          </a:pPr>
                          <a:r>
                            <a:rPr lang="en-US" sz="1600">
                              <a:effectLst/>
                            </a:rPr>
                            <a:t>Rectangular half-width, </a:t>
                          </a:r>
                          <a14:m>
                            <m:oMath xmlns:m="http://schemas.openxmlformats.org/officeDocument/2006/math">
                              <m:sSub>
                                <m:sSubPr>
                                  <m:ctrlPr>
                                    <a:rPr lang="en-US" sz="1600">
                                      <a:effectLst/>
                                    </a:rPr>
                                  </m:ctrlPr>
                                </m:sSubPr>
                                <m:e>
                                  <m:r>
                                    <a:rPr lang="en-US" sz="1600">
                                      <a:effectLst/>
                                    </a:rPr>
                                    <m:t>ℎ</m:t>
                                  </m:r>
                                </m:e>
                                <m:sub>
                                  <m:r>
                                    <a:rPr lang="en-US" sz="1600">
                                      <a:effectLst/>
                                    </a:rPr>
                                    <m:t>𝑥</m:t>
                                  </m:r>
                                </m:sub>
                              </m:sSub>
                            </m:oMath>
                          </a14:m>
                          <a:endParaRPr lang="en-US" sz="160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0.050,0.115</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69490130"/>
                      </a:ext>
                    </a:extLst>
                  </a:tr>
                  <a:tr h="288000">
                    <a:tc>
                      <a:txBody>
                        <a:bodyPr/>
                        <a:lstStyle/>
                        <a:p>
                          <a:pPr marL="0" marR="0">
                            <a:spcBef>
                              <a:spcPts val="180"/>
                            </a:spcBef>
                            <a:spcAft>
                              <a:spcPts val="180"/>
                            </a:spcAft>
                            <a:buNone/>
                          </a:pPr>
                          <a:r>
                            <a:rPr lang="en-US" sz="1600" dirty="0">
                              <a:effectLst/>
                            </a:rPr>
                            <a:t>Rectangular half-height, </a:t>
                          </a:r>
                          <a14:m>
                            <m:oMath xmlns:m="http://schemas.openxmlformats.org/officeDocument/2006/math">
                              <m:sSub>
                                <m:sSubPr>
                                  <m:ctrlPr>
                                    <a:rPr lang="en-US" sz="1600">
                                      <a:effectLst/>
                                    </a:rPr>
                                  </m:ctrlPr>
                                </m:sSubPr>
                                <m:e>
                                  <m:r>
                                    <a:rPr lang="en-US" sz="1600">
                                      <a:effectLst/>
                                    </a:rPr>
                                    <m:t>ℎ</m:t>
                                  </m:r>
                                </m:e>
                                <m:sub>
                                  <m:r>
                                    <a:rPr lang="en-US" sz="1600">
                                      <a:effectLst/>
                                    </a:rPr>
                                    <m:t>𝑧</m:t>
                                  </m:r>
                                </m:sub>
                              </m:sSub>
                            </m:oMath>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14:m>
                            <m:oMathPara xmlns:m="http://schemas.openxmlformats.org/officeDocument/2006/math">
                              <m:oMath>
                                <m:d>
                                  <m:dPr>
                                    <m:begChr m:val="["/>
                                    <m:endChr m:val="]"/>
                                    <m:ctrlPr>
                                      <a:rPr lang="en-US" sz="1600">
                                        <a:effectLst/>
                                      </a:rPr>
                                    </m:ctrlPr>
                                  </m:dPr>
                                  <m:e>
                                    <m:r>
                                      <a:rPr lang="en-US" sz="1600">
                                        <a:effectLst/>
                                      </a:rPr>
                                      <m:t>0.050,0.125</m:t>
                                    </m:r>
                                  </m:e>
                                </m:d>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85972388"/>
                      </a:ext>
                    </a:extLst>
                  </a:tr>
                </a:tbl>
              </a:graphicData>
            </a:graphic>
          </p:graphicFrame>
        </mc:Choice>
        <mc:Fallback>
          <p:graphicFrame>
            <p:nvGraphicFramePr>
              <p:cNvPr id="26" name="Table 25">
                <a:extLst>
                  <a:ext uri="{FF2B5EF4-FFF2-40B4-BE49-F238E27FC236}">
                    <a16:creationId xmlns:a16="http://schemas.microsoft.com/office/drawing/2014/main" id="{B95AFEFE-DC8F-FC42-DF18-F6C197BE45EF}"/>
                  </a:ext>
                </a:extLst>
              </p:cNvPr>
              <p:cNvGraphicFramePr>
                <a:graphicFrameLocks noGrp="1"/>
              </p:cNvGraphicFramePr>
              <p:nvPr>
                <p:extLst>
                  <p:ext uri="{D42A27DB-BD31-4B8C-83A1-F6EECF244321}">
                    <p14:modId xmlns:p14="http://schemas.microsoft.com/office/powerpoint/2010/main" val="2923432836"/>
                  </p:ext>
                </p:extLst>
              </p:nvPr>
            </p:nvGraphicFramePr>
            <p:xfrm>
              <a:off x="493886" y="3102429"/>
              <a:ext cx="5978718" cy="3168000"/>
            </p:xfrm>
            <a:graphic>
              <a:graphicData uri="http://schemas.openxmlformats.org/drawingml/2006/table">
                <a:tbl>
                  <a:tblPr firstRow="1" bandRow="1" bandCol="1">
                    <a:tableStyleId>{7E9639D4-E3E2-4D34-9284-5A2195B3D0D7}</a:tableStyleId>
                  </a:tblPr>
                  <a:tblGrid>
                    <a:gridCol w="2767432">
                      <a:extLst>
                        <a:ext uri="{9D8B030D-6E8A-4147-A177-3AD203B41FA5}">
                          <a16:colId xmlns:a16="http://schemas.microsoft.com/office/drawing/2014/main" val="1470616960"/>
                        </a:ext>
                      </a:extLst>
                    </a:gridCol>
                    <a:gridCol w="3211286">
                      <a:extLst>
                        <a:ext uri="{9D8B030D-6E8A-4147-A177-3AD203B41FA5}">
                          <a16:colId xmlns:a16="http://schemas.microsoft.com/office/drawing/2014/main" val="3146547731"/>
                        </a:ext>
                      </a:extLst>
                    </a:gridCol>
                  </a:tblGrid>
                  <a:tr h="288000">
                    <a:tc>
                      <a:txBody>
                        <a:bodyPr/>
                        <a:lstStyle/>
                        <a:p>
                          <a:pPr marL="0" marR="0">
                            <a:spcBef>
                              <a:spcPts val="180"/>
                            </a:spcBef>
                            <a:spcAft>
                              <a:spcPts val="180"/>
                            </a:spcAft>
                            <a:buNone/>
                          </a:pPr>
                          <a:r>
                            <a:rPr lang="en-US" sz="1600" dirty="0">
                              <a:effectLst/>
                            </a:rPr>
                            <a:t>Generator quantity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spcBef>
                              <a:spcPts val="180"/>
                            </a:spcBef>
                            <a:spcAft>
                              <a:spcPts val="180"/>
                            </a:spcAft>
                            <a:buNone/>
                          </a:pPr>
                          <a:r>
                            <a:rPr lang="en-US" sz="1600" dirty="0">
                              <a:effectLst/>
                            </a:rPr>
                            <a:t>Range / variety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35485905"/>
                      </a:ext>
                    </a:extLst>
                  </a:tr>
                  <a:tr h="288000">
                    <a:tc>
                      <a:txBody>
                        <a:bodyPr/>
                        <a:lstStyle/>
                        <a:p>
                          <a:endParaRPr lang="en-US"/>
                        </a:p>
                      </a:txBody>
                      <a:tcPr marL="68580" marR="68580" marT="0" marB="0" anchor="ctr">
                        <a:blipFill>
                          <a:blip r:embed="rId11"/>
                          <a:stretch>
                            <a:fillRect l="-459" t="-122727" r="-116972" b="-968182"/>
                          </a:stretch>
                        </a:blipFill>
                      </a:tcPr>
                    </a:tc>
                    <a:tc>
                      <a:txBody>
                        <a:bodyPr/>
                        <a:lstStyle/>
                        <a:p>
                          <a:endParaRPr lang="en-US"/>
                        </a:p>
                      </a:txBody>
                      <a:tcPr marL="68580" marR="68580" marT="0" marB="0" anchor="ctr">
                        <a:blipFill>
                          <a:blip r:embed="rId11"/>
                          <a:stretch>
                            <a:fillRect l="-86220" t="-122727" r="-394" b="-968182"/>
                          </a:stretch>
                        </a:blipFill>
                      </a:tcPr>
                    </a:tc>
                    <a:extLst>
                      <a:ext uri="{0D108BD9-81ED-4DB2-BD59-A6C34878D82A}">
                        <a16:rowId xmlns:a16="http://schemas.microsoft.com/office/drawing/2014/main" val="1618839665"/>
                      </a:ext>
                    </a:extLst>
                  </a:tr>
                  <a:tr h="288000">
                    <a:tc>
                      <a:txBody>
                        <a:bodyPr/>
                        <a:lstStyle/>
                        <a:p>
                          <a:endParaRPr lang="en-US"/>
                        </a:p>
                      </a:txBody>
                      <a:tcPr marL="68580" marR="68580" marT="0" marB="0" anchor="ctr">
                        <a:blipFill>
                          <a:blip r:embed="rId11"/>
                          <a:stretch>
                            <a:fillRect l="-459" t="-213043" r="-116972" b="-826087"/>
                          </a:stretch>
                        </a:blipFill>
                      </a:tcPr>
                    </a:tc>
                    <a:tc>
                      <a:txBody>
                        <a:bodyPr/>
                        <a:lstStyle/>
                        <a:p>
                          <a:endParaRPr lang="en-US"/>
                        </a:p>
                      </a:txBody>
                      <a:tcPr marL="68580" marR="68580" marT="0" marB="0" anchor="ctr">
                        <a:blipFill>
                          <a:blip r:embed="rId11"/>
                          <a:stretch>
                            <a:fillRect l="-86220" t="-213043" r="-394" b="-826087"/>
                          </a:stretch>
                        </a:blipFill>
                      </a:tcPr>
                    </a:tc>
                    <a:extLst>
                      <a:ext uri="{0D108BD9-81ED-4DB2-BD59-A6C34878D82A}">
                        <a16:rowId xmlns:a16="http://schemas.microsoft.com/office/drawing/2014/main" val="463097598"/>
                      </a:ext>
                    </a:extLst>
                  </a:tr>
                  <a:tr h="288000">
                    <a:tc>
                      <a:txBody>
                        <a:bodyPr/>
                        <a:lstStyle/>
                        <a:p>
                          <a:pPr marL="0" marR="0">
                            <a:spcBef>
                              <a:spcPts val="180"/>
                            </a:spcBef>
                            <a:spcAft>
                              <a:spcPts val="180"/>
                            </a:spcAft>
                            <a:buNone/>
                          </a:pPr>
                          <a:r>
                            <a:rPr lang="en-US" sz="1600" dirty="0">
                              <a:effectLst/>
                            </a:rPr>
                            <a:t>Nominal left boundary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11"/>
                          <a:stretch>
                            <a:fillRect l="-86220" t="-313043" r="-394" b="-726087"/>
                          </a:stretch>
                        </a:blipFill>
                      </a:tcPr>
                    </a:tc>
                    <a:extLst>
                      <a:ext uri="{0D108BD9-81ED-4DB2-BD59-A6C34878D82A}">
                        <a16:rowId xmlns:a16="http://schemas.microsoft.com/office/drawing/2014/main" val="2448573384"/>
                      </a:ext>
                    </a:extLst>
                  </a:tr>
                  <a:tr h="288000">
                    <a:tc>
                      <a:txBody>
                        <a:bodyPr/>
                        <a:lstStyle/>
                        <a:p>
                          <a:pPr marL="0" marR="0">
                            <a:spcBef>
                              <a:spcPts val="180"/>
                            </a:spcBef>
                            <a:spcAft>
                              <a:spcPts val="180"/>
                            </a:spcAft>
                            <a:buNone/>
                          </a:pPr>
                          <a:r>
                            <a:rPr lang="en-US" sz="1600" dirty="0">
                              <a:effectLst/>
                            </a:rPr>
                            <a:t>Nominal right boundary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11"/>
                          <a:stretch>
                            <a:fillRect l="-86220" t="-413043" r="-394" b="-626087"/>
                          </a:stretch>
                        </a:blipFill>
                      </a:tcPr>
                    </a:tc>
                    <a:extLst>
                      <a:ext uri="{0D108BD9-81ED-4DB2-BD59-A6C34878D82A}">
                        <a16:rowId xmlns:a16="http://schemas.microsoft.com/office/drawing/2014/main" val="3637847247"/>
                      </a:ext>
                    </a:extLst>
                  </a:tr>
                  <a:tr h="288000">
                    <a:tc>
                      <a:txBody>
                        <a:bodyPr/>
                        <a:lstStyle/>
                        <a:p>
                          <a:pPr marL="0" marR="0">
                            <a:spcBef>
                              <a:spcPts val="180"/>
                            </a:spcBef>
                            <a:spcAft>
                              <a:spcPts val="180"/>
                            </a:spcAft>
                            <a:buNone/>
                          </a:pPr>
                          <a:r>
                            <a:rPr lang="en-US" sz="1600" dirty="0">
                              <a:effectLst/>
                            </a:rPr>
                            <a:t>Wavy-side category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both sides, left only, or right only</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95582474"/>
                      </a:ext>
                    </a:extLst>
                  </a:tr>
                  <a:tr h="288000">
                    <a:tc>
                      <a:txBody>
                        <a:bodyPr/>
                        <a:lstStyle/>
                        <a:p>
                          <a:pPr marL="0" marR="0">
                            <a:spcBef>
                              <a:spcPts val="180"/>
                            </a:spcBef>
                            <a:spcAft>
                              <a:spcPts val="180"/>
                            </a:spcAft>
                            <a:buNone/>
                          </a:pPr>
                          <a:r>
                            <a:rPr lang="en-US" sz="1600" dirty="0">
                              <a:effectLst/>
                            </a:rPr>
                            <a:t>Number of through-channels</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1 to 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7274524"/>
                      </a:ext>
                    </a:extLst>
                  </a:tr>
                  <a:tr h="288000">
                    <a:tc>
                      <a:txBody>
                        <a:bodyPr/>
                        <a:lstStyle/>
                        <a:p>
                          <a:pPr marL="0" marR="0">
                            <a:spcBef>
                              <a:spcPts val="180"/>
                            </a:spcBef>
                            <a:spcAft>
                              <a:spcPts val="180"/>
                            </a:spcAft>
                            <a:buNone/>
                          </a:pPr>
                          <a:r>
                            <a:rPr lang="en-US" sz="1600">
                              <a:effectLst/>
                            </a:rPr>
                            <a:t>Channel type</a:t>
                          </a:r>
                          <a:endParaRPr lang="en-US" sz="160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circular (55%) or rectangular (45%)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22935097"/>
                      </a:ext>
                    </a:extLst>
                  </a:tr>
                  <a:tr h="288000">
                    <a:tc>
                      <a:txBody>
                        <a:bodyPr/>
                        <a:lstStyle/>
                        <a:p>
                          <a:endParaRPr lang="en-US"/>
                        </a:p>
                      </a:txBody>
                      <a:tcPr marL="68580" marR="68580" marT="0" marB="0" anchor="ctr">
                        <a:blipFill>
                          <a:blip r:embed="rId11"/>
                          <a:stretch>
                            <a:fillRect l="-459" t="-808696" r="-116972" b="-230435"/>
                          </a:stretch>
                        </a:blipFill>
                      </a:tcPr>
                    </a:tc>
                    <a:tc>
                      <a:txBody>
                        <a:bodyPr/>
                        <a:lstStyle/>
                        <a:p>
                          <a:endParaRPr lang="en-US"/>
                        </a:p>
                      </a:txBody>
                      <a:tcPr marL="68580" marR="68580" marT="0" marB="0" anchor="ctr">
                        <a:blipFill>
                          <a:blip r:embed="rId11"/>
                          <a:stretch>
                            <a:fillRect l="-86220" t="-808696" r="-394" b="-230435"/>
                          </a:stretch>
                        </a:blipFill>
                      </a:tcPr>
                    </a:tc>
                    <a:extLst>
                      <a:ext uri="{0D108BD9-81ED-4DB2-BD59-A6C34878D82A}">
                        <a16:rowId xmlns:a16="http://schemas.microsoft.com/office/drawing/2014/main" val="1365781178"/>
                      </a:ext>
                    </a:extLst>
                  </a:tr>
                  <a:tr h="288000">
                    <a:tc>
                      <a:txBody>
                        <a:bodyPr/>
                        <a:lstStyle/>
                        <a:p>
                          <a:endParaRPr lang="en-US"/>
                        </a:p>
                      </a:txBody>
                      <a:tcPr marL="68580" marR="68580" marT="0" marB="0" anchor="ctr">
                        <a:blipFill>
                          <a:blip r:embed="rId11"/>
                          <a:stretch>
                            <a:fillRect l="-459" t="-950000" r="-116972" b="-140909"/>
                          </a:stretch>
                        </a:blipFill>
                      </a:tcPr>
                    </a:tc>
                    <a:tc>
                      <a:txBody>
                        <a:bodyPr/>
                        <a:lstStyle/>
                        <a:p>
                          <a:endParaRPr lang="en-US"/>
                        </a:p>
                      </a:txBody>
                      <a:tcPr marL="68580" marR="68580" marT="0" marB="0" anchor="ctr">
                        <a:blipFill>
                          <a:blip r:embed="rId11"/>
                          <a:stretch>
                            <a:fillRect l="-86220" t="-950000" r="-394" b="-140909"/>
                          </a:stretch>
                        </a:blipFill>
                      </a:tcPr>
                    </a:tc>
                    <a:extLst>
                      <a:ext uri="{0D108BD9-81ED-4DB2-BD59-A6C34878D82A}">
                        <a16:rowId xmlns:a16="http://schemas.microsoft.com/office/drawing/2014/main" val="3969490130"/>
                      </a:ext>
                    </a:extLst>
                  </a:tr>
                  <a:tr h="288000">
                    <a:tc>
                      <a:txBody>
                        <a:bodyPr/>
                        <a:lstStyle/>
                        <a:p>
                          <a:endParaRPr lang="en-US"/>
                        </a:p>
                      </a:txBody>
                      <a:tcPr marL="68580" marR="68580" marT="0" marB="0" anchor="ctr">
                        <a:blipFill>
                          <a:blip r:embed="rId11"/>
                          <a:stretch>
                            <a:fillRect l="-459" t="-1004348" r="-116972" b="-34783"/>
                          </a:stretch>
                        </a:blipFill>
                      </a:tcPr>
                    </a:tc>
                    <a:tc>
                      <a:txBody>
                        <a:bodyPr/>
                        <a:lstStyle/>
                        <a:p>
                          <a:endParaRPr lang="en-US"/>
                        </a:p>
                      </a:txBody>
                      <a:tcPr marL="68580" marR="68580" marT="0" marB="0" anchor="ctr">
                        <a:blipFill>
                          <a:blip r:embed="rId11"/>
                          <a:stretch>
                            <a:fillRect l="-86220" t="-1004348" r="-394" b="-34783"/>
                          </a:stretch>
                        </a:blipFill>
                      </a:tcPr>
                    </a:tc>
                    <a:extLst>
                      <a:ext uri="{0D108BD9-81ED-4DB2-BD59-A6C34878D82A}">
                        <a16:rowId xmlns:a16="http://schemas.microsoft.com/office/drawing/2014/main" val="2185972388"/>
                      </a:ext>
                    </a:extLst>
                  </a:tr>
                </a:tbl>
              </a:graphicData>
            </a:graphic>
          </p:graphicFrame>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A9472E2C-C5EB-D7F8-8948-C7517A9B0460}"/>
                  </a:ext>
                </a:extLst>
              </p:cNvPr>
              <p:cNvSpPr txBox="1"/>
              <p:nvPr/>
            </p:nvSpPr>
            <p:spPr>
              <a:xfrm>
                <a:off x="324942" y="1183375"/>
                <a:ext cx="6190299" cy="1754326"/>
              </a:xfrm>
              <a:prstGeom prst="rect">
                <a:avLst/>
              </a:prstGeom>
              <a:noFill/>
            </p:spPr>
            <p:txBody>
              <a:bodyPr wrap="square">
                <a:spAutoFit/>
              </a:bodyPr>
              <a:lstStyle/>
              <a:p>
                <a:pPr marL="0" marR="0" algn="just">
                  <a:spcBef>
                    <a:spcPts val="900"/>
                  </a:spcBef>
                  <a:spcAft>
                    <a:spcPts val="310"/>
                  </a:spcAft>
                  <a:buNone/>
                </a:pPr>
                <a:r>
                  <a:rPr lang="en-US" sz="1800" dirty="0">
                    <a:effectLst/>
                    <a:latin typeface="Aptos" panose="020B0004020202020204" pitchFamily="34" charset="0"/>
                    <a:ea typeface="Cambria" panose="02040503050406030204" pitchFamily="18" charset="0"/>
                    <a:cs typeface="Times New Roman" panose="02020603050405020304" pitchFamily="18" charset="0"/>
                  </a:rPr>
                  <a:t>The benchmark generates </a:t>
                </a:r>
                <a:r>
                  <a:rPr lang="en-US" sz="1800" b="1" dirty="0">
                    <a:effectLst/>
                    <a:latin typeface="Aptos" panose="020B0004020202020204" pitchFamily="34" charset="0"/>
                    <a:ea typeface="Cambria" panose="02040503050406030204" pitchFamily="18" charset="0"/>
                    <a:cs typeface="Times New Roman" panose="02020603050405020304" pitchFamily="18" charset="0"/>
                  </a:rPr>
                  <a:t>3D extruded solid fins</a:t>
                </a:r>
                <a:r>
                  <a:rPr lang="en-US" sz="1800" dirty="0">
                    <a:effectLst/>
                    <a:latin typeface="Aptos" panose="020B0004020202020204" pitchFamily="34" charset="0"/>
                    <a:ea typeface="Cambria" panose="02040503050406030204" pitchFamily="18" charset="0"/>
                    <a:cs typeface="Times New Roman" panose="02020603050405020304" pitchFamily="18" charset="0"/>
                  </a:rPr>
                  <a:t> in which </a:t>
                </a:r>
                <a:r>
                  <a:rPr lang="en-US" sz="1800" b="1" dirty="0">
                    <a:effectLst/>
                    <a:latin typeface="Aptos" panose="020B0004020202020204" pitchFamily="34" charset="0"/>
                    <a:ea typeface="Cambria" panose="02040503050406030204" pitchFamily="18" charset="0"/>
                    <a:cs typeface="Times New Roman" panose="02020603050405020304" pitchFamily="18" charset="0"/>
                  </a:rPr>
                  <a:t>geometry is the only case-dependent input</a:t>
                </a:r>
                <a:r>
                  <a:rPr lang="en-US" sz="1800" dirty="0">
                    <a:effectLst/>
                    <a:latin typeface="Aptos" panose="020B0004020202020204" pitchFamily="34" charset="0"/>
                    <a:ea typeface="Cambria" panose="02040503050406030204" pitchFamily="18" charset="0"/>
                    <a:cs typeface="Times New Roman" panose="02020603050405020304" pitchFamily="18" charset="0"/>
                  </a:rPr>
                  <a:t>. Each solid is defined by a wavy longitudinal profile in the </a:t>
                </a:r>
                <a14:m>
                  <m:oMath xmlns:m="http://schemas.openxmlformats.org/officeDocument/2006/math">
                    <m:d>
                      <m:d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𝑥</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𝑧</m:t>
                        </m:r>
                      </m:e>
                    </m:d>
                  </m:oMath>
                </a14:m>
                <a:r>
                  <a:rPr lang="en-US" sz="1800" dirty="0">
                    <a:effectLst/>
                    <a:latin typeface="Aptos" panose="020B0004020202020204" pitchFamily="34" charset="0"/>
                    <a:ea typeface="Cambria" panose="02040503050406030204" pitchFamily="18" charset="0"/>
                    <a:cs typeface="Times New Roman" panose="02020603050405020304" pitchFamily="18" charset="0"/>
                  </a:rPr>
                  <a:t> plane, extruded through the thickness direction </a:t>
                </a:r>
                <a14:m>
                  <m:oMath xmlns:m="http://schemas.openxmlformats.org/officeDocument/2006/math">
                    <m:r>
                      <a:rPr lang="en-US" sz="1800" i="1">
                        <a:effectLst/>
                        <a:latin typeface="Cambria Math" panose="02040503050406030204" pitchFamily="18" charset="0"/>
                        <a:ea typeface="Cambria" panose="02040503050406030204" pitchFamily="18" charset="0"/>
                        <a:cs typeface="Times New Roman" panose="02020603050405020304" pitchFamily="18" charset="0"/>
                      </a:rPr>
                      <m:t>𝑦</m:t>
                    </m:r>
                  </m:oMath>
                </a14:m>
                <a:r>
                  <a:rPr lang="en-US" sz="1800" dirty="0">
                    <a:effectLst/>
                    <a:latin typeface="Aptos" panose="020B0004020202020204" pitchFamily="34" charset="0"/>
                    <a:ea typeface="Cambria" panose="02040503050406030204" pitchFamily="18" charset="0"/>
                    <a:cs typeface="Times New Roman" panose="02020603050405020304" pitchFamily="18" charset="0"/>
                  </a:rPr>
                  <a:t>, with </a:t>
                </a:r>
                <a:r>
                  <a:rPr lang="en-US" sz="1800" b="1" dirty="0">
                    <a:effectLst/>
                    <a:latin typeface="Aptos" panose="020B0004020202020204" pitchFamily="34" charset="0"/>
                    <a:ea typeface="Cambria" panose="02040503050406030204" pitchFamily="18" charset="0"/>
                    <a:cs typeface="Times New Roman" panose="02020603050405020304" pitchFamily="18" charset="0"/>
                  </a:rPr>
                  <a:t>1to5 non-overlapping through-channels</a:t>
                </a:r>
                <a:r>
                  <a:rPr lang="en-US" sz="1800" dirty="0">
                    <a:effectLst/>
                    <a:latin typeface="Aptos" panose="020B0004020202020204" pitchFamily="34" charset="0"/>
                    <a:ea typeface="Cambria" panose="02040503050406030204" pitchFamily="18" charset="0"/>
                    <a:cs typeface="Times New Roman" panose="02020603050405020304" pitchFamily="18" charset="0"/>
                  </a:rPr>
                  <a:t> removed from the solid. The current set contains 256 training and 32 validation cases. </a:t>
                </a:r>
              </a:p>
            </p:txBody>
          </p:sp>
        </mc:Choice>
        <mc:Fallback>
          <p:sp>
            <p:nvSpPr>
              <p:cNvPr id="28" name="TextBox 27">
                <a:extLst>
                  <a:ext uri="{FF2B5EF4-FFF2-40B4-BE49-F238E27FC236}">
                    <a16:creationId xmlns:a16="http://schemas.microsoft.com/office/drawing/2014/main" id="{A9472E2C-C5EB-D7F8-8948-C7517A9B0460}"/>
                  </a:ext>
                </a:extLst>
              </p:cNvPr>
              <p:cNvSpPr txBox="1">
                <a:spLocks noRot="1" noChangeAspect="1" noMove="1" noResize="1" noEditPoints="1" noAdjustHandles="1" noChangeArrowheads="1" noChangeShapeType="1" noTextEdit="1"/>
              </p:cNvSpPr>
              <p:nvPr/>
            </p:nvSpPr>
            <p:spPr>
              <a:xfrm>
                <a:off x="324942" y="1183375"/>
                <a:ext cx="6190299" cy="1754326"/>
              </a:xfrm>
              <a:prstGeom prst="rect">
                <a:avLst/>
              </a:prstGeom>
              <a:blipFill>
                <a:blip r:embed="rId12"/>
                <a:stretch>
                  <a:fillRect l="-818" t="-1439" r="-613" b="-5036"/>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52A3D045-4D30-DAE8-9C72-CCCBA82AC144}"/>
              </a:ext>
            </a:extLst>
          </p:cNvPr>
          <p:cNvSpPr txBox="1"/>
          <p:nvPr/>
        </p:nvSpPr>
        <p:spPr>
          <a:xfrm>
            <a:off x="8688691" y="98803"/>
            <a:ext cx="1295676" cy="338554"/>
          </a:xfrm>
          <a:prstGeom prst="rect">
            <a:avLst/>
          </a:prstGeom>
          <a:noFill/>
        </p:spPr>
        <p:txBody>
          <a:bodyPr wrap="none" rtlCol="0">
            <a:spAutoFit/>
          </a:bodyPr>
          <a:lstStyle/>
          <a:p>
            <a:r>
              <a:rPr lang="en-US" sz="1600" dirty="0"/>
              <a:t>Temperature</a:t>
            </a:r>
          </a:p>
        </p:txBody>
      </p:sp>
      <p:sp>
        <p:nvSpPr>
          <p:cNvPr id="33" name="TextBox 32">
            <a:extLst>
              <a:ext uri="{FF2B5EF4-FFF2-40B4-BE49-F238E27FC236}">
                <a16:creationId xmlns:a16="http://schemas.microsoft.com/office/drawing/2014/main" id="{65E3F69A-4303-833C-B311-362E3E4B23BA}"/>
              </a:ext>
            </a:extLst>
          </p:cNvPr>
          <p:cNvSpPr txBox="1"/>
          <p:nvPr/>
        </p:nvSpPr>
        <p:spPr>
          <a:xfrm>
            <a:off x="8358482" y="2382876"/>
            <a:ext cx="1981504" cy="338554"/>
          </a:xfrm>
          <a:prstGeom prst="rect">
            <a:avLst/>
          </a:prstGeom>
          <a:noFill/>
        </p:spPr>
        <p:txBody>
          <a:bodyPr wrap="none" rtlCol="0">
            <a:spAutoFit/>
          </a:bodyPr>
          <a:lstStyle/>
          <a:p>
            <a:r>
              <a:rPr lang="en-US" sz="1600" dirty="0"/>
              <a:t>Geometry and mesh</a:t>
            </a:r>
          </a:p>
        </p:txBody>
      </p:sp>
      <p:pic>
        <p:nvPicPr>
          <p:cNvPr id="34" name="Picture 33">
            <a:extLst>
              <a:ext uri="{FF2B5EF4-FFF2-40B4-BE49-F238E27FC236}">
                <a16:creationId xmlns:a16="http://schemas.microsoft.com/office/drawing/2014/main" id="{71A9EC12-73C6-04BC-F20D-1A7A5887944A}"/>
              </a:ext>
            </a:extLst>
          </p:cNvPr>
          <p:cNvPicPr>
            <a:picLocks noChangeAspect="1"/>
          </p:cNvPicPr>
          <p:nvPr/>
        </p:nvPicPr>
        <p:blipFill>
          <a:blip r:embed="rId13"/>
          <a:srcRect l="6271" r="35350"/>
          <a:stretch>
            <a:fillRect/>
          </a:stretch>
        </p:blipFill>
        <p:spPr>
          <a:xfrm rot="16200000">
            <a:off x="7434846" y="-552467"/>
            <a:ext cx="403866" cy="1575781"/>
          </a:xfrm>
          <a:prstGeom prst="rect">
            <a:avLst/>
          </a:prstGeom>
        </p:spPr>
      </p:pic>
    </p:spTree>
    <p:extLst>
      <p:ext uri="{BB962C8B-B14F-4D97-AF65-F5344CB8AC3E}">
        <p14:creationId xmlns:p14="http://schemas.microsoft.com/office/powerpoint/2010/main" val="1430229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BAD50-F057-6557-3E9E-29D26FCC7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9D6DB-7B1F-331A-2562-FF2941A4DB09}"/>
              </a:ext>
            </a:extLst>
          </p:cNvPr>
          <p:cNvSpPr>
            <a:spLocks noGrp="1"/>
          </p:cNvSpPr>
          <p:nvPr>
            <p:ph type="title"/>
          </p:nvPr>
        </p:nvSpPr>
        <p:spPr>
          <a:xfrm>
            <a:off x="370115" y="250681"/>
            <a:ext cx="10515600" cy="598479"/>
          </a:xfrm>
        </p:spPr>
        <p:txBody>
          <a:bodyPr>
            <a:normAutofit/>
          </a:bodyPr>
          <a:lstStyle/>
          <a:p>
            <a:r>
              <a:rPr lang="en-US" sz="3200" b="1" dirty="0"/>
              <a:t>Toy Case – Heat Exchanger Plate</a:t>
            </a:r>
          </a:p>
        </p:txBody>
      </p:sp>
      <p:pic>
        <p:nvPicPr>
          <p:cNvPr id="5" name="Picture 4">
            <a:extLst>
              <a:ext uri="{FF2B5EF4-FFF2-40B4-BE49-F238E27FC236}">
                <a16:creationId xmlns:a16="http://schemas.microsoft.com/office/drawing/2014/main" id="{A377406A-CF93-0A7D-473F-871FBCDFCA7D}"/>
              </a:ext>
            </a:extLst>
          </p:cNvPr>
          <p:cNvPicPr>
            <a:picLocks noChangeAspect="1"/>
          </p:cNvPicPr>
          <p:nvPr/>
        </p:nvPicPr>
        <p:blipFill>
          <a:blip r:embed="rId2"/>
          <a:srcRect l="13586" r="26331"/>
          <a:stretch>
            <a:fillRect/>
          </a:stretch>
        </p:blipFill>
        <p:spPr>
          <a:xfrm>
            <a:off x="7214617" y="3062357"/>
            <a:ext cx="3564850" cy="4063273"/>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F197493-9461-8AF3-655A-75FF76FAAC15}"/>
                  </a:ext>
                </a:extLst>
              </p:cNvPr>
              <p:cNvSpPr txBox="1"/>
              <p:nvPr/>
            </p:nvSpPr>
            <p:spPr>
              <a:xfrm>
                <a:off x="370115" y="879020"/>
                <a:ext cx="7922077" cy="4666470"/>
              </a:xfrm>
              <a:prstGeom prst="rect">
                <a:avLst/>
              </a:prstGeom>
              <a:noFill/>
            </p:spPr>
            <p:txBody>
              <a:bodyPr wrap="square">
                <a:spAutoFit/>
              </a:bodyPr>
              <a:lstStyle/>
              <a:p>
                <a:pPr>
                  <a:spcBef>
                    <a:spcPts val="900"/>
                  </a:spcBef>
                  <a:spcAft>
                    <a:spcPts val="310"/>
                  </a:spcAft>
                </a:pPr>
                <a:r>
                  <a:rPr lang="en-US" dirty="0">
                    <a:latin typeface="Aptos" panose="020B0004020202020204" pitchFamily="34" charset="0"/>
                    <a:ea typeface="Cambria" panose="02040503050406030204" pitchFamily="18" charset="0"/>
                    <a:cs typeface="Times New Roman" panose="02020603050405020304" pitchFamily="18" charset="0"/>
                  </a:rPr>
                  <a:t>The generator solves a </a:t>
                </a:r>
                <a:r>
                  <a:rPr lang="en-US" b="1" dirty="0">
                    <a:latin typeface="Aptos" panose="020B0004020202020204" pitchFamily="34" charset="0"/>
                    <a:ea typeface="Cambria" panose="02040503050406030204" pitchFamily="18" charset="0"/>
                    <a:cs typeface="Times New Roman" panose="02020603050405020304" pitchFamily="18" charset="0"/>
                  </a:rPr>
                  <a:t>steady, nonlinear, nondimensional heat-conduction problem</a:t>
                </a:r>
                <a:r>
                  <a:rPr lang="en-US" dirty="0">
                    <a:latin typeface="Aptos" panose="020B0004020202020204" pitchFamily="34" charset="0"/>
                    <a:ea typeface="Cambria" panose="02040503050406030204" pitchFamily="18" charset="0"/>
                    <a:cs typeface="Times New Roman" panose="02020603050405020304" pitchFamily="18" charset="0"/>
                  </a:rPr>
                  <a:t> in the solid.  </a:t>
                </a:r>
                <a:endParaRPr lang="en-US" dirty="0"/>
              </a:p>
              <a:p>
                <a:pPr marL="0" marR="0">
                  <a:spcBef>
                    <a:spcPts val="900"/>
                  </a:spcBef>
                  <a:spcAft>
                    <a:spcPts val="310"/>
                  </a:spcAft>
                  <a:buNone/>
                </a:pPr>
                <a:r>
                  <a:rPr lang="en-US" sz="1800" dirty="0">
                    <a:effectLst/>
                    <a:latin typeface="Aptos" panose="020B0004020202020204" pitchFamily="34" charset="0"/>
                    <a:ea typeface="Cambria" panose="02040503050406030204" pitchFamily="18" charset="0"/>
                    <a:cs typeface="Times New Roman" panose="02020603050405020304" pitchFamily="18" charset="0"/>
                  </a:rPr>
                  <a:t>The nondimensional temperature (referred to as temperature) is</a:t>
                </a:r>
              </a:p>
              <a:p>
                <a:pPr marL="0" marR="0" algn="ctr">
                  <a:spcBef>
                    <a:spcPts val="50"/>
                  </a:spcBef>
                  <a:spcAft>
                    <a:spcPts val="250"/>
                  </a:spcAft>
                  <a:buNone/>
                </a:pPr>
                <a14:m>
                  <m:oMathPara xmlns:m="http://schemas.openxmlformats.org/officeDocument/2006/math">
                    <m:oMath>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f>
                        <m:f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fPr>
                        <m:num>
                          <m:r>
                            <a:rPr lang="en-US" sz="1800" i="1">
                              <a:effectLst/>
                              <a:latin typeface="Cambria Math" panose="02040503050406030204" pitchFamily="18" charset="0"/>
                              <a:ea typeface="Cambria" panose="02040503050406030204" pitchFamily="18" charset="0"/>
                              <a:cs typeface="Times New Roman" panose="02020603050405020304" pitchFamily="18" charset="0"/>
                            </a:rPr>
                            <m:t>𝑇</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𝑇</m:t>
                              </m:r>
                            </m:e>
                            <m:sub>
                              <m:r>
                                <a:rPr lang="en-US" sz="1800">
                                  <a:effectLst/>
                                  <a:latin typeface="Cambria Math" panose="02040503050406030204" pitchFamily="18" charset="0"/>
                                  <a:ea typeface="Cambria" panose="02040503050406030204" pitchFamily="18" charset="0"/>
                                  <a:cs typeface="Times New Roman" panose="02020603050405020304" pitchFamily="18" charset="0"/>
                                </a:rPr>
                                <m:t>∞</m:t>
                              </m:r>
                            </m:sub>
                          </m:sSub>
                        </m:num>
                        <m:den>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𝑇</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ℎ</m:t>
                              </m:r>
                            </m:sub>
                          </m:sSub>
                          <m:r>
                            <a:rPr lang="en-US" sz="1800">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𝑇</m:t>
                              </m:r>
                            </m:e>
                            <m:sub>
                              <m:r>
                                <a:rPr lang="en-US" sz="1800">
                                  <a:effectLst/>
                                  <a:latin typeface="Cambria Math" panose="02040503050406030204" pitchFamily="18" charset="0"/>
                                  <a:ea typeface="Cambria" panose="02040503050406030204" pitchFamily="18" charset="0"/>
                                  <a:cs typeface="Times New Roman" panose="02020603050405020304" pitchFamily="18" charset="0"/>
                                </a:rPr>
                                <m:t>∞</m:t>
                              </m:r>
                            </m:sub>
                          </m:sSub>
                        </m:den>
                      </m:f>
                      <m:r>
                        <a:rPr lang="en-US" sz="1800">
                          <a:effectLst/>
                          <a:latin typeface="Cambria Math" panose="02040503050406030204" pitchFamily="18" charset="0"/>
                          <a:ea typeface="Cambria" panose="02040503050406030204" pitchFamily="18" charset="0"/>
                          <a:cs typeface="Times New Roman" panose="02020603050405020304" pitchFamily="18" charset="0"/>
                        </a:rPr>
                        <m:t>.</m:t>
                      </m:r>
                    </m:oMath>
                  </m:oMathPara>
                </a14:m>
                <a:endParaRPr lang="en-US" sz="1800" dirty="0">
                  <a:effectLst/>
                  <a:latin typeface="Aptos" panose="020B0004020202020204" pitchFamily="34" charset="0"/>
                  <a:ea typeface="Cambria" panose="02040503050406030204" pitchFamily="18" charset="0"/>
                  <a:cs typeface="Times New Roman" panose="02020603050405020304" pitchFamily="18" charset="0"/>
                </a:endParaRPr>
              </a:p>
              <a:p>
                <a:pPr marL="0" marR="0">
                  <a:spcBef>
                    <a:spcPts val="900"/>
                  </a:spcBef>
                  <a:spcAft>
                    <a:spcPts val="310"/>
                  </a:spcAft>
                  <a:buNone/>
                </a:pPr>
                <a:r>
                  <a:rPr lang="en-US" sz="1800" dirty="0">
                    <a:effectLst/>
                    <a:latin typeface="Aptos" panose="020B0004020202020204" pitchFamily="34" charset="0"/>
                    <a:ea typeface="Cambria" panose="02040503050406030204" pitchFamily="18" charset="0"/>
                    <a:cs typeface="Times New Roman" panose="02020603050405020304" pitchFamily="18" charset="0"/>
                  </a:rPr>
                  <a:t>The governing nonlinear conduction equation is</a:t>
                </a:r>
              </a:p>
              <a:p>
                <a:pPr marL="0" marR="0" algn="ctr">
                  <a:spcBef>
                    <a:spcPts val="50"/>
                  </a:spcBef>
                  <a:spcAft>
                    <a:spcPts val="250"/>
                  </a:spcAft>
                  <a:buNone/>
                </a:pPr>
                <a14:m>
                  <m:oMathPara xmlns:m="http://schemas.openxmlformats.org/officeDocument/2006/math">
                    <m:oMath>
                      <m:r>
                        <a:rPr lang="en-US" sz="1800">
                          <a:effectLst/>
                          <a:latin typeface="Cambria Math" panose="02040503050406030204" pitchFamily="18" charset="0"/>
                          <a:ea typeface="Cambria" panose="02040503050406030204" pitchFamily="18" charset="0"/>
                          <a:cs typeface="Times New Roman" panose="02020603050405020304" pitchFamily="18" charset="0"/>
                        </a:rPr>
                        <m:t>−</m:t>
                      </m:r>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d>
                        <m:d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𝑘</m:t>
                          </m:r>
                          <m:d>
                            <m:d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e>
                          </m:d>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e>
                      </m:d>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0</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oMath>
                  </m:oMathPara>
                </a14:m>
                <a:endParaRPr lang="en-US" sz="1800" dirty="0">
                  <a:effectLst/>
                  <a:latin typeface="Aptos" panose="020B0004020202020204" pitchFamily="34" charset="0"/>
                  <a:ea typeface="Cambria" panose="02040503050406030204" pitchFamily="18" charset="0"/>
                  <a:cs typeface="Times New Roman" panose="02020603050405020304" pitchFamily="18" charset="0"/>
                </a:endParaRPr>
              </a:p>
              <a:p>
                <a:pPr marL="0" marR="0">
                  <a:spcBef>
                    <a:spcPts val="900"/>
                  </a:spcBef>
                  <a:spcAft>
                    <a:spcPts val="310"/>
                  </a:spcAft>
                  <a:buNone/>
                </a:pPr>
                <a:r>
                  <a:rPr lang="en-US" sz="1800" dirty="0">
                    <a:effectLst/>
                    <a:latin typeface="Aptos" panose="020B0004020202020204" pitchFamily="34" charset="0"/>
                    <a:ea typeface="Cambria" panose="02040503050406030204" pitchFamily="18" charset="0"/>
                    <a:cs typeface="Times New Roman" panose="02020603050405020304" pitchFamily="18" charset="0"/>
                  </a:rPr>
                  <a:t>with temperature-dependent conductivity</a:t>
                </a:r>
              </a:p>
              <a:p>
                <a:pPr marL="0" marR="0" algn="ctr">
                  <a:spcBef>
                    <a:spcPts val="50"/>
                  </a:spcBef>
                  <a:spcAft>
                    <a:spcPts val="250"/>
                  </a:spcAft>
                  <a:buNone/>
                </a:pPr>
                <a14:m>
                  <m:oMathPara xmlns:m="http://schemas.openxmlformats.org/officeDocument/2006/math">
                    <m:oMath>
                      <m:r>
                        <a:rPr lang="en-US" sz="1800" i="1">
                          <a:effectLst/>
                          <a:latin typeface="Cambria Math" panose="02040503050406030204" pitchFamily="18" charset="0"/>
                          <a:ea typeface="Cambria" panose="02040503050406030204" pitchFamily="18" charset="0"/>
                          <a:cs typeface="Times New Roman" panose="02020603050405020304" pitchFamily="18" charset="0"/>
                        </a:rPr>
                        <m:t>𝑘</m:t>
                      </m:r>
                      <m:d>
                        <m:d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e>
                      </m:d>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1</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𝑎</m:t>
                      </m:r>
                      <m:sSup>
                        <m:sSup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pPr>
                        <m:e>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e>
                        <m:sup>
                          <m:r>
                            <a:rPr lang="en-US" sz="1800" i="1">
                              <a:effectLst/>
                              <a:latin typeface="Cambria Math" panose="02040503050406030204" pitchFamily="18" charset="0"/>
                              <a:ea typeface="Cambria" panose="02040503050406030204" pitchFamily="18" charset="0"/>
                              <a:cs typeface="Times New Roman" panose="02020603050405020304" pitchFamily="18" charset="0"/>
                            </a:rPr>
                            <m:t>2</m:t>
                          </m:r>
                        </m:sup>
                      </m:sSup>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  </m:t>
                      </m:r>
                      <m:r>
                        <a:rPr lang="en-US" sz="1800" i="1">
                          <a:effectLst/>
                          <a:latin typeface="Cambria Math" panose="02040503050406030204" pitchFamily="18" charset="0"/>
                          <a:ea typeface="Cambria" panose="02040503050406030204" pitchFamily="18" charset="0"/>
                          <a:cs typeface="Times New Roman" panose="02020603050405020304" pitchFamily="18" charset="0"/>
                        </a:rPr>
                        <m:t>𝑎</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1.8</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oMath>
                  </m:oMathPara>
                </a14:m>
                <a:endParaRPr lang="en-US" sz="1800" dirty="0">
                  <a:effectLst/>
                  <a:latin typeface="Aptos" panose="020B0004020202020204" pitchFamily="34" charset="0"/>
                  <a:ea typeface="Cambria" panose="02040503050406030204" pitchFamily="18" charset="0"/>
                  <a:cs typeface="Times New Roman" panose="02020603050405020304" pitchFamily="18" charset="0"/>
                </a:endParaRPr>
              </a:p>
              <a:p>
                <a:pPr marL="0" marR="0">
                  <a:spcBef>
                    <a:spcPts val="900"/>
                  </a:spcBef>
                  <a:spcAft>
                    <a:spcPts val="310"/>
                  </a:spcAft>
                  <a:buNone/>
                </a:pPr>
                <a:r>
                  <a:rPr lang="en-US" sz="1800" dirty="0">
                    <a:effectLst/>
                    <a:latin typeface="Aptos" panose="020B0004020202020204" pitchFamily="34" charset="0"/>
                    <a:ea typeface="Cambria" panose="02040503050406030204" pitchFamily="18" charset="0"/>
                    <a:cs typeface="Times New Roman" panose="02020603050405020304" pitchFamily="18" charset="0"/>
                  </a:rPr>
                  <a:t>On the internal channel walls, the Dirichlet condition is </a:t>
                </a:r>
                <a14:m>
                  <m:oMath xmlns:m="http://schemas.openxmlformats.org/officeDocument/2006/math">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1</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oMath>
                </a14:m>
                <a:endParaRPr lang="en-US" sz="1800" dirty="0">
                  <a:effectLst/>
                  <a:latin typeface="Aptos" panose="020B0004020202020204" pitchFamily="34" charset="0"/>
                  <a:ea typeface="Cambria" panose="02040503050406030204" pitchFamily="18" charset="0"/>
                  <a:cs typeface="Times New Roman" panose="02020603050405020304" pitchFamily="18" charset="0"/>
                </a:endParaRPr>
              </a:p>
              <a:p>
                <a:pPr marL="0" marR="0">
                  <a:spcBef>
                    <a:spcPts val="900"/>
                  </a:spcBef>
                  <a:spcAft>
                    <a:spcPts val="310"/>
                  </a:spcAft>
                  <a:buNone/>
                </a:pPr>
                <a:r>
                  <a:rPr lang="en-US" sz="1800" dirty="0">
                    <a:effectLst/>
                    <a:latin typeface="Aptos" panose="020B0004020202020204" pitchFamily="34" charset="0"/>
                    <a:ea typeface="Cambria" panose="02040503050406030204" pitchFamily="18" charset="0"/>
                    <a:cs typeface="Times New Roman" panose="02020603050405020304" pitchFamily="18" charset="0"/>
                  </a:rPr>
                  <a:t>On all exterior faces, convection and radiation are imposed through the nonlinear Robin condition</a:t>
                </a:r>
              </a:p>
              <a:p>
                <a:pPr marL="0" marR="0" algn="ctr">
                  <a:spcBef>
                    <a:spcPts val="50"/>
                  </a:spcBef>
                  <a:spcAft>
                    <a:spcPts val="250"/>
                  </a:spcAft>
                  <a:buNone/>
                </a:pPr>
                <a14:m>
                  <m:oMathPara xmlns:m="http://schemas.openxmlformats.org/officeDocument/2006/math">
                    <m:oMath>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𝑘</m:t>
                      </m:r>
                      <m:d>
                        <m:d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e>
                      </m:d>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b="1">
                          <a:effectLst/>
                          <a:latin typeface="Cambria Math" panose="02040503050406030204" pitchFamily="18" charset="0"/>
                          <a:ea typeface="Cambria" panose="02040503050406030204" pitchFamily="18" charset="0"/>
                          <a:cs typeface="Times New Roman" panose="02020603050405020304" pitchFamily="18" charset="0"/>
                        </a:rPr>
                        <m:t>𝐧</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a:effectLst/>
                              <a:latin typeface="Cambria Math" panose="02040503050406030204" pitchFamily="18" charset="0"/>
                              <a:ea typeface="Cambria"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Bi</m:t>
                          </m:r>
                        </m:e>
                        <m:sub>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ext</m:t>
                          </m:r>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𝑅</m:t>
                      </m:r>
                      <m:d>
                        <m:dPr>
                          <m:begChr m:val="["/>
                          <m:endChr m:val="]"/>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sSup>
                            <m:sSup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pPr>
                            <m:e>
                              <m:d>
                                <m:d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dPr>
                                <m:e>
                                  <m:r>
                                    <a:rPr lang="en-US" sz="1800" i="1">
                                      <a:effectLst/>
                                      <a:latin typeface="Cambria Math" panose="02040503050406030204" pitchFamily="18" charset="0"/>
                                      <a:ea typeface="Cambria" panose="02040503050406030204" pitchFamily="18" charset="0"/>
                                      <a:cs typeface="Times New Roman" panose="02020603050405020304" pitchFamily="18" charset="0"/>
                                    </a:rPr>
                                    <m:t>𝜃</m:t>
                                  </m:r>
                                  <m:r>
                                    <a:rPr lang="en-US" sz="1800">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𝜏</m:t>
                                  </m:r>
                                </m:e>
                              </m:d>
                            </m:e>
                            <m:sup>
                              <m:r>
                                <a:rPr lang="en-US" sz="1800" i="1">
                                  <a:effectLst/>
                                  <a:latin typeface="Cambria Math" panose="02040503050406030204" pitchFamily="18" charset="0"/>
                                  <a:ea typeface="Cambria" panose="02040503050406030204" pitchFamily="18" charset="0"/>
                                  <a:cs typeface="Times New Roman" panose="02020603050405020304" pitchFamily="18" charset="0"/>
                                </a:rPr>
                                <m:t>4</m:t>
                              </m:r>
                            </m:sup>
                          </m:sSup>
                          <m:r>
                            <a:rPr lang="en-US" sz="1800">
                              <a:effectLst/>
                              <a:latin typeface="Cambria Math" panose="02040503050406030204" pitchFamily="18" charset="0"/>
                              <a:ea typeface="Cambria" panose="02040503050406030204" pitchFamily="18" charset="0"/>
                              <a:cs typeface="Times New Roman" panose="02020603050405020304" pitchFamily="18" charset="0"/>
                            </a:rPr>
                            <m:t>−</m:t>
                          </m:r>
                          <m:sSup>
                            <m:sSup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pPr>
                            <m:e>
                              <m:r>
                                <a:rPr lang="en-US" sz="1800" i="1">
                                  <a:effectLst/>
                                  <a:latin typeface="Cambria Math" panose="02040503050406030204" pitchFamily="18" charset="0"/>
                                  <a:ea typeface="Cambria" panose="02040503050406030204" pitchFamily="18" charset="0"/>
                                  <a:cs typeface="Times New Roman" panose="02020603050405020304" pitchFamily="18" charset="0"/>
                                </a:rPr>
                                <m:t>𝜏</m:t>
                              </m:r>
                            </m:e>
                            <m:sup>
                              <m:r>
                                <a:rPr lang="en-US" sz="1800" i="1">
                                  <a:effectLst/>
                                  <a:latin typeface="Cambria Math" panose="02040503050406030204" pitchFamily="18" charset="0"/>
                                  <a:ea typeface="Cambria" panose="02040503050406030204" pitchFamily="18" charset="0"/>
                                  <a:cs typeface="Times New Roman" panose="02020603050405020304" pitchFamily="18" charset="0"/>
                                </a:rPr>
                                <m:t>4</m:t>
                              </m:r>
                            </m:sup>
                          </m:sSup>
                        </m:e>
                      </m:d>
                      <m:r>
                        <a:rPr lang="en-US" sz="1800">
                          <a:effectLst/>
                          <a:latin typeface="Cambria Math" panose="02040503050406030204" pitchFamily="18" charset="0"/>
                          <a:ea typeface="Cambria" panose="02040503050406030204" pitchFamily="18" charset="0"/>
                          <a:cs typeface="Times New Roman" panose="02020603050405020304" pitchFamily="18" charset="0"/>
                        </a:rPr>
                        <m:t>.</m:t>
                      </m:r>
                    </m:oMath>
                  </m:oMathPara>
                </a14:m>
                <a:endParaRPr lang="en-US" sz="1800" dirty="0">
                  <a:effectLst/>
                  <a:latin typeface="Aptos" panose="020B0004020202020204" pitchFamily="34" charset="0"/>
                  <a:ea typeface="Cambria" panose="02040503050406030204" pitchFamily="18"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id="{9F197493-9461-8AF3-655A-75FF76FAAC15}"/>
                  </a:ext>
                </a:extLst>
              </p:cNvPr>
              <p:cNvSpPr txBox="1">
                <a:spLocks noRot="1" noChangeAspect="1" noMove="1" noResize="1" noEditPoints="1" noAdjustHandles="1" noChangeArrowheads="1" noChangeShapeType="1" noTextEdit="1"/>
              </p:cNvSpPr>
              <p:nvPr/>
            </p:nvSpPr>
            <p:spPr>
              <a:xfrm>
                <a:off x="370115" y="879020"/>
                <a:ext cx="7922077" cy="4666470"/>
              </a:xfrm>
              <a:prstGeom prst="rect">
                <a:avLst/>
              </a:prstGeom>
              <a:blipFill>
                <a:blip r:embed="rId3"/>
                <a:stretch>
                  <a:fillRect l="-801" t="-543"/>
                </a:stretch>
              </a:blipFill>
            </p:spPr>
            <p:txBody>
              <a:bodyPr/>
              <a:lstStyle/>
              <a:p>
                <a:r>
                  <a:rPr lang="en-US">
                    <a:noFill/>
                  </a:rPr>
                  <a:t> </a:t>
                </a:r>
              </a:p>
            </p:txBody>
          </p:sp>
        </mc:Fallback>
      </mc:AlternateContent>
      <p:pic>
        <p:nvPicPr>
          <p:cNvPr id="20" name="Picture 19">
            <a:extLst>
              <a:ext uri="{FF2B5EF4-FFF2-40B4-BE49-F238E27FC236}">
                <a16:creationId xmlns:a16="http://schemas.microsoft.com/office/drawing/2014/main" id="{169F7CB3-35FB-6B48-3344-0D573CD58AAE}"/>
              </a:ext>
            </a:extLst>
          </p:cNvPr>
          <p:cNvPicPr>
            <a:picLocks noChangeAspect="1"/>
          </p:cNvPicPr>
          <p:nvPr/>
        </p:nvPicPr>
        <p:blipFill>
          <a:blip r:embed="rId4"/>
          <a:stretch>
            <a:fillRect/>
          </a:stretch>
        </p:blipFill>
        <p:spPr>
          <a:xfrm>
            <a:off x="10779467" y="3897623"/>
            <a:ext cx="1050471" cy="2392740"/>
          </a:xfrm>
          <a:prstGeom prst="rect">
            <a:avLst/>
          </a:prstGeom>
        </p:spPr>
      </p:pic>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27DB12D4-1C9F-8DE5-B38F-3B9F5171339E}"/>
                  </a:ext>
                </a:extLst>
              </p:cNvPr>
              <p:cNvGraphicFramePr>
                <a:graphicFrameLocks noGrp="1"/>
              </p:cNvGraphicFramePr>
              <p:nvPr>
                <p:extLst>
                  <p:ext uri="{D42A27DB-BD31-4B8C-83A1-F6EECF244321}">
                    <p14:modId xmlns:p14="http://schemas.microsoft.com/office/powerpoint/2010/main" val="1523110355"/>
                  </p:ext>
                </p:extLst>
              </p:nvPr>
            </p:nvGraphicFramePr>
            <p:xfrm>
              <a:off x="7214617" y="1596232"/>
              <a:ext cx="4879412" cy="1783080"/>
            </p:xfrm>
            <a:graphic>
              <a:graphicData uri="http://schemas.openxmlformats.org/drawingml/2006/table">
                <a:tbl>
                  <a:tblPr firstRow="1" bandRow="1" bandCol="1">
                    <a:tableStyleId>{7E9639D4-E3E2-4D34-9284-5A2195B3D0D7}</a:tableStyleId>
                  </a:tblPr>
                  <a:tblGrid>
                    <a:gridCol w="1347399">
                      <a:extLst>
                        <a:ext uri="{9D8B030D-6E8A-4147-A177-3AD203B41FA5}">
                          <a16:colId xmlns:a16="http://schemas.microsoft.com/office/drawing/2014/main" val="3791503952"/>
                        </a:ext>
                      </a:extLst>
                    </a:gridCol>
                    <a:gridCol w="850300">
                      <a:extLst>
                        <a:ext uri="{9D8B030D-6E8A-4147-A177-3AD203B41FA5}">
                          <a16:colId xmlns:a16="http://schemas.microsoft.com/office/drawing/2014/main" val="502622470"/>
                        </a:ext>
                      </a:extLst>
                    </a:gridCol>
                    <a:gridCol w="2681713">
                      <a:extLst>
                        <a:ext uri="{9D8B030D-6E8A-4147-A177-3AD203B41FA5}">
                          <a16:colId xmlns:a16="http://schemas.microsoft.com/office/drawing/2014/main" val="2951982247"/>
                        </a:ext>
                      </a:extLst>
                    </a:gridCol>
                  </a:tblGrid>
                  <a:tr h="0">
                    <a:tc>
                      <a:txBody>
                        <a:bodyPr/>
                        <a:lstStyle/>
                        <a:p>
                          <a:pPr marL="0" marR="0" algn="ctr">
                            <a:spcBef>
                              <a:spcPts val="180"/>
                            </a:spcBef>
                            <a:spcAft>
                              <a:spcPts val="180"/>
                            </a:spcAft>
                            <a:buNone/>
                          </a:pPr>
                          <a:r>
                            <a:rPr lang="en-US" sz="1600" dirty="0">
                              <a:effectLst/>
                            </a:rPr>
                            <a:t>Physics coefficient</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Value</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Meaning</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38229099"/>
                      </a:ext>
                    </a:extLst>
                  </a:tr>
                  <a:tr h="0">
                    <a:tc>
                      <a:txBody>
                        <a:bodyPr/>
                        <a:lstStyle/>
                        <a:p>
                          <a:pPr marL="0" marR="0" algn="ctr">
                            <a:spcBef>
                              <a:spcPts val="180"/>
                            </a:spcBef>
                            <a:spcAft>
                              <a:spcPts val="180"/>
                            </a:spcAft>
                            <a:buNone/>
                          </a:pPr>
                          <a14:m>
                            <m:oMathPara xmlns:m="http://schemas.openxmlformats.org/officeDocument/2006/math">
                              <m:oMath>
                                <m:r>
                                  <a:rPr lang="en-US" sz="1600">
                                    <a:effectLst/>
                                  </a:rPr>
                                  <m:t>𝑎</m:t>
                                </m:r>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1.8</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nonlinear conductivity </a:t>
                          </a:r>
                          <a:r>
                            <a:rPr lang="en-US" sz="1600" dirty="0" err="1">
                              <a:effectLst/>
                            </a:rPr>
                            <a:t>coeff</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72265295"/>
                      </a:ext>
                    </a:extLst>
                  </a:tr>
                  <a:tr h="0">
                    <a:tc>
                      <a:txBody>
                        <a:bodyPr/>
                        <a:lstStyle/>
                        <a:p>
                          <a:pPr marL="0" marR="0" algn="ctr">
                            <a:spcBef>
                              <a:spcPts val="180"/>
                            </a:spcBef>
                            <a:spcAft>
                              <a:spcPts val="180"/>
                            </a:spcAft>
                            <a:buNone/>
                          </a:pPr>
                          <a14:m>
                            <m:oMathPara xmlns:m="http://schemas.openxmlformats.org/officeDocument/2006/math">
                              <m:oMath>
                                <m:sSub>
                                  <m:sSubPr>
                                    <m:ctrlPr>
                                      <a:rPr lang="en-US" sz="1600">
                                        <a:effectLst/>
                                      </a:rPr>
                                    </m:ctrlPr>
                                  </m:sSubPr>
                                  <m:e>
                                    <m:r>
                                      <m:rPr>
                                        <m:sty m:val="p"/>
                                      </m:rPr>
                                      <a:rPr lang="en-US" sz="1600">
                                        <a:effectLst/>
                                      </a:rPr>
                                      <m:t>Bi</m:t>
                                    </m:r>
                                  </m:e>
                                  <m:sub>
                                    <m:r>
                                      <m:rPr>
                                        <m:sty m:val="p"/>
                                      </m:rPr>
                                      <a:rPr lang="en-US" sz="1600">
                                        <a:effectLst/>
                                      </a:rPr>
                                      <m:t>ext</m:t>
                                    </m:r>
                                  </m:sub>
                                </m:sSub>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0.35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exterior convection </a:t>
                          </a:r>
                          <a:r>
                            <a:rPr lang="en-US" sz="1600" dirty="0" err="1">
                              <a:effectLst/>
                            </a:rPr>
                            <a:t>coeff</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9916539"/>
                      </a:ext>
                    </a:extLst>
                  </a:tr>
                  <a:tr h="0">
                    <a:tc>
                      <a:txBody>
                        <a:bodyPr/>
                        <a:lstStyle/>
                        <a:p>
                          <a:pPr marL="0" marR="0" algn="ctr">
                            <a:spcBef>
                              <a:spcPts val="180"/>
                            </a:spcBef>
                            <a:spcAft>
                              <a:spcPts val="180"/>
                            </a:spcAft>
                            <a:buNone/>
                          </a:pPr>
                          <a14:m>
                            <m:oMathPara xmlns:m="http://schemas.openxmlformats.org/officeDocument/2006/math">
                              <m:oMath>
                                <m:r>
                                  <a:rPr lang="en-US" sz="1600">
                                    <a:effectLst/>
                                  </a:rPr>
                                  <m:t>𝑅</m:t>
                                </m:r>
                              </m:oMath>
                            </m:oMathPara>
                          </a14:m>
                          <a:endParaRPr lang="en-US" sz="160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0.070</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Radiation </a:t>
                          </a:r>
                          <a:r>
                            <a:rPr lang="en-US" sz="1600" dirty="0" err="1">
                              <a:effectLst/>
                            </a:rPr>
                            <a:t>coeff</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49195994"/>
                      </a:ext>
                    </a:extLst>
                  </a:tr>
                  <a:tr h="0">
                    <a:tc>
                      <a:txBody>
                        <a:bodyPr/>
                        <a:lstStyle/>
                        <a:p>
                          <a:pPr marL="0" marR="0" algn="ctr">
                            <a:spcBef>
                              <a:spcPts val="180"/>
                            </a:spcBef>
                            <a:spcAft>
                              <a:spcPts val="180"/>
                            </a:spcAft>
                            <a:buNone/>
                          </a:pPr>
                          <a14:m>
                            <m:oMathPara xmlns:m="http://schemas.openxmlformats.org/officeDocument/2006/math">
                              <m:oMath>
                                <m:r>
                                  <a:rPr lang="en-US" sz="1600">
                                    <a:effectLst/>
                                  </a:rPr>
                                  <m:t>𝜏</m:t>
                                </m:r>
                              </m:oMath>
                            </m:oMathPara>
                          </a14:m>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1.5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ambient-temperature ratio in radiation term</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8798827"/>
                      </a:ext>
                    </a:extLst>
                  </a:tr>
                </a:tbl>
              </a:graphicData>
            </a:graphic>
          </p:graphicFrame>
        </mc:Choice>
        <mc:Fallback>
          <p:graphicFrame>
            <p:nvGraphicFramePr>
              <p:cNvPr id="6" name="Table 5">
                <a:extLst>
                  <a:ext uri="{FF2B5EF4-FFF2-40B4-BE49-F238E27FC236}">
                    <a16:creationId xmlns:a16="http://schemas.microsoft.com/office/drawing/2014/main" id="{27DB12D4-1C9F-8DE5-B38F-3B9F5171339E}"/>
                  </a:ext>
                </a:extLst>
              </p:cNvPr>
              <p:cNvGraphicFramePr>
                <a:graphicFrameLocks noGrp="1"/>
              </p:cNvGraphicFramePr>
              <p:nvPr>
                <p:extLst>
                  <p:ext uri="{D42A27DB-BD31-4B8C-83A1-F6EECF244321}">
                    <p14:modId xmlns:p14="http://schemas.microsoft.com/office/powerpoint/2010/main" val="1523110355"/>
                  </p:ext>
                </p:extLst>
              </p:nvPr>
            </p:nvGraphicFramePr>
            <p:xfrm>
              <a:off x="7214617" y="1596232"/>
              <a:ext cx="4879412" cy="1783080"/>
            </p:xfrm>
            <a:graphic>
              <a:graphicData uri="http://schemas.openxmlformats.org/drawingml/2006/table">
                <a:tbl>
                  <a:tblPr firstRow="1" bandRow="1" bandCol="1">
                    <a:tableStyleId>{7E9639D4-E3E2-4D34-9284-5A2195B3D0D7}</a:tableStyleId>
                  </a:tblPr>
                  <a:tblGrid>
                    <a:gridCol w="1347399">
                      <a:extLst>
                        <a:ext uri="{9D8B030D-6E8A-4147-A177-3AD203B41FA5}">
                          <a16:colId xmlns:a16="http://schemas.microsoft.com/office/drawing/2014/main" val="3791503952"/>
                        </a:ext>
                      </a:extLst>
                    </a:gridCol>
                    <a:gridCol w="850300">
                      <a:extLst>
                        <a:ext uri="{9D8B030D-6E8A-4147-A177-3AD203B41FA5}">
                          <a16:colId xmlns:a16="http://schemas.microsoft.com/office/drawing/2014/main" val="502622470"/>
                        </a:ext>
                      </a:extLst>
                    </a:gridCol>
                    <a:gridCol w="2681713">
                      <a:extLst>
                        <a:ext uri="{9D8B030D-6E8A-4147-A177-3AD203B41FA5}">
                          <a16:colId xmlns:a16="http://schemas.microsoft.com/office/drawing/2014/main" val="2951982247"/>
                        </a:ext>
                      </a:extLst>
                    </a:gridCol>
                  </a:tblGrid>
                  <a:tr h="487680">
                    <a:tc>
                      <a:txBody>
                        <a:bodyPr/>
                        <a:lstStyle/>
                        <a:p>
                          <a:pPr marL="0" marR="0" algn="ctr">
                            <a:spcBef>
                              <a:spcPts val="180"/>
                            </a:spcBef>
                            <a:spcAft>
                              <a:spcPts val="180"/>
                            </a:spcAft>
                            <a:buNone/>
                          </a:pPr>
                          <a:r>
                            <a:rPr lang="en-US" sz="1600" dirty="0">
                              <a:effectLst/>
                            </a:rPr>
                            <a:t>Physics coefficient</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Value</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Meaning</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38229099"/>
                      </a:ext>
                    </a:extLst>
                  </a:tr>
                  <a:tr h="269240">
                    <a:tc>
                      <a:txBody>
                        <a:bodyPr/>
                        <a:lstStyle/>
                        <a:p>
                          <a:endParaRPr lang="en-US"/>
                        </a:p>
                      </a:txBody>
                      <a:tcPr marL="68580" marR="68580" marT="0" marB="0" anchor="ctr">
                        <a:blipFill>
                          <a:blip r:embed="rId5"/>
                          <a:stretch>
                            <a:fillRect l="-943" t="-209524" r="-264151" b="-433333"/>
                          </a:stretch>
                        </a:blipFill>
                      </a:tcPr>
                    </a:tc>
                    <a:tc>
                      <a:txBody>
                        <a:bodyPr/>
                        <a:lstStyle/>
                        <a:p>
                          <a:pPr marL="0" marR="0" algn="ctr">
                            <a:spcBef>
                              <a:spcPts val="180"/>
                            </a:spcBef>
                            <a:spcAft>
                              <a:spcPts val="180"/>
                            </a:spcAft>
                            <a:buNone/>
                          </a:pPr>
                          <a:r>
                            <a:rPr lang="en-US" sz="1600" dirty="0">
                              <a:effectLst/>
                            </a:rPr>
                            <a:t>1.8</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nonlinear conductivity </a:t>
                          </a:r>
                          <a:r>
                            <a:rPr lang="en-US" sz="1600" dirty="0" err="1">
                              <a:effectLst/>
                            </a:rPr>
                            <a:t>coeff</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72265295"/>
                      </a:ext>
                    </a:extLst>
                  </a:tr>
                  <a:tr h="269240">
                    <a:tc>
                      <a:txBody>
                        <a:bodyPr/>
                        <a:lstStyle/>
                        <a:p>
                          <a:endParaRPr lang="en-US"/>
                        </a:p>
                      </a:txBody>
                      <a:tcPr marL="68580" marR="68580" marT="0" marB="0" anchor="ctr">
                        <a:blipFill>
                          <a:blip r:embed="rId5"/>
                          <a:stretch>
                            <a:fillRect l="-943" t="-295455" r="-264151" b="-313636"/>
                          </a:stretch>
                        </a:blipFill>
                      </a:tcPr>
                    </a:tc>
                    <a:tc>
                      <a:txBody>
                        <a:bodyPr/>
                        <a:lstStyle/>
                        <a:p>
                          <a:pPr marL="0" marR="0" algn="ctr">
                            <a:spcBef>
                              <a:spcPts val="180"/>
                            </a:spcBef>
                            <a:spcAft>
                              <a:spcPts val="180"/>
                            </a:spcAft>
                            <a:buNone/>
                          </a:pPr>
                          <a:r>
                            <a:rPr lang="en-US" sz="1600" dirty="0">
                              <a:effectLst/>
                            </a:rPr>
                            <a:t>0.35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exterior convection </a:t>
                          </a:r>
                          <a:r>
                            <a:rPr lang="en-US" sz="1600" dirty="0" err="1">
                              <a:effectLst/>
                            </a:rPr>
                            <a:t>coeff</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9916539"/>
                      </a:ext>
                    </a:extLst>
                  </a:tr>
                  <a:tr h="269240">
                    <a:tc>
                      <a:txBody>
                        <a:bodyPr/>
                        <a:lstStyle/>
                        <a:p>
                          <a:endParaRPr lang="en-US"/>
                        </a:p>
                      </a:txBody>
                      <a:tcPr marL="68580" marR="68580" marT="0" marB="0" anchor="ctr">
                        <a:blipFill>
                          <a:blip r:embed="rId5"/>
                          <a:stretch>
                            <a:fillRect l="-943" t="-414286" r="-264151" b="-228571"/>
                          </a:stretch>
                        </a:blipFill>
                      </a:tcPr>
                    </a:tc>
                    <a:tc>
                      <a:txBody>
                        <a:bodyPr/>
                        <a:lstStyle/>
                        <a:p>
                          <a:pPr marL="0" marR="0" algn="ctr">
                            <a:spcBef>
                              <a:spcPts val="180"/>
                            </a:spcBef>
                            <a:spcAft>
                              <a:spcPts val="180"/>
                            </a:spcAft>
                            <a:buNone/>
                          </a:pPr>
                          <a:r>
                            <a:rPr lang="en-US" sz="1600" dirty="0">
                              <a:effectLst/>
                            </a:rPr>
                            <a:t>0.070</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Radiation </a:t>
                          </a:r>
                          <a:r>
                            <a:rPr lang="en-US" sz="1600" dirty="0" err="1">
                              <a:effectLst/>
                            </a:rPr>
                            <a:t>coeff</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49195994"/>
                      </a:ext>
                    </a:extLst>
                  </a:tr>
                  <a:tr h="487680">
                    <a:tc>
                      <a:txBody>
                        <a:bodyPr/>
                        <a:lstStyle/>
                        <a:p>
                          <a:endParaRPr lang="en-US"/>
                        </a:p>
                      </a:txBody>
                      <a:tcPr marL="68580" marR="68580" marT="0" marB="0" anchor="ctr">
                        <a:blipFill>
                          <a:blip r:embed="rId5"/>
                          <a:stretch>
                            <a:fillRect l="-943" t="-276923" r="-264151" b="-23077"/>
                          </a:stretch>
                        </a:blipFill>
                      </a:tcPr>
                    </a:tc>
                    <a:tc>
                      <a:txBody>
                        <a:bodyPr/>
                        <a:lstStyle/>
                        <a:p>
                          <a:pPr marL="0" marR="0" algn="ctr">
                            <a:spcBef>
                              <a:spcPts val="180"/>
                            </a:spcBef>
                            <a:spcAft>
                              <a:spcPts val="180"/>
                            </a:spcAft>
                            <a:buNone/>
                          </a:pPr>
                          <a:r>
                            <a:rPr lang="en-US" sz="1600" dirty="0">
                              <a:effectLst/>
                            </a:rPr>
                            <a:t>1.5</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180"/>
                            </a:spcBef>
                            <a:spcAft>
                              <a:spcPts val="180"/>
                            </a:spcAft>
                            <a:buNone/>
                          </a:pPr>
                          <a:r>
                            <a:rPr lang="en-US" sz="1600" dirty="0">
                              <a:effectLst/>
                            </a:rPr>
                            <a:t>ambient-temperature ratio in radiation term</a:t>
                          </a:r>
                          <a:endParaRPr lang="en-US" sz="1600" dirty="0">
                            <a:effectLst/>
                            <a:latin typeface="Aptos" panose="020B0004020202020204" pitchFamily="34"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8798827"/>
                      </a:ext>
                    </a:extLst>
                  </a:tr>
                </a:tbl>
              </a:graphicData>
            </a:graphic>
          </p:graphicFrame>
        </mc:Fallback>
      </mc:AlternateContent>
    </p:spTree>
    <p:extLst>
      <p:ext uri="{BB962C8B-B14F-4D97-AF65-F5344CB8AC3E}">
        <p14:creationId xmlns:p14="http://schemas.microsoft.com/office/powerpoint/2010/main" val="2697952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61752-EF1F-05D2-ECFC-754EFA8E5F39}"/>
              </a:ext>
            </a:extLst>
          </p:cNvPr>
          <p:cNvSpPr>
            <a:spLocks noGrp="1"/>
          </p:cNvSpPr>
          <p:nvPr>
            <p:ph type="title"/>
          </p:nvPr>
        </p:nvSpPr>
        <p:spPr>
          <a:xfrm>
            <a:off x="482899" y="42027"/>
            <a:ext cx="10515600" cy="701675"/>
          </a:xfrm>
        </p:spPr>
        <p:txBody>
          <a:bodyPr>
            <a:normAutofit/>
          </a:bodyPr>
          <a:lstStyle/>
          <a:p>
            <a:r>
              <a:rPr lang="en-US" sz="2800" b="1" dirty="0"/>
              <a:t>SATLOSS Performance</a:t>
            </a:r>
          </a:p>
        </p:txBody>
      </p:sp>
      <p:pic>
        <p:nvPicPr>
          <p:cNvPr id="5" name="Picture 4">
            <a:extLst>
              <a:ext uri="{FF2B5EF4-FFF2-40B4-BE49-F238E27FC236}">
                <a16:creationId xmlns:a16="http://schemas.microsoft.com/office/drawing/2014/main" id="{415A1AA3-B6A4-2268-EF74-6472AE2C24A4}"/>
              </a:ext>
            </a:extLst>
          </p:cNvPr>
          <p:cNvPicPr>
            <a:picLocks noChangeAspect="1"/>
          </p:cNvPicPr>
          <p:nvPr/>
        </p:nvPicPr>
        <p:blipFill>
          <a:blip r:embed="rId2"/>
          <a:srcRect l="6840" t="5989" r="23899"/>
          <a:stretch>
            <a:fillRect/>
          </a:stretch>
        </p:blipFill>
        <p:spPr>
          <a:xfrm>
            <a:off x="482899" y="1545771"/>
            <a:ext cx="11636829" cy="5297887"/>
          </a:xfrm>
          <a:prstGeom prst="rect">
            <a:avLst/>
          </a:prstGeom>
        </p:spPr>
      </p:pic>
      <p:pic>
        <p:nvPicPr>
          <p:cNvPr id="6" name="Picture 5">
            <a:extLst>
              <a:ext uri="{FF2B5EF4-FFF2-40B4-BE49-F238E27FC236}">
                <a16:creationId xmlns:a16="http://schemas.microsoft.com/office/drawing/2014/main" id="{2618459F-F877-7AE7-6F9E-3629B7E6519C}"/>
              </a:ext>
            </a:extLst>
          </p:cNvPr>
          <p:cNvPicPr>
            <a:picLocks noChangeAspect="1"/>
          </p:cNvPicPr>
          <p:nvPr/>
        </p:nvPicPr>
        <p:blipFill>
          <a:blip r:embed="rId2"/>
          <a:srcRect l="-1297" r="97372" b="18331"/>
          <a:stretch>
            <a:fillRect/>
          </a:stretch>
        </p:blipFill>
        <p:spPr>
          <a:xfrm>
            <a:off x="-104396" y="1334659"/>
            <a:ext cx="659567" cy="4602338"/>
          </a:xfrm>
          <a:prstGeom prst="rect">
            <a:avLst/>
          </a:prstGeom>
        </p:spPr>
      </p:pic>
      <p:pic>
        <p:nvPicPr>
          <p:cNvPr id="7" name="Picture 6">
            <a:extLst>
              <a:ext uri="{FF2B5EF4-FFF2-40B4-BE49-F238E27FC236}">
                <a16:creationId xmlns:a16="http://schemas.microsoft.com/office/drawing/2014/main" id="{E3820029-9AC8-C61C-11C0-3C1EEB2B13E0}"/>
              </a:ext>
            </a:extLst>
          </p:cNvPr>
          <p:cNvPicPr>
            <a:picLocks noChangeAspect="1"/>
          </p:cNvPicPr>
          <p:nvPr/>
        </p:nvPicPr>
        <p:blipFill>
          <a:blip r:embed="rId2"/>
          <a:srcRect l="76198" t="6974" r="465" b="48338"/>
          <a:stretch>
            <a:fillRect/>
          </a:stretch>
        </p:blipFill>
        <p:spPr>
          <a:xfrm>
            <a:off x="8499422" y="1757228"/>
            <a:ext cx="3397770" cy="2182152"/>
          </a:xfrm>
          <a:prstGeom prst="rect">
            <a:avLst/>
          </a:prstGeom>
        </p:spPr>
      </p:pic>
      <p:pic>
        <p:nvPicPr>
          <p:cNvPr id="9" name="Picture 8">
            <a:extLst>
              <a:ext uri="{FF2B5EF4-FFF2-40B4-BE49-F238E27FC236}">
                <a16:creationId xmlns:a16="http://schemas.microsoft.com/office/drawing/2014/main" id="{54BBB92F-4BE1-5161-D92A-57B8529BBC6C}"/>
              </a:ext>
            </a:extLst>
          </p:cNvPr>
          <p:cNvPicPr>
            <a:picLocks noChangeAspect="1"/>
          </p:cNvPicPr>
          <p:nvPr/>
        </p:nvPicPr>
        <p:blipFill>
          <a:blip r:embed="rId3"/>
          <a:srcRect l="28273" r="28011"/>
          <a:stretch>
            <a:fillRect/>
          </a:stretch>
        </p:blipFill>
        <p:spPr>
          <a:xfrm>
            <a:off x="2103810" y="975982"/>
            <a:ext cx="2158162" cy="2553515"/>
          </a:xfrm>
          <a:prstGeom prst="rect">
            <a:avLst/>
          </a:prstGeom>
        </p:spPr>
      </p:pic>
      <p:pic>
        <p:nvPicPr>
          <p:cNvPr id="11" name="Picture 10">
            <a:extLst>
              <a:ext uri="{FF2B5EF4-FFF2-40B4-BE49-F238E27FC236}">
                <a16:creationId xmlns:a16="http://schemas.microsoft.com/office/drawing/2014/main" id="{698D2BBA-CC22-A9B3-18D6-2DE6300E4837}"/>
              </a:ext>
            </a:extLst>
          </p:cNvPr>
          <p:cNvPicPr>
            <a:picLocks noChangeAspect="1"/>
          </p:cNvPicPr>
          <p:nvPr/>
        </p:nvPicPr>
        <p:blipFill>
          <a:blip r:embed="rId4"/>
          <a:srcRect l="28432" r="28011"/>
          <a:stretch>
            <a:fillRect/>
          </a:stretch>
        </p:blipFill>
        <p:spPr>
          <a:xfrm>
            <a:off x="4261972" y="975983"/>
            <a:ext cx="2150341" cy="2553515"/>
          </a:xfrm>
          <a:prstGeom prst="rect">
            <a:avLst/>
          </a:prstGeom>
        </p:spPr>
      </p:pic>
      <p:sp>
        <p:nvSpPr>
          <p:cNvPr id="12" name="TextBox 11">
            <a:extLst>
              <a:ext uri="{FF2B5EF4-FFF2-40B4-BE49-F238E27FC236}">
                <a16:creationId xmlns:a16="http://schemas.microsoft.com/office/drawing/2014/main" id="{7E28B32C-4E34-8182-410A-7499687232D6}"/>
              </a:ext>
            </a:extLst>
          </p:cNvPr>
          <p:cNvSpPr txBox="1"/>
          <p:nvPr/>
        </p:nvSpPr>
        <p:spPr>
          <a:xfrm>
            <a:off x="2435017" y="787033"/>
            <a:ext cx="1794297" cy="369332"/>
          </a:xfrm>
          <a:prstGeom prst="rect">
            <a:avLst/>
          </a:prstGeom>
          <a:noFill/>
        </p:spPr>
        <p:txBody>
          <a:bodyPr wrap="square" rtlCol="0">
            <a:spAutoFit/>
          </a:bodyPr>
          <a:lstStyle/>
          <a:p>
            <a:r>
              <a:rPr lang="en-US" dirty="0"/>
              <a:t>Original mesh</a:t>
            </a:r>
          </a:p>
        </p:txBody>
      </p:sp>
      <p:sp>
        <p:nvSpPr>
          <p:cNvPr id="13" name="TextBox 12">
            <a:extLst>
              <a:ext uri="{FF2B5EF4-FFF2-40B4-BE49-F238E27FC236}">
                <a16:creationId xmlns:a16="http://schemas.microsoft.com/office/drawing/2014/main" id="{2F23E17F-F27E-1DE8-202E-23BEAC2AD286}"/>
              </a:ext>
            </a:extLst>
          </p:cNvPr>
          <p:cNvSpPr txBox="1"/>
          <p:nvPr/>
        </p:nvSpPr>
        <p:spPr>
          <a:xfrm>
            <a:off x="4415927" y="787033"/>
            <a:ext cx="2450801" cy="369332"/>
          </a:xfrm>
          <a:prstGeom prst="rect">
            <a:avLst/>
          </a:prstGeom>
          <a:noFill/>
        </p:spPr>
        <p:txBody>
          <a:bodyPr wrap="square" rtlCol="0">
            <a:spAutoFit/>
          </a:bodyPr>
          <a:lstStyle/>
          <a:p>
            <a:r>
              <a:rPr lang="en-US" dirty="0"/>
              <a:t>Decimated mesh</a:t>
            </a:r>
          </a:p>
        </p:txBody>
      </p:sp>
    </p:spTree>
    <p:extLst>
      <p:ext uri="{BB962C8B-B14F-4D97-AF65-F5344CB8AC3E}">
        <p14:creationId xmlns:p14="http://schemas.microsoft.com/office/powerpoint/2010/main" val="3876293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2134</TotalTime>
  <Words>1737</Words>
  <Application>Microsoft Macintosh PowerPoint</Application>
  <PresentationFormat>Widescreen</PresentationFormat>
  <Paragraphs>129</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Cambria Math</vt:lpstr>
      <vt:lpstr>Office Theme</vt:lpstr>
      <vt:lpstr>Meeting 19.08.2026</vt:lpstr>
      <vt:lpstr>Mathematical Reason behind the sensitivity</vt:lpstr>
      <vt:lpstr>Defining the basics - Input</vt:lpstr>
      <vt:lpstr>Defining the basics - output</vt:lpstr>
      <vt:lpstr>Hypothesis about density sensitivity </vt:lpstr>
      <vt:lpstr>Hypothesis about density sensitivity – Neural Operator</vt:lpstr>
      <vt:lpstr>Hypothesis about density sensitivity – Local Aggregation with Ball</vt:lpstr>
      <vt:lpstr>Hypothesis about density sensitivity – Local Aggregation with KNN</vt:lpstr>
      <vt:lpstr>Hypothesis about density sensitivity – Voxelization</vt:lpstr>
      <vt:lpstr>Proposed solution</vt:lpstr>
      <vt:lpstr>Proposed solution</vt:lpstr>
      <vt:lpstr>Proposed solution</vt:lpstr>
      <vt:lpstr>If both views are supervised, why is consistency needed?</vt:lpstr>
      <vt:lpstr>Example of the gradient provided by each of the losses during training  Worth noting that this is PCA, and the size of each of the vectors doesn’t represent the actual size of the gradient.  It‘s clear that the consistency loss (purple) is not aligned with views 1 (blue) and view 2 (orange). It also shifts the average of their gradients toward itself  Green is the gradient with consistency loss, and black is without consistency loss.</vt:lpstr>
      <vt:lpstr>Toy Case – Heat Exchanger Plate</vt:lpstr>
      <vt:lpstr>Toy Case – Heat Exchanger Plate</vt:lpstr>
      <vt:lpstr>SATLOSS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Parsa Vatani</dc:creator>
  <cp:lastModifiedBy>Parsa Vatani</cp:lastModifiedBy>
  <cp:revision>2</cp:revision>
  <dcterms:created xsi:type="dcterms:W3CDTF">2026-08-19T09:44:51Z</dcterms:created>
  <dcterms:modified xsi:type="dcterms:W3CDTF">2026-08-20T21:19:22Z</dcterms:modified>
</cp:coreProperties>
</file>