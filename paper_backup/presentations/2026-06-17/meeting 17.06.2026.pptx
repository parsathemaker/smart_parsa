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000000"/>
          </p15:clr>
        </p15:guide>
        <p15:guide id="2" orient="horz" pos="2160">
          <p15:clr>
            <a:srgbClr val="000000"/>
          </p15:clr>
        </p15:guide>
      </p15:sldGuideLst>
    </p:ext>
    <p:ext uri="GoogleSlidesCustomDataVersion2">
      <go:slidesCustomData xmlns:go="http://customooxmlschemas.google.com/" r:id="rId25" roundtripDataSignature="AMtx7mjXewwXhxXdSQQ4IBlFZTKH41+Q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c2f089cdd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c2f089cdd_0_1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ec2f089cdd_0_1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c2f089cd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ec2f089cdd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ec2f089cdd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c2f089cd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c2f089cdd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ec2f089cdd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c2f089cdd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c2f089cdd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ec2f089cdd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c2f089cdd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c2f089cdd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ec2f089cdd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ec2f089cdd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ec2f089cdd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ec2f089cdd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c2f089cdd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ec2f089cdd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ec2f089cdd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ec2f089cdd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ec2f089cdd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ec2f089cdd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4"/>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4"/>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2.png"/><Relationship Id="rId5" Type="http://schemas.openxmlformats.org/officeDocument/2006/relationships/image" Target="../media/image4.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34.png"/><Relationship Id="rId7"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3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37.png"/><Relationship Id="rId8"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5.png"/><Relationship Id="rId9"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5200"/>
              <a:buFont typeface="Arial"/>
              <a:buNone/>
            </a:pPr>
            <a:r>
              <a:rPr b="0" i="0" lang="en-US" sz="5200" u="none">
                <a:solidFill>
                  <a:srgbClr val="000000"/>
                </a:solidFill>
                <a:latin typeface="Arial"/>
                <a:ea typeface="Arial"/>
                <a:cs typeface="Arial"/>
                <a:sym typeface="Arial"/>
              </a:rPr>
              <a:t>Meeting 17.06.2026</a:t>
            </a:r>
            <a:endParaRPr/>
          </a:p>
        </p:txBody>
      </p:sp>
      <p:sp>
        <p:nvSpPr>
          <p:cNvPr id="90" name="Google Shape;90;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595959"/>
              </a:buClr>
              <a:buSzPts val="2800"/>
              <a:buNone/>
            </a:pPr>
            <a:r>
              <a:rPr b="0" i="0" lang="en-US" sz="2800" u="none">
                <a:solidFill>
                  <a:srgbClr val="595959"/>
                </a:solidFill>
                <a:latin typeface="Arial"/>
                <a:ea typeface="Arial"/>
                <a:cs typeface="Arial"/>
                <a:sym typeface="Arial"/>
              </a:rPr>
              <a:t>Update meeting with Parsa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447499" y="2371327"/>
            <a:ext cx="11370468" cy="2006202"/>
          </a:xfrm>
          <a:prstGeom prst="rect">
            <a:avLst/>
          </a:prstGeom>
          <a:noFill/>
          <a:ln>
            <a:noFill/>
          </a:ln>
        </p:spPr>
        <p:txBody>
          <a:bodyPr anchorCtr="0" anchor="ctr" bIns="45700" lIns="91425" spcFirstLastPara="1" rIns="91425" wrap="square" tIns="45700">
            <a:normAutofit fontScale="95000" lnSpcReduction="1000"/>
          </a:bodyPr>
          <a:lstStyle/>
          <a:p>
            <a:pPr indent="0" lvl="0" marL="0" rtl="0" algn="l">
              <a:lnSpc>
                <a:spcPct val="90000"/>
              </a:lnSpc>
              <a:spcBef>
                <a:spcPts val="0"/>
              </a:spcBef>
              <a:spcAft>
                <a:spcPts val="0"/>
              </a:spcAft>
              <a:buClr>
                <a:schemeClr val="dk1"/>
              </a:buClr>
              <a:buSzPct val="100000"/>
              <a:buFont typeface="Arial"/>
              <a:buNone/>
            </a:pPr>
            <a:r>
              <a:rPr lang="en-US"/>
              <a:t>Chapter 1: Is GMP/SMART sample agnostic or point sampling strategy makes a noticeable change in predictions and accuracy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3ec2f089cdd_0_103"/>
          <p:cNvPicPr preferRelativeResize="0"/>
          <p:nvPr/>
        </p:nvPicPr>
        <p:blipFill>
          <a:blip r:embed="rId3">
            <a:alphaModFix/>
          </a:blip>
          <a:stretch>
            <a:fillRect/>
          </a:stretch>
        </p:blipFill>
        <p:spPr>
          <a:xfrm>
            <a:off x="0" y="0"/>
            <a:ext cx="12191990"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 name="Shape 107"/>
        <p:cNvGrpSpPr/>
        <p:nvPr/>
      </p:nvGrpSpPr>
      <p:grpSpPr>
        <a:xfrm>
          <a:off x="0" y="0"/>
          <a:ext cx="0" cy="0"/>
          <a:chOff x="0" y="0"/>
          <a:chExt cx="0" cy="0"/>
        </a:xfrm>
      </p:grpSpPr>
      <p:sp>
        <p:nvSpPr>
          <p:cNvPr id="108" name="Google Shape;108;p3"/>
          <p:cNvSpPr txBox="1"/>
          <p:nvPr>
            <p:ph type="title"/>
          </p:nvPr>
        </p:nvSpPr>
        <p:spPr>
          <a:xfrm>
            <a:off x="838199" y="365124"/>
            <a:ext cx="10515600" cy="438546"/>
          </a:xfrm>
          <a:prstGeom prst="rect">
            <a:avLst/>
          </a:prstGeom>
          <a:noFill/>
          <a:ln>
            <a:noFill/>
          </a:ln>
        </p:spPr>
        <p:txBody>
          <a:bodyPr anchorCtr="0" anchor="ctr" bIns="45700" lIns="91425" spcFirstLastPara="1" rIns="91425" wrap="square" tIns="45700">
            <a:normAutofit fontScale="90000" lnSpcReduction="2000"/>
          </a:bodyPr>
          <a:lstStyle/>
          <a:p>
            <a:pPr indent="0" lvl="0" marL="0" rtl="0" algn="l">
              <a:lnSpc>
                <a:spcPct val="90000"/>
              </a:lnSpc>
              <a:spcBef>
                <a:spcPts val="0"/>
              </a:spcBef>
              <a:spcAft>
                <a:spcPts val="0"/>
              </a:spcAft>
              <a:buClr>
                <a:schemeClr val="dk1"/>
              </a:buClr>
              <a:buSzPct val="100000"/>
              <a:buFont typeface="Arial"/>
              <a:buNone/>
            </a:pPr>
            <a:r>
              <a:rPr lang="en-US"/>
              <a:t>Motivation</a:t>
            </a:r>
            <a:endParaRPr/>
          </a:p>
        </p:txBody>
      </p:sp>
      <p:sp>
        <p:nvSpPr>
          <p:cNvPr id="109" name="Google Shape;109;p3"/>
          <p:cNvSpPr txBox="1"/>
          <p:nvPr>
            <p:ph idx="1" type="body"/>
          </p:nvPr>
        </p:nvSpPr>
        <p:spPr>
          <a:xfrm>
            <a:off x="838199" y="1021952"/>
            <a:ext cx="10515600" cy="458271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Char char="•"/>
            </a:pPr>
            <a:r>
              <a:rPr lang="en-US" sz="2000"/>
              <a:t>When we are making prediction y for an input geometry , our prediction is expected to be . However geometries are first preprocessed into a pointcloud  and then they are fed to the model. So what we get is actually . Not having access to the poses a challenge for an ideal prediction if the network is not agnostic to how  behaves.</a:t>
            </a:r>
            <a:br>
              <a:rPr lang="en-US" sz="2000"/>
            </a:br>
            <a:r>
              <a:rPr lang="en-US" sz="2000"/>
              <a:t>We need to test whether for two different sampling strategy  or not.</a:t>
            </a:r>
            <a:endParaRPr sz="2000"/>
          </a:p>
        </p:txBody>
      </p:sp>
      <p:pic>
        <p:nvPicPr>
          <p:cNvPr id="110" name="Google Shape;110;p3"/>
          <p:cNvPicPr preferRelativeResize="0"/>
          <p:nvPr/>
        </p:nvPicPr>
        <p:blipFill rotWithShape="1">
          <a:blip r:embed="rId3">
            <a:alphaModFix/>
          </a:blip>
          <a:srcRect b="32002" l="3611" r="4433" t="21556"/>
          <a:stretch/>
        </p:blipFill>
        <p:spPr>
          <a:xfrm>
            <a:off x="258984" y="4499872"/>
            <a:ext cx="2539999" cy="1104796"/>
          </a:xfrm>
          <a:prstGeom prst="rect">
            <a:avLst/>
          </a:prstGeom>
          <a:noFill/>
          <a:ln>
            <a:noFill/>
          </a:ln>
        </p:spPr>
      </p:pic>
      <p:pic>
        <p:nvPicPr>
          <p:cNvPr id="111" name="Google Shape;111;p3"/>
          <p:cNvPicPr preferRelativeResize="0"/>
          <p:nvPr/>
        </p:nvPicPr>
        <p:blipFill rotWithShape="1">
          <a:blip r:embed="rId4">
            <a:alphaModFix/>
          </a:blip>
          <a:srcRect b="32147" l="3860" r="4931" t="21412"/>
          <a:stretch/>
        </p:blipFill>
        <p:spPr>
          <a:xfrm>
            <a:off x="3731640" y="3207774"/>
            <a:ext cx="2539999" cy="1113852"/>
          </a:xfrm>
          <a:prstGeom prst="rect">
            <a:avLst/>
          </a:prstGeom>
          <a:noFill/>
          <a:ln>
            <a:noFill/>
          </a:ln>
        </p:spPr>
      </p:pic>
      <p:pic>
        <p:nvPicPr>
          <p:cNvPr id="112" name="Google Shape;112;p3"/>
          <p:cNvPicPr preferRelativeResize="0"/>
          <p:nvPr/>
        </p:nvPicPr>
        <p:blipFill rotWithShape="1">
          <a:blip r:embed="rId5">
            <a:alphaModFix/>
          </a:blip>
          <a:srcRect b="32870" l="4109" r="5180" t="21412"/>
          <a:stretch/>
        </p:blipFill>
        <p:spPr>
          <a:xfrm>
            <a:off x="3701874" y="5360700"/>
            <a:ext cx="2599531" cy="1128367"/>
          </a:xfrm>
          <a:prstGeom prst="rect">
            <a:avLst/>
          </a:prstGeom>
          <a:noFill/>
          <a:ln>
            <a:noFill/>
          </a:ln>
        </p:spPr>
      </p:pic>
      <p:sp>
        <p:nvSpPr>
          <p:cNvPr id="113" name="Google Shape;113;p3"/>
          <p:cNvSpPr/>
          <p:nvPr/>
        </p:nvSpPr>
        <p:spPr>
          <a:xfrm>
            <a:off x="2402109" y="3591718"/>
            <a:ext cx="1329531" cy="595312"/>
          </a:xfrm>
          <a:prstGeom prst="bentArrow">
            <a:avLst>
              <a:gd fmla="val 25000" name="adj1"/>
              <a:gd fmla="val 25000" name="adj2"/>
              <a:gd fmla="val 25000" name="adj3"/>
              <a:gd fmla="val 43750" name="adj4"/>
            </a:avLst>
          </a:prstGeom>
          <a:solidFill>
            <a:srgbClr val="92D050"/>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flipH="1" rot="10800000">
            <a:off x="2336227" y="5556249"/>
            <a:ext cx="1335881" cy="643731"/>
          </a:xfrm>
          <a:prstGeom prst="bentArrow">
            <a:avLst>
              <a:gd fmla="val 25000" name="adj1"/>
              <a:gd fmla="val 25000" name="adj2"/>
              <a:gd fmla="val 25000" name="adj3"/>
              <a:gd fmla="val 43750" name="adj4"/>
            </a:avLst>
          </a:prstGeom>
          <a:solidFill>
            <a:srgbClr val="002060"/>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txBox="1"/>
          <p:nvPr/>
        </p:nvSpPr>
        <p:spPr>
          <a:xfrm>
            <a:off x="2219157" y="3230879"/>
            <a:ext cx="748841" cy="3962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p:txBody>
      </p:sp>
      <p:sp>
        <p:nvSpPr>
          <p:cNvPr id="116" name="Google Shape;116;p3"/>
          <p:cNvSpPr txBox="1"/>
          <p:nvPr/>
        </p:nvSpPr>
        <p:spPr>
          <a:xfrm>
            <a:off x="2219157" y="6199981"/>
            <a:ext cx="748841" cy="3962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p:txBody>
      </p:sp>
      <p:sp>
        <p:nvSpPr>
          <p:cNvPr id="117" name="Google Shape;117;p3"/>
          <p:cNvSpPr/>
          <p:nvPr/>
        </p:nvSpPr>
        <p:spPr>
          <a:xfrm>
            <a:off x="6370859" y="3605950"/>
            <a:ext cx="1478359" cy="317499"/>
          </a:xfrm>
          <a:prstGeom prst="rightArrow">
            <a:avLst>
              <a:gd fmla="val 50000" name="adj1"/>
              <a:gd fmla="val 50000" name="adj2"/>
            </a:avLst>
          </a:prstGeom>
          <a:solidFill>
            <a:schemeClr val="accent1"/>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6370859" y="5766134"/>
            <a:ext cx="1478358" cy="317499"/>
          </a:xfrm>
          <a:prstGeom prst="rightArrow">
            <a:avLst>
              <a:gd fmla="val 50000" name="adj1"/>
              <a:gd fmla="val 50000" name="adj2"/>
            </a:avLst>
          </a:prstGeom>
          <a:solidFill>
            <a:schemeClr val="accent1"/>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3"/>
          <p:cNvPicPr preferRelativeResize="0"/>
          <p:nvPr/>
        </p:nvPicPr>
        <p:blipFill rotWithShape="1">
          <a:blip r:embed="rId6">
            <a:alphaModFix/>
          </a:blip>
          <a:srcRect b="28674" l="13081" r="11535" t="32986"/>
          <a:stretch/>
        </p:blipFill>
        <p:spPr>
          <a:xfrm>
            <a:off x="7998046" y="3070838"/>
            <a:ext cx="2539999" cy="1112561"/>
          </a:xfrm>
          <a:prstGeom prst="rect">
            <a:avLst/>
          </a:prstGeom>
          <a:noFill/>
          <a:ln>
            <a:noFill/>
          </a:ln>
        </p:spPr>
      </p:pic>
      <p:pic>
        <p:nvPicPr>
          <p:cNvPr id="120" name="Google Shape;120;p3"/>
          <p:cNvPicPr preferRelativeResize="0"/>
          <p:nvPr/>
        </p:nvPicPr>
        <p:blipFill rotWithShape="1">
          <a:blip r:embed="rId6">
            <a:alphaModFix/>
          </a:blip>
          <a:srcRect b="28674" l="13081" r="11534" t="32985"/>
          <a:stretch/>
        </p:blipFill>
        <p:spPr>
          <a:xfrm>
            <a:off x="7998046" y="5285540"/>
            <a:ext cx="2539999" cy="1112560"/>
          </a:xfrm>
          <a:prstGeom prst="rect">
            <a:avLst/>
          </a:prstGeom>
          <a:noFill/>
          <a:ln>
            <a:noFill/>
          </a:ln>
        </p:spPr>
      </p:pic>
      <p:sp>
        <p:nvSpPr>
          <p:cNvPr id="121" name="Google Shape;121;p3"/>
          <p:cNvSpPr/>
          <p:nvPr/>
        </p:nvSpPr>
        <p:spPr>
          <a:xfrm>
            <a:off x="8454453" y="4504530"/>
            <a:ext cx="793749" cy="515937"/>
          </a:xfrm>
          <a:prstGeom prst="mathEqual">
            <a:avLst>
              <a:gd fmla="val 23520" name="adj1"/>
              <a:gd fmla="val 11760" name="adj2"/>
            </a:avLst>
          </a:prstGeom>
          <a:solidFill>
            <a:schemeClr val="dk1"/>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9535937" y="4543200"/>
            <a:ext cx="783828" cy="438598"/>
          </a:xfrm>
          <a:prstGeom prst="mathNotEqual">
            <a:avLst>
              <a:gd fmla="val 23520" name="adj1"/>
              <a:gd fmla="val 6600000" name="adj2"/>
              <a:gd fmla="val 11760" name="adj3"/>
            </a:avLst>
          </a:prstGeom>
          <a:solidFill>
            <a:schemeClr val="dk1"/>
          </a:solidFill>
          <a:ln cap="flat" cmpd="sng" w="12700">
            <a:solidFill>
              <a:srgbClr val="42719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txBox="1"/>
          <p:nvPr/>
        </p:nvSpPr>
        <p:spPr>
          <a:xfrm>
            <a:off x="9198593" y="4529830"/>
            <a:ext cx="409445" cy="3965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or</a:t>
            </a:r>
            <a:endParaRPr b="0" i="0" sz="1800" u="none" cap="none" strike="noStrike">
              <a:solidFill>
                <a:schemeClr val="dk1"/>
              </a:solidFill>
              <a:latin typeface="Arial"/>
              <a:ea typeface="Arial"/>
              <a:cs typeface="Arial"/>
              <a:sym typeface="Arial"/>
            </a:endParaRPr>
          </a:p>
        </p:txBody>
      </p:sp>
      <p:sp>
        <p:nvSpPr>
          <p:cNvPr id="124" name="Google Shape;124;p3"/>
          <p:cNvSpPr txBox="1"/>
          <p:nvPr/>
        </p:nvSpPr>
        <p:spPr>
          <a:xfrm>
            <a:off x="10220546" y="4564199"/>
            <a:ext cx="324862" cy="3965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25" name="Google Shape;125;p3"/>
          <p:cNvSpPr txBox="1"/>
          <p:nvPr/>
        </p:nvSpPr>
        <p:spPr>
          <a:xfrm>
            <a:off x="6642650" y="3230879"/>
            <a:ext cx="1094741" cy="3965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p:txBody>
      </p:sp>
      <p:sp>
        <p:nvSpPr>
          <p:cNvPr id="126" name="Google Shape;126;p3"/>
          <p:cNvSpPr txBox="1"/>
          <p:nvPr/>
        </p:nvSpPr>
        <p:spPr>
          <a:xfrm>
            <a:off x="6725670" y="5285540"/>
            <a:ext cx="769096" cy="4194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838199" y="365124"/>
            <a:ext cx="10515600" cy="557609"/>
          </a:xfrm>
          <a:prstGeom prst="rect">
            <a:avLst/>
          </a:prstGeom>
          <a:noFill/>
          <a:ln>
            <a:noFill/>
          </a:ln>
        </p:spPr>
        <p:txBody>
          <a:bodyPr anchorCtr="0" anchor="ctr" bIns="45700" lIns="91425" spcFirstLastPara="1" rIns="91425" wrap="square" tIns="45700">
            <a:normAutofit fontScale="90000" lnSpcReduction="2000"/>
          </a:bodyPr>
          <a:lstStyle/>
          <a:p>
            <a:pPr indent="0" lvl="0" marL="0" rtl="0" algn="l">
              <a:lnSpc>
                <a:spcPct val="90000"/>
              </a:lnSpc>
              <a:spcBef>
                <a:spcPts val="0"/>
              </a:spcBef>
              <a:spcAft>
                <a:spcPts val="0"/>
              </a:spcAft>
              <a:buClr>
                <a:schemeClr val="dk1"/>
              </a:buClr>
              <a:buSzPct val="100000"/>
              <a:buFont typeface="Arial"/>
              <a:buNone/>
            </a:pPr>
            <a:r>
              <a:rPr b="1" lang="en-US" sz="2600"/>
              <a:t>Testing GMP (Geometry pretrained + 500 DrivAerML Physics trained)</a:t>
            </a:r>
            <a:endParaRPr b="1" sz="2600"/>
          </a:p>
        </p:txBody>
      </p:sp>
      <p:sp>
        <p:nvSpPr>
          <p:cNvPr id="133" name="Google Shape;133;p4"/>
          <p:cNvSpPr txBox="1"/>
          <p:nvPr>
            <p:ph idx="1" type="body"/>
          </p:nvPr>
        </p:nvSpPr>
        <p:spPr>
          <a:xfrm>
            <a:off x="838199" y="992187"/>
            <a:ext cx="10515600" cy="524867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Font typeface="Arial"/>
              <a:buNone/>
            </a:pPr>
            <a:r>
              <a:rPr lang="en-US" sz="2400"/>
              <a:t>Neglecting the CFD results at this slide, we just focus on seeing the GMP predictions on the sampling strategy that came with DrivAerML vs. The sampling strategy from the Audi (using their own CAD tool to re-mesh the low-quality stl file)</a:t>
            </a:r>
            <a:endParaRPr sz="2400"/>
          </a:p>
          <a:p>
            <a:pPr indent="0" lvl="0" marL="0" rtl="0" algn="just">
              <a:lnSpc>
                <a:spcPct val="90000"/>
              </a:lnSpc>
              <a:spcBef>
                <a:spcPts val="1000"/>
              </a:spcBef>
              <a:spcAft>
                <a:spcPts val="0"/>
              </a:spcAft>
              <a:buClr>
                <a:schemeClr val="dk1"/>
              </a:buClr>
              <a:buSzPts val="2400"/>
              <a:buFont typeface="Arial"/>
              <a:buNone/>
            </a:pPr>
            <a:r>
              <a:rPr lang="en-US" sz="2400"/>
              <a:t>DrivAerML had access to the high quality stl but published a compressed low triangle version. For this reason we had to re-mesh the stl to be able to run it in CFD. This re-meshing created a difference in the distribution of vertices.</a:t>
            </a:r>
            <a:br>
              <a:rPr lang="en-US" sz="2400"/>
            </a:br>
            <a:r>
              <a:rPr lang="en-US" sz="2400"/>
              <a:t>For example both of these show 0.5M vertices, while the distribution is clearly different:</a:t>
            </a:r>
            <a:endParaRPr/>
          </a:p>
        </p:txBody>
      </p:sp>
      <p:pic>
        <p:nvPicPr>
          <p:cNvPr id="134" name="Google Shape;134;p4"/>
          <p:cNvPicPr preferRelativeResize="0"/>
          <p:nvPr/>
        </p:nvPicPr>
        <p:blipFill rotWithShape="1">
          <a:blip r:embed="rId3">
            <a:alphaModFix/>
          </a:blip>
          <a:srcRect b="32146" l="3860" r="4930" t="21412"/>
          <a:stretch/>
        </p:blipFill>
        <p:spPr>
          <a:xfrm>
            <a:off x="6981623" y="4679327"/>
            <a:ext cx="3199234" cy="1402942"/>
          </a:xfrm>
          <a:prstGeom prst="rect">
            <a:avLst/>
          </a:prstGeom>
          <a:noFill/>
          <a:ln>
            <a:noFill/>
          </a:ln>
        </p:spPr>
      </p:pic>
      <p:pic>
        <p:nvPicPr>
          <p:cNvPr id="135" name="Google Shape;135;p4"/>
          <p:cNvPicPr preferRelativeResize="0"/>
          <p:nvPr/>
        </p:nvPicPr>
        <p:blipFill rotWithShape="1">
          <a:blip r:embed="rId4">
            <a:alphaModFix/>
          </a:blip>
          <a:srcRect b="32870" l="4109" r="5180" t="21412"/>
          <a:stretch/>
        </p:blipFill>
        <p:spPr>
          <a:xfrm>
            <a:off x="2412030" y="4661044"/>
            <a:ext cx="3274217" cy="1421224"/>
          </a:xfrm>
          <a:prstGeom prst="rect">
            <a:avLst/>
          </a:prstGeom>
          <a:noFill/>
          <a:ln>
            <a:noFill/>
          </a:ln>
        </p:spPr>
      </p:pic>
      <p:sp>
        <p:nvSpPr>
          <p:cNvPr id="136" name="Google Shape;136;p4"/>
          <p:cNvSpPr txBox="1"/>
          <p:nvPr/>
        </p:nvSpPr>
        <p:spPr>
          <a:xfrm>
            <a:off x="2888281" y="6082269"/>
            <a:ext cx="2483539"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Audi Meshing Strategy</a:t>
            </a:r>
            <a:endParaRPr b="0" i="0" sz="1800" u="none" cap="none" strike="noStrike">
              <a:solidFill>
                <a:schemeClr val="dk1"/>
              </a:solidFill>
              <a:latin typeface="Arial"/>
              <a:ea typeface="Arial"/>
              <a:cs typeface="Arial"/>
              <a:sym typeface="Arial"/>
            </a:endParaRPr>
          </a:p>
        </p:txBody>
      </p:sp>
      <p:sp>
        <p:nvSpPr>
          <p:cNvPr id="137" name="Google Shape;137;p4"/>
          <p:cNvSpPr txBox="1"/>
          <p:nvPr/>
        </p:nvSpPr>
        <p:spPr>
          <a:xfrm>
            <a:off x="6981623" y="6082269"/>
            <a:ext cx="3232846"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Equivelebt DrivAerML Sample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5"/>
          <p:cNvPicPr preferRelativeResize="0"/>
          <p:nvPr/>
        </p:nvPicPr>
        <p:blipFill rotWithShape="1">
          <a:blip r:embed="rId3">
            <a:alphaModFix/>
          </a:blip>
          <a:srcRect b="86545" l="4415" r="57679" t="4629"/>
          <a:stretch/>
        </p:blipFill>
        <p:spPr>
          <a:xfrm>
            <a:off x="3406089" y="595312"/>
            <a:ext cx="4656449" cy="674687"/>
          </a:xfrm>
          <a:prstGeom prst="rect">
            <a:avLst/>
          </a:prstGeom>
          <a:noFill/>
          <a:ln>
            <a:noFill/>
          </a:ln>
        </p:spPr>
      </p:pic>
      <p:pic>
        <p:nvPicPr>
          <p:cNvPr id="144" name="Google Shape;144;p5"/>
          <p:cNvPicPr preferRelativeResize="0"/>
          <p:nvPr/>
        </p:nvPicPr>
        <p:blipFill rotWithShape="1">
          <a:blip r:embed="rId4">
            <a:alphaModFix/>
          </a:blip>
          <a:srcRect b="15645" l="11074" r="10234" t="24458"/>
          <a:stretch/>
        </p:blipFill>
        <p:spPr>
          <a:xfrm>
            <a:off x="10937" y="4042454"/>
            <a:ext cx="5912247" cy="2800537"/>
          </a:xfrm>
          <a:prstGeom prst="rect">
            <a:avLst/>
          </a:prstGeom>
          <a:noFill/>
          <a:ln>
            <a:noFill/>
          </a:ln>
        </p:spPr>
      </p:pic>
      <p:pic>
        <p:nvPicPr>
          <p:cNvPr id="145" name="Google Shape;145;p5"/>
          <p:cNvPicPr preferRelativeResize="0"/>
          <p:nvPr/>
        </p:nvPicPr>
        <p:blipFill rotWithShape="1">
          <a:blip r:embed="rId5">
            <a:alphaModFix/>
          </a:blip>
          <a:srcRect b="16087" l="11167" r="10321" t="24450"/>
          <a:stretch/>
        </p:blipFill>
        <p:spPr>
          <a:xfrm>
            <a:off x="10937" y="1220390"/>
            <a:ext cx="6014853" cy="2834982"/>
          </a:xfrm>
          <a:prstGeom prst="rect">
            <a:avLst/>
          </a:prstGeom>
          <a:noFill/>
          <a:ln>
            <a:noFill/>
          </a:ln>
        </p:spPr>
      </p:pic>
      <p:sp>
        <p:nvSpPr>
          <p:cNvPr id="146" name="Google Shape;146;p5"/>
          <p:cNvSpPr txBox="1"/>
          <p:nvPr>
            <p:ph type="title"/>
          </p:nvPr>
        </p:nvSpPr>
        <p:spPr>
          <a:xfrm>
            <a:off x="497109" y="-91281"/>
            <a:ext cx="11310937" cy="617140"/>
          </a:xfrm>
          <a:prstGeom prst="rect">
            <a:avLst/>
          </a:prstGeom>
          <a:noFill/>
          <a:ln>
            <a:noFill/>
          </a:ln>
        </p:spPr>
        <p:txBody>
          <a:bodyPr anchorCtr="0" anchor="ctr" bIns="45700" lIns="91425" spcFirstLastPara="1" rIns="91425" wrap="square" tIns="45700">
            <a:normAutofit/>
          </a:bodyPr>
          <a:lstStyle/>
          <a:p>
            <a:pPr indent="0" lvl="0" marL="0" marR="0" rtl="0" algn="l">
              <a:lnSpc>
                <a:spcPct val="88000"/>
              </a:lnSpc>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Testing GMP (Geometry pretrained + 500 DrivAerML Physics trained)</a:t>
            </a:r>
            <a:r>
              <a:rPr lang="en-US" sz="2200"/>
              <a:t> - </a:t>
            </a:r>
            <a:r>
              <a:rPr b="1" lang="en-US" sz="2200"/>
              <a:t>Predictions</a:t>
            </a:r>
            <a:endParaRPr b="1" sz="2200"/>
          </a:p>
        </p:txBody>
      </p:sp>
      <p:pic>
        <p:nvPicPr>
          <p:cNvPr id="147" name="Google Shape;147;p5"/>
          <p:cNvPicPr preferRelativeResize="0"/>
          <p:nvPr/>
        </p:nvPicPr>
        <p:blipFill rotWithShape="1">
          <a:blip r:embed="rId3">
            <a:alphaModFix/>
          </a:blip>
          <a:srcRect b="13917" l="878" r="732" t="17216"/>
          <a:stretch/>
        </p:blipFill>
        <p:spPr>
          <a:xfrm>
            <a:off x="5765625" y="4042454"/>
            <a:ext cx="6429375" cy="2800537"/>
          </a:xfrm>
          <a:prstGeom prst="rect">
            <a:avLst/>
          </a:prstGeom>
          <a:noFill/>
          <a:ln>
            <a:noFill/>
          </a:ln>
        </p:spPr>
      </p:pic>
      <p:pic>
        <p:nvPicPr>
          <p:cNvPr id="148" name="Google Shape;148;p5"/>
          <p:cNvPicPr preferRelativeResize="0"/>
          <p:nvPr/>
        </p:nvPicPr>
        <p:blipFill rotWithShape="1">
          <a:blip r:embed="rId6">
            <a:alphaModFix/>
          </a:blip>
          <a:srcRect b="14351" l="633" r="597" t="17361"/>
          <a:stretch/>
        </p:blipFill>
        <p:spPr>
          <a:xfrm>
            <a:off x="5676328" y="1220390"/>
            <a:ext cx="6518671" cy="2834982"/>
          </a:xfrm>
          <a:prstGeom prst="rect">
            <a:avLst/>
          </a:prstGeom>
          <a:noFill/>
          <a:ln>
            <a:noFill/>
          </a:ln>
        </p:spPr>
      </p:pic>
      <p:sp>
        <p:nvSpPr>
          <p:cNvPr id="149" name="Google Shape;149;p5"/>
          <p:cNvSpPr txBox="1"/>
          <p:nvPr/>
        </p:nvSpPr>
        <p:spPr>
          <a:xfrm>
            <a:off x="100234" y="4117578"/>
            <a:ext cx="1136615" cy="914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Audi</a:t>
            </a:r>
            <a:endParaRPr b="0" i="0" sz="18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Sampling</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As Input</a:t>
            </a:r>
            <a:endParaRPr b="0" i="0" sz="1800" u="none" cap="none" strike="noStrike">
              <a:solidFill>
                <a:schemeClr val="lt1"/>
              </a:solidFill>
              <a:latin typeface="Arial"/>
              <a:ea typeface="Arial"/>
              <a:cs typeface="Arial"/>
              <a:sym typeface="Arial"/>
            </a:endParaRPr>
          </a:p>
        </p:txBody>
      </p:sp>
      <p:sp>
        <p:nvSpPr>
          <p:cNvPr id="150" name="Google Shape;150;p5"/>
          <p:cNvSpPr txBox="1"/>
          <p:nvPr/>
        </p:nvSpPr>
        <p:spPr>
          <a:xfrm>
            <a:off x="100234" y="1319609"/>
            <a:ext cx="1263191" cy="914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DrivAerML</a:t>
            </a:r>
            <a:endParaRPr b="0" i="0" sz="18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Sampling</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As Input</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6"/>
          <p:cNvPicPr preferRelativeResize="0"/>
          <p:nvPr/>
        </p:nvPicPr>
        <p:blipFill rotWithShape="1">
          <a:blip r:embed="rId3">
            <a:alphaModFix/>
          </a:blip>
          <a:srcRect b="0" l="0" r="0" t="0"/>
          <a:stretch/>
        </p:blipFill>
        <p:spPr>
          <a:xfrm>
            <a:off x="121495" y="1438671"/>
            <a:ext cx="11736160" cy="5476874"/>
          </a:xfrm>
          <a:prstGeom prst="rect">
            <a:avLst/>
          </a:prstGeom>
          <a:noFill/>
          <a:ln>
            <a:noFill/>
          </a:ln>
        </p:spPr>
      </p:pic>
      <p:sp>
        <p:nvSpPr>
          <p:cNvPr id="157" name="Google Shape;157;p6"/>
          <p:cNvSpPr txBox="1"/>
          <p:nvPr>
            <p:ph type="title"/>
          </p:nvPr>
        </p:nvSpPr>
        <p:spPr>
          <a:xfrm>
            <a:off x="546718" y="226218"/>
            <a:ext cx="11310937" cy="1281906"/>
          </a:xfrm>
          <a:prstGeom prst="rect">
            <a:avLst/>
          </a:prstGeom>
          <a:noFill/>
          <a:ln>
            <a:noFill/>
          </a:ln>
        </p:spPr>
        <p:txBody>
          <a:bodyPr anchorCtr="0" anchor="ctr" bIns="45700" lIns="91425" spcFirstLastPara="1" rIns="91425" wrap="square" tIns="45700">
            <a:normAutofit fontScale="90000" lnSpcReduction="2000"/>
          </a:bodyPr>
          <a:lstStyle/>
          <a:p>
            <a:pPr indent="0" lvl="0" marL="0" marR="0" rtl="0" algn="l">
              <a:lnSpc>
                <a:spcPct val="88000"/>
              </a:lnSpc>
              <a:spcBef>
                <a:spcPts val="0"/>
              </a:spcBef>
              <a:spcAft>
                <a:spcPts val="0"/>
              </a:spcAft>
              <a:buClr>
                <a:srgbClr val="000000"/>
              </a:buClr>
              <a:buSzPct val="100000"/>
              <a:buFont typeface="Arial"/>
              <a:buNone/>
            </a:pPr>
            <a:r>
              <a:rPr b="1" i="0" lang="en-US" sz="2200" u="none" cap="none" strike="noStrike">
                <a:solidFill>
                  <a:srgbClr val="000000"/>
                </a:solidFill>
                <a:latin typeface="Arial"/>
                <a:ea typeface="Arial"/>
                <a:cs typeface="Arial"/>
                <a:sym typeface="Arial"/>
              </a:rPr>
              <a:t>Four Experiment</a:t>
            </a:r>
            <a:r>
              <a:rPr b="1" lang="en-US" sz="2200"/>
              <a:t>s to see the effect of distribution in both input and query on error</a:t>
            </a:r>
            <a:br>
              <a:rPr b="1" lang="en-US" sz="2200"/>
            </a:br>
            <a:r>
              <a:rPr b="1" lang="en-US" sz="2200"/>
              <a:t>On GMP that has been trained on random sub-sampling for both input and query</a:t>
            </a:r>
            <a:br>
              <a:rPr b="1" lang="en-US" sz="2200"/>
            </a:br>
            <a:br>
              <a:rPr b="1" lang="en-US" sz="2200"/>
            </a:br>
            <a:r>
              <a:rPr b="1" lang="en-US" sz="2200"/>
              <a:t>The point distribution here is from DrivAerML, random sub-sampling preserves it while FPS shifts it</a:t>
            </a:r>
            <a:endParaRPr b="1"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838199" y="365124"/>
            <a:ext cx="10515600" cy="934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The mathematics behind the issue</a:t>
            </a:r>
            <a:endParaRPr/>
          </a:p>
        </p:txBody>
      </p:sp>
      <p:pic>
        <p:nvPicPr>
          <p:cNvPr id="164" name="Google Shape;164;p7"/>
          <p:cNvPicPr preferRelativeResize="0"/>
          <p:nvPr/>
        </p:nvPicPr>
        <p:blipFill rotWithShape="1">
          <a:blip r:embed="rId3">
            <a:alphaModFix/>
          </a:blip>
          <a:srcRect b="0" l="0" r="0" t="13456"/>
          <a:stretch/>
        </p:blipFill>
        <p:spPr>
          <a:xfrm>
            <a:off x="715565" y="2401093"/>
            <a:ext cx="7248524" cy="4055665"/>
          </a:xfrm>
          <a:prstGeom prst="rect">
            <a:avLst/>
          </a:prstGeom>
          <a:noFill/>
          <a:ln>
            <a:noFill/>
          </a:ln>
        </p:spPr>
      </p:pic>
      <p:sp>
        <p:nvSpPr>
          <p:cNvPr id="165" name="Google Shape;165;p7"/>
          <p:cNvSpPr txBox="1"/>
          <p:nvPr/>
        </p:nvSpPr>
        <p:spPr>
          <a:xfrm>
            <a:off x="923749" y="1299765"/>
            <a:ext cx="10590153" cy="9147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In an anchored attention-based encoder, we aggregate the features of the input point cloud using the below mentioned equation. This features can be the position embedding or extra attributes like surface normals: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ec2f089cdd_0_6"/>
          <p:cNvSpPr txBox="1"/>
          <p:nvPr>
            <p:ph type="title"/>
          </p:nvPr>
        </p:nvSpPr>
        <p:spPr>
          <a:xfrm>
            <a:off x="838199" y="365124"/>
            <a:ext cx="10515600" cy="934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The mathematics behind the solution</a:t>
            </a:r>
            <a:endParaRPr/>
          </a:p>
        </p:txBody>
      </p:sp>
      <p:pic>
        <p:nvPicPr>
          <p:cNvPr id="172" name="Google Shape;172;g3ec2f089cdd_0_6"/>
          <p:cNvPicPr preferRelativeResize="0"/>
          <p:nvPr/>
        </p:nvPicPr>
        <p:blipFill rotWithShape="1">
          <a:blip r:embed="rId3">
            <a:alphaModFix/>
          </a:blip>
          <a:srcRect b="0" l="0" r="0" t="36729"/>
          <a:stretch/>
        </p:blipFill>
        <p:spPr>
          <a:xfrm>
            <a:off x="158725" y="2978727"/>
            <a:ext cx="7248525" cy="2965125"/>
          </a:xfrm>
          <a:prstGeom prst="rect">
            <a:avLst/>
          </a:prstGeom>
          <a:noFill/>
          <a:ln>
            <a:noFill/>
          </a:ln>
        </p:spPr>
      </p:pic>
      <p:pic>
        <p:nvPicPr>
          <p:cNvPr id="173" name="Google Shape;173;g3ec2f089cdd_0_6"/>
          <p:cNvPicPr preferRelativeResize="0"/>
          <p:nvPr/>
        </p:nvPicPr>
        <p:blipFill rotWithShape="1">
          <a:blip r:embed="rId3">
            <a:alphaModFix/>
          </a:blip>
          <a:srcRect b="66601" l="35737" r="0" t="13458"/>
          <a:stretch/>
        </p:blipFill>
        <p:spPr>
          <a:xfrm>
            <a:off x="486500" y="1820670"/>
            <a:ext cx="4658174" cy="934500"/>
          </a:xfrm>
          <a:prstGeom prst="rect">
            <a:avLst/>
          </a:prstGeom>
          <a:noFill/>
          <a:ln>
            <a:noFill/>
          </a:ln>
        </p:spPr>
      </p:pic>
      <p:cxnSp>
        <p:nvCxnSpPr>
          <p:cNvPr id="174" name="Google Shape;174;g3ec2f089cdd_0_6"/>
          <p:cNvCxnSpPr/>
          <p:nvPr/>
        </p:nvCxnSpPr>
        <p:spPr>
          <a:xfrm flipH="1" rot="10800000">
            <a:off x="4790306" y="2260643"/>
            <a:ext cx="3064200" cy="16200"/>
          </a:xfrm>
          <a:prstGeom prst="straightConnector1">
            <a:avLst/>
          </a:prstGeom>
          <a:noFill/>
          <a:ln cap="flat" cmpd="sng" w="38100">
            <a:solidFill>
              <a:schemeClr val="dk1"/>
            </a:solidFill>
            <a:prstDash val="solid"/>
            <a:round/>
            <a:headEnd len="med" w="med" type="none"/>
            <a:tailEnd len="med" w="med" type="triangle"/>
          </a:ln>
        </p:spPr>
      </p:cxnSp>
      <p:pic>
        <p:nvPicPr>
          <p:cNvPr id="175" name="Google Shape;175;g3ec2f089cdd_0_6"/>
          <p:cNvPicPr preferRelativeResize="0"/>
          <p:nvPr/>
        </p:nvPicPr>
        <p:blipFill>
          <a:blip r:embed="rId4">
            <a:alphaModFix/>
          </a:blip>
          <a:stretch>
            <a:fillRect/>
          </a:stretch>
        </p:blipFill>
        <p:spPr>
          <a:xfrm>
            <a:off x="4865552" y="1717141"/>
            <a:ext cx="2737875" cy="413425"/>
          </a:xfrm>
          <a:prstGeom prst="rect">
            <a:avLst/>
          </a:prstGeom>
          <a:noFill/>
          <a:ln>
            <a:noFill/>
          </a:ln>
        </p:spPr>
      </p:pic>
      <p:pic>
        <p:nvPicPr>
          <p:cNvPr id="176" name="Google Shape;176;g3ec2f089cdd_0_6"/>
          <p:cNvPicPr preferRelativeResize="0"/>
          <p:nvPr/>
        </p:nvPicPr>
        <p:blipFill>
          <a:blip r:embed="rId5">
            <a:alphaModFix/>
          </a:blip>
          <a:stretch>
            <a:fillRect/>
          </a:stretch>
        </p:blipFill>
        <p:spPr>
          <a:xfrm>
            <a:off x="7987004" y="1820675"/>
            <a:ext cx="3064199" cy="8527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ec2f089cdd_0_18"/>
          <p:cNvSpPr txBox="1"/>
          <p:nvPr>
            <p:ph type="title"/>
          </p:nvPr>
        </p:nvSpPr>
        <p:spPr>
          <a:xfrm>
            <a:off x="838200" y="365125"/>
            <a:ext cx="10515600" cy="69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3160"/>
              <a:t>Result after the solution (on 25 test subsample) </a:t>
            </a:r>
            <a:endParaRPr sz="3160"/>
          </a:p>
        </p:txBody>
      </p:sp>
      <p:pic>
        <p:nvPicPr>
          <p:cNvPr id="183" name="Google Shape;183;g3ec2f089cdd_0_18"/>
          <p:cNvPicPr preferRelativeResize="0"/>
          <p:nvPr/>
        </p:nvPicPr>
        <p:blipFill>
          <a:blip r:embed="rId3">
            <a:alphaModFix/>
          </a:blip>
          <a:stretch>
            <a:fillRect/>
          </a:stretch>
        </p:blipFill>
        <p:spPr>
          <a:xfrm>
            <a:off x="422050" y="1152800"/>
            <a:ext cx="11769948" cy="5494175"/>
          </a:xfrm>
          <a:prstGeom prst="rect">
            <a:avLst/>
          </a:prstGeom>
          <a:noFill/>
          <a:ln>
            <a:noFill/>
          </a:ln>
        </p:spPr>
      </p:pic>
      <p:sp>
        <p:nvSpPr>
          <p:cNvPr id="184" name="Google Shape;184;g3ec2f089cdd_0_18"/>
          <p:cNvSpPr txBox="1"/>
          <p:nvPr/>
        </p:nvSpPr>
        <p:spPr>
          <a:xfrm>
            <a:off x="1113700" y="2491175"/>
            <a:ext cx="6858000" cy="414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1660">
                <a:solidFill>
                  <a:schemeClr val="dk1"/>
                </a:solidFill>
              </a:rPr>
              <a:t>Important: the range was upto 0.8 before</a:t>
            </a:r>
            <a:endParaRPr sz="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ec2f089cdd_0_27"/>
          <p:cNvSpPr txBox="1"/>
          <p:nvPr>
            <p:ph type="title"/>
          </p:nvPr>
        </p:nvSpPr>
        <p:spPr>
          <a:xfrm>
            <a:off x="832625" y="153450"/>
            <a:ext cx="10953900" cy="684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GMP output </a:t>
            </a:r>
            <a:r>
              <a:rPr lang="en-US"/>
              <a:t>comparison</a:t>
            </a:r>
            <a:r>
              <a:rPr lang="en-US"/>
              <a:t> after density correction</a:t>
            </a:r>
            <a:endParaRPr/>
          </a:p>
        </p:txBody>
      </p:sp>
      <p:pic>
        <p:nvPicPr>
          <p:cNvPr id="191" name="Google Shape;191;g3ec2f089cdd_0_27"/>
          <p:cNvPicPr preferRelativeResize="0"/>
          <p:nvPr/>
        </p:nvPicPr>
        <p:blipFill>
          <a:blip r:embed="rId3">
            <a:alphaModFix/>
          </a:blip>
          <a:stretch>
            <a:fillRect/>
          </a:stretch>
        </p:blipFill>
        <p:spPr>
          <a:xfrm>
            <a:off x="6298125" y="1679875"/>
            <a:ext cx="5893875" cy="2551775"/>
          </a:xfrm>
          <a:prstGeom prst="rect">
            <a:avLst/>
          </a:prstGeom>
          <a:noFill/>
          <a:ln>
            <a:noFill/>
          </a:ln>
        </p:spPr>
      </p:pic>
      <p:pic>
        <p:nvPicPr>
          <p:cNvPr id="192" name="Google Shape;192;g3ec2f089cdd_0_27"/>
          <p:cNvPicPr preferRelativeResize="0"/>
          <p:nvPr/>
        </p:nvPicPr>
        <p:blipFill rotWithShape="1">
          <a:blip r:embed="rId4">
            <a:alphaModFix/>
          </a:blip>
          <a:srcRect b="0" l="685" r="0" t="0"/>
          <a:stretch/>
        </p:blipFill>
        <p:spPr>
          <a:xfrm>
            <a:off x="6298125" y="4231650"/>
            <a:ext cx="5893875" cy="2626350"/>
          </a:xfrm>
          <a:prstGeom prst="rect">
            <a:avLst/>
          </a:prstGeom>
          <a:noFill/>
          <a:ln>
            <a:noFill/>
          </a:ln>
        </p:spPr>
      </p:pic>
      <p:pic>
        <p:nvPicPr>
          <p:cNvPr id="193" name="Google Shape;193;g3ec2f089cdd_0_27"/>
          <p:cNvPicPr preferRelativeResize="0"/>
          <p:nvPr/>
        </p:nvPicPr>
        <p:blipFill rotWithShape="1">
          <a:blip r:embed="rId5">
            <a:alphaModFix/>
          </a:blip>
          <a:srcRect b="13918" l="876" r="738" t="17216"/>
          <a:stretch/>
        </p:blipFill>
        <p:spPr>
          <a:xfrm>
            <a:off x="0" y="4271325"/>
            <a:ext cx="5985952" cy="2571676"/>
          </a:xfrm>
          <a:prstGeom prst="rect">
            <a:avLst/>
          </a:prstGeom>
          <a:noFill/>
          <a:ln>
            <a:noFill/>
          </a:ln>
        </p:spPr>
      </p:pic>
      <p:pic>
        <p:nvPicPr>
          <p:cNvPr id="194" name="Google Shape;194;g3ec2f089cdd_0_27"/>
          <p:cNvPicPr preferRelativeResize="0"/>
          <p:nvPr/>
        </p:nvPicPr>
        <p:blipFill rotWithShape="1">
          <a:blip r:embed="rId6">
            <a:alphaModFix/>
          </a:blip>
          <a:srcRect b="14354" l="632" r="602" t="17359"/>
          <a:stretch/>
        </p:blipFill>
        <p:spPr>
          <a:xfrm>
            <a:off x="0" y="1679875"/>
            <a:ext cx="5985957" cy="2603307"/>
          </a:xfrm>
          <a:prstGeom prst="rect">
            <a:avLst/>
          </a:prstGeom>
          <a:noFill/>
          <a:ln>
            <a:noFill/>
          </a:ln>
        </p:spPr>
      </p:pic>
      <p:sp>
        <p:nvSpPr>
          <p:cNvPr id="195" name="Google Shape;195;g3ec2f089cdd_0_27"/>
          <p:cNvSpPr txBox="1"/>
          <p:nvPr/>
        </p:nvSpPr>
        <p:spPr>
          <a:xfrm>
            <a:off x="5464359" y="1429059"/>
            <a:ext cx="1263300" cy="923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DrivAerML</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Sampling</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As Input</a:t>
            </a:r>
            <a:endParaRPr b="0" i="0" sz="1800" u="none" cap="none" strike="noStrike">
              <a:solidFill>
                <a:schemeClr val="dk1"/>
              </a:solidFill>
              <a:latin typeface="Arial"/>
              <a:ea typeface="Arial"/>
              <a:cs typeface="Arial"/>
              <a:sym typeface="Arial"/>
            </a:endParaRPr>
          </a:p>
        </p:txBody>
      </p:sp>
      <p:sp>
        <p:nvSpPr>
          <p:cNvPr id="196" name="Google Shape;196;g3ec2f089cdd_0_27"/>
          <p:cNvSpPr txBox="1"/>
          <p:nvPr/>
        </p:nvSpPr>
        <p:spPr>
          <a:xfrm>
            <a:off x="5527659" y="5934603"/>
            <a:ext cx="1136700" cy="923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Audi</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Sampling</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As Input</a:t>
            </a:r>
            <a:endParaRPr b="0" i="0" sz="1800" u="none" cap="none" strike="noStrike">
              <a:solidFill>
                <a:schemeClr val="dk1"/>
              </a:solidFill>
              <a:latin typeface="Arial"/>
              <a:ea typeface="Arial"/>
              <a:cs typeface="Arial"/>
              <a:sym typeface="Arial"/>
            </a:endParaRPr>
          </a:p>
        </p:txBody>
      </p:sp>
      <p:sp>
        <p:nvSpPr>
          <p:cNvPr id="197" name="Google Shape;197;g3ec2f089cdd_0_27"/>
          <p:cNvSpPr txBox="1"/>
          <p:nvPr/>
        </p:nvSpPr>
        <p:spPr>
          <a:xfrm>
            <a:off x="8863934" y="1310584"/>
            <a:ext cx="12633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After</a:t>
            </a:r>
            <a:endParaRPr b="0" i="0" sz="1800" u="none" cap="none" strike="noStrike">
              <a:solidFill>
                <a:schemeClr val="dk1"/>
              </a:solidFill>
              <a:latin typeface="Arial"/>
              <a:ea typeface="Arial"/>
              <a:cs typeface="Arial"/>
              <a:sym typeface="Arial"/>
            </a:endParaRPr>
          </a:p>
        </p:txBody>
      </p:sp>
      <p:sp>
        <p:nvSpPr>
          <p:cNvPr id="198" name="Google Shape;198;g3ec2f089cdd_0_27"/>
          <p:cNvSpPr txBox="1"/>
          <p:nvPr/>
        </p:nvSpPr>
        <p:spPr>
          <a:xfrm>
            <a:off x="2064784" y="1310584"/>
            <a:ext cx="12633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Before</a:t>
            </a:r>
            <a:endParaRPr b="0" i="0" sz="1800" u="none" cap="none" strike="noStrike">
              <a:solidFill>
                <a:schemeClr val="dk1"/>
              </a:solidFill>
              <a:latin typeface="Arial"/>
              <a:ea typeface="Arial"/>
              <a:cs typeface="Arial"/>
              <a:sym typeface="Arial"/>
            </a:endParaRPr>
          </a:p>
        </p:txBody>
      </p:sp>
      <p:pic>
        <p:nvPicPr>
          <p:cNvPr id="199" name="Google Shape;199;g3ec2f089cdd_0_27"/>
          <p:cNvPicPr preferRelativeResize="0"/>
          <p:nvPr/>
        </p:nvPicPr>
        <p:blipFill rotWithShape="1">
          <a:blip r:embed="rId5">
            <a:alphaModFix/>
          </a:blip>
          <a:srcRect b="86545" l="4416" r="57678" t="4629"/>
          <a:stretch/>
        </p:blipFill>
        <p:spPr>
          <a:xfrm>
            <a:off x="3602639" y="747048"/>
            <a:ext cx="4656450" cy="6746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ec2f089cdd_0_41"/>
          <p:cNvSpPr txBox="1"/>
          <p:nvPr>
            <p:ph type="title"/>
          </p:nvPr>
        </p:nvSpPr>
        <p:spPr>
          <a:xfrm>
            <a:off x="741900" y="198825"/>
            <a:ext cx="10953900" cy="684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GMP output comparison after density correction</a:t>
            </a:r>
            <a:endParaRPr/>
          </a:p>
        </p:txBody>
      </p:sp>
      <p:sp>
        <p:nvSpPr>
          <p:cNvPr id="206" name="Google Shape;206;g3ec2f089cdd_0_41"/>
          <p:cNvSpPr txBox="1"/>
          <p:nvPr/>
        </p:nvSpPr>
        <p:spPr>
          <a:xfrm>
            <a:off x="8863934" y="1310584"/>
            <a:ext cx="12633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After</a:t>
            </a:r>
            <a:endParaRPr b="0" i="0" sz="1800" u="none" cap="none" strike="noStrike">
              <a:solidFill>
                <a:schemeClr val="dk1"/>
              </a:solidFill>
              <a:latin typeface="Arial"/>
              <a:ea typeface="Arial"/>
              <a:cs typeface="Arial"/>
              <a:sym typeface="Arial"/>
            </a:endParaRPr>
          </a:p>
        </p:txBody>
      </p:sp>
      <p:sp>
        <p:nvSpPr>
          <p:cNvPr id="207" name="Google Shape;207;g3ec2f089cdd_0_41"/>
          <p:cNvSpPr txBox="1"/>
          <p:nvPr/>
        </p:nvSpPr>
        <p:spPr>
          <a:xfrm>
            <a:off x="5464359" y="1502759"/>
            <a:ext cx="1263300" cy="923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DrivAerML</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Sampling</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As Input</a:t>
            </a:r>
            <a:endParaRPr b="0" i="0" sz="1800" u="none" cap="none" strike="noStrike">
              <a:solidFill>
                <a:schemeClr val="dk1"/>
              </a:solidFill>
              <a:latin typeface="Arial"/>
              <a:ea typeface="Arial"/>
              <a:cs typeface="Arial"/>
              <a:sym typeface="Arial"/>
            </a:endParaRPr>
          </a:p>
        </p:txBody>
      </p:sp>
      <p:sp>
        <p:nvSpPr>
          <p:cNvPr id="208" name="Google Shape;208;g3ec2f089cdd_0_41"/>
          <p:cNvSpPr txBox="1"/>
          <p:nvPr/>
        </p:nvSpPr>
        <p:spPr>
          <a:xfrm>
            <a:off x="5549434" y="5835378"/>
            <a:ext cx="1136700" cy="923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Audi</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Sampling</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As Input</a:t>
            </a:r>
            <a:endParaRPr b="0" i="0" sz="1800" u="none" cap="none" strike="noStrike">
              <a:solidFill>
                <a:schemeClr val="dk1"/>
              </a:solidFill>
              <a:latin typeface="Arial"/>
              <a:ea typeface="Arial"/>
              <a:cs typeface="Arial"/>
              <a:sym typeface="Arial"/>
            </a:endParaRPr>
          </a:p>
        </p:txBody>
      </p:sp>
      <p:sp>
        <p:nvSpPr>
          <p:cNvPr id="209" name="Google Shape;209;g3ec2f089cdd_0_41"/>
          <p:cNvSpPr txBox="1"/>
          <p:nvPr/>
        </p:nvSpPr>
        <p:spPr>
          <a:xfrm>
            <a:off x="2064784" y="1310584"/>
            <a:ext cx="12633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Before</a:t>
            </a:r>
            <a:endParaRPr b="0" i="0" sz="1800" u="none" cap="none" strike="noStrike">
              <a:solidFill>
                <a:schemeClr val="dk1"/>
              </a:solidFill>
              <a:latin typeface="Arial"/>
              <a:ea typeface="Arial"/>
              <a:cs typeface="Arial"/>
              <a:sym typeface="Arial"/>
            </a:endParaRPr>
          </a:p>
        </p:txBody>
      </p:sp>
      <p:pic>
        <p:nvPicPr>
          <p:cNvPr id="210" name="Google Shape;210;g3ec2f089cdd_0_41"/>
          <p:cNvPicPr preferRelativeResize="0"/>
          <p:nvPr/>
        </p:nvPicPr>
        <p:blipFill rotWithShape="1">
          <a:blip r:embed="rId3">
            <a:alphaModFix/>
          </a:blip>
          <a:srcRect b="15645" l="11072" r="10238" t="24456"/>
          <a:stretch/>
        </p:blipFill>
        <p:spPr>
          <a:xfrm>
            <a:off x="10925" y="4274400"/>
            <a:ext cx="5516727" cy="2568599"/>
          </a:xfrm>
          <a:prstGeom prst="rect">
            <a:avLst/>
          </a:prstGeom>
          <a:noFill/>
          <a:ln>
            <a:noFill/>
          </a:ln>
        </p:spPr>
      </p:pic>
      <p:pic>
        <p:nvPicPr>
          <p:cNvPr id="211" name="Google Shape;211;g3ec2f089cdd_0_41"/>
          <p:cNvPicPr preferRelativeResize="0"/>
          <p:nvPr/>
        </p:nvPicPr>
        <p:blipFill rotWithShape="1">
          <a:blip r:embed="rId4">
            <a:alphaModFix/>
          </a:blip>
          <a:srcRect b="16085" l="11164" r="10324" t="24451"/>
          <a:stretch/>
        </p:blipFill>
        <p:spPr>
          <a:xfrm>
            <a:off x="10926" y="1686061"/>
            <a:ext cx="5516727" cy="2600188"/>
          </a:xfrm>
          <a:prstGeom prst="rect">
            <a:avLst/>
          </a:prstGeom>
          <a:noFill/>
          <a:ln>
            <a:noFill/>
          </a:ln>
        </p:spPr>
      </p:pic>
      <p:pic>
        <p:nvPicPr>
          <p:cNvPr id="212" name="Google Shape;212;g3ec2f089cdd_0_41"/>
          <p:cNvPicPr preferRelativeResize="0"/>
          <p:nvPr/>
        </p:nvPicPr>
        <p:blipFill rotWithShape="1">
          <a:blip r:embed="rId5">
            <a:alphaModFix/>
          </a:blip>
          <a:srcRect b="0" l="0" r="1778" t="0"/>
          <a:stretch/>
        </p:blipFill>
        <p:spPr>
          <a:xfrm>
            <a:off x="6707900" y="1686050"/>
            <a:ext cx="5484100" cy="2614350"/>
          </a:xfrm>
          <a:prstGeom prst="rect">
            <a:avLst/>
          </a:prstGeom>
          <a:noFill/>
          <a:ln>
            <a:noFill/>
          </a:ln>
        </p:spPr>
      </p:pic>
      <p:pic>
        <p:nvPicPr>
          <p:cNvPr id="213" name="Google Shape;213;g3ec2f089cdd_0_41"/>
          <p:cNvPicPr preferRelativeResize="0"/>
          <p:nvPr/>
        </p:nvPicPr>
        <p:blipFill rotWithShape="1">
          <a:blip r:embed="rId6">
            <a:alphaModFix/>
          </a:blip>
          <a:srcRect b="0" l="0" r="1244" t="0"/>
          <a:stretch/>
        </p:blipFill>
        <p:spPr>
          <a:xfrm>
            <a:off x="6707895" y="4274400"/>
            <a:ext cx="5484105" cy="2568600"/>
          </a:xfrm>
          <a:prstGeom prst="rect">
            <a:avLst/>
          </a:prstGeom>
          <a:noFill/>
          <a:ln>
            <a:noFill/>
          </a:ln>
        </p:spPr>
      </p:pic>
      <p:pic>
        <p:nvPicPr>
          <p:cNvPr id="214" name="Google Shape;214;g3ec2f089cdd_0_41"/>
          <p:cNvPicPr preferRelativeResize="0"/>
          <p:nvPr/>
        </p:nvPicPr>
        <p:blipFill rotWithShape="1">
          <a:blip r:embed="rId7">
            <a:alphaModFix/>
          </a:blip>
          <a:srcRect b="86545" l="4416" r="57678" t="4629"/>
          <a:stretch/>
        </p:blipFill>
        <p:spPr>
          <a:xfrm>
            <a:off x="3767764" y="828062"/>
            <a:ext cx="4656450" cy="67468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8"/>
          <p:cNvSpPr txBox="1"/>
          <p:nvPr>
            <p:ph type="title"/>
          </p:nvPr>
        </p:nvSpPr>
        <p:spPr>
          <a:xfrm>
            <a:off x="838199" y="2371327"/>
            <a:ext cx="10515600" cy="200620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Chapter 2: Trying further geometries with Audi CFD and comparing the prediction of GMP with this ground truth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9"/>
          <p:cNvSpPr txBox="1"/>
          <p:nvPr>
            <p:ph type="title"/>
          </p:nvPr>
        </p:nvSpPr>
        <p:spPr>
          <a:xfrm>
            <a:off x="838199" y="365124"/>
            <a:ext cx="10515600" cy="726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Experimented Geometries</a:t>
            </a:r>
            <a:endParaRPr/>
          </a:p>
        </p:txBody>
      </p:sp>
      <p:pic>
        <p:nvPicPr>
          <p:cNvPr id="227" name="Google Shape;227;p9"/>
          <p:cNvPicPr preferRelativeResize="0"/>
          <p:nvPr/>
        </p:nvPicPr>
        <p:blipFill rotWithShape="1">
          <a:blip r:embed="rId3">
            <a:alphaModFix/>
          </a:blip>
          <a:srcRect b="0" l="0" r="0" t="0"/>
          <a:stretch/>
        </p:blipFill>
        <p:spPr>
          <a:xfrm>
            <a:off x="50624" y="1041796"/>
            <a:ext cx="5705078" cy="3078610"/>
          </a:xfrm>
          <a:prstGeom prst="rect">
            <a:avLst/>
          </a:prstGeom>
          <a:noFill/>
          <a:ln>
            <a:noFill/>
          </a:ln>
        </p:spPr>
      </p:pic>
      <p:pic>
        <p:nvPicPr>
          <p:cNvPr id="228" name="Google Shape;228;p9"/>
          <p:cNvPicPr preferRelativeResize="0"/>
          <p:nvPr/>
        </p:nvPicPr>
        <p:blipFill rotWithShape="1">
          <a:blip r:embed="rId4">
            <a:alphaModFix/>
          </a:blip>
          <a:srcRect b="0" l="0" r="0" t="0"/>
          <a:stretch/>
        </p:blipFill>
        <p:spPr>
          <a:xfrm>
            <a:off x="6095999" y="1041796"/>
            <a:ext cx="5876848" cy="3078610"/>
          </a:xfrm>
          <a:prstGeom prst="rect">
            <a:avLst/>
          </a:prstGeom>
          <a:noFill/>
          <a:ln>
            <a:noFill/>
          </a:ln>
        </p:spPr>
      </p:pic>
      <p:pic>
        <p:nvPicPr>
          <p:cNvPr id="229" name="Google Shape;229;p9"/>
          <p:cNvPicPr preferRelativeResize="0"/>
          <p:nvPr/>
        </p:nvPicPr>
        <p:blipFill rotWithShape="1">
          <a:blip r:embed="rId5">
            <a:alphaModFix/>
          </a:blip>
          <a:srcRect b="0" l="0" r="0" t="0"/>
          <a:stretch/>
        </p:blipFill>
        <p:spPr>
          <a:xfrm>
            <a:off x="6095999" y="4210717"/>
            <a:ext cx="5876848" cy="2628800"/>
          </a:xfrm>
          <a:prstGeom prst="rect">
            <a:avLst/>
          </a:prstGeom>
          <a:noFill/>
          <a:ln>
            <a:noFill/>
          </a:ln>
        </p:spPr>
      </p:pic>
      <p:pic>
        <p:nvPicPr>
          <p:cNvPr id="230" name="Google Shape;230;p9"/>
          <p:cNvPicPr preferRelativeResize="0"/>
          <p:nvPr/>
        </p:nvPicPr>
        <p:blipFill rotWithShape="1">
          <a:blip r:embed="rId6">
            <a:alphaModFix/>
          </a:blip>
          <a:srcRect b="0" l="0" r="0" t="0"/>
          <a:stretch/>
        </p:blipFill>
        <p:spPr>
          <a:xfrm>
            <a:off x="10051875" y="3172577"/>
            <a:ext cx="1139999" cy="1190666"/>
          </a:xfrm>
          <a:prstGeom prst="ellipse">
            <a:avLst/>
          </a:prstGeom>
          <a:noFill/>
          <a:ln cap="flat" cmpd="sng" w="38100">
            <a:solidFill>
              <a:schemeClr val="lt1"/>
            </a:solidFill>
            <a:prstDash val="solid"/>
            <a:round/>
            <a:headEnd len="sm" w="sm" type="none"/>
            <a:tailEnd len="sm" w="sm" type="none"/>
          </a:ln>
        </p:spPr>
      </p:pic>
      <p:sp>
        <p:nvSpPr>
          <p:cNvPr id="231" name="Google Shape;231;p9"/>
          <p:cNvSpPr/>
          <p:nvPr/>
        </p:nvSpPr>
        <p:spPr>
          <a:xfrm rot="241438">
            <a:off x="8996599" y="3609519"/>
            <a:ext cx="960819" cy="228202"/>
          </a:xfrm>
          <a:prstGeom prst="rightArrow">
            <a:avLst>
              <a:gd fmla="val 50000" name="adj1"/>
              <a:gd fmla="val 101294" name="adj2"/>
            </a:avLst>
          </a:prstGeom>
          <a:solidFill>
            <a:schemeClr val="lt1"/>
          </a:solidFill>
          <a:ln cap="flat" cmpd="sng" w="12700">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 name="Google Shape;232;p9"/>
          <p:cNvPicPr preferRelativeResize="0"/>
          <p:nvPr/>
        </p:nvPicPr>
        <p:blipFill rotWithShape="1">
          <a:blip r:embed="rId7">
            <a:alphaModFix/>
          </a:blip>
          <a:srcRect b="0" l="0" r="0" t="0"/>
          <a:stretch/>
        </p:blipFill>
        <p:spPr>
          <a:xfrm>
            <a:off x="50624" y="4217860"/>
            <a:ext cx="5655468" cy="26216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0"/>
          <p:cNvSpPr txBox="1"/>
          <p:nvPr>
            <p:ph type="title"/>
          </p:nvPr>
        </p:nvSpPr>
        <p:spPr>
          <a:xfrm>
            <a:off x="838199" y="180577"/>
            <a:ext cx="10515600" cy="369093"/>
          </a:xfrm>
          <a:prstGeom prst="rect">
            <a:avLst/>
          </a:prstGeom>
          <a:noFill/>
          <a:ln>
            <a:noFill/>
          </a:ln>
        </p:spPr>
        <p:txBody>
          <a:bodyPr anchorCtr="0" anchor="ctr" bIns="45700" lIns="91425" spcFirstLastPara="1" rIns="91425" wrap="square" tIns="45700">
            <a:normAutofit fontScale="90000" lnSpcReduction="2000"/>
          </a:bodyPr>
          <a:lstStyle/>
          <a:p>
            <a:pPr indent="0" lvl="0" marL="0" rtl="0" algn="l">
              <a:lnSpc>
                <a:spcPct val="90000"/>
              </a:lnSpc>
              <a:spcBef>
                <a:spcPts val="0"/>
              </a:spcBef>
              <a:spcAft>
                <a:spcPts val="0"/>
              </a:spcAft>
              <a:buClr>
                <a:schemeClr val="dk1"/>
              </a:buClr>
              <a:buSzPct val="100000"/>
              <a:buFont typeface="Arial"/>
              <a:buNone/>
            </a:pPr>
            <a:r>
              <a:rPr lang="en-US" sz="3600"/>
              <a:t>Audi CFD results vs GMP prediction - Estate-back</a:t>
            </a:r>
            <a:endParaRPr sz="3600"/>
          </a:p>
        </p:txBody>
      </p:sp>
      <p:pic>
        <p:nvPicPr>
          <p:cNvPr id="239" name="Google Shape;239;p10"/>
          <p:cNvPicPr preferRelativeResize="0"/>
          <p:nvPr/>
        </p:nvPicPr>
        <p:blipFill rotWithShape="1">
          <a:blip r:embed="rId3">
            <a:alphaModFix/>
          </a:blip>
          <a:srcRect b="0" l="0" r="0" t="0"/>
          <a:stretch/>
        </p:blipFill>
        <p:spPr>
          <a:xfrm>
            <a:off x="6081970" y="3973512"/>
            <a:ext cx="6104869" cy="2870199"/>
          </a:xfrm>
          <a:prstGeom prst="rect">
            <a:avLst/>
          </a:prstGeom>
          <a:noFill/>
          <a:ln>
            <a:noFill/>
          </a:ln>
        </p:spPr>
      </p:pic>
      <p:pic>
        <p:nvPicPr>
          <p:cNvPr id="240" name="Google Shape;240;p10"/>
          <p:cNvPicPr preferRelativeResize="0"/>
          <p:nvPr/>
        </p:nvPicPr>
        <p:blipFill rotWithShape="1">
          <a:blip r:embed="rId4">
            <a:alphaModFix/>
          </a:blip>
          <a:srcRect b="0" l="0" r="0" t="0"/>
          <a:stretch/>
        </p:blipFill>
        <p:spPr>
          <a:xfrm>
            <a:off x="6081970" y="1138237"/>
            <a:ext cx="6104869" cy="2870199"/>
          </a:xfrm>
          <a:prstGeom prst="rect">
            <a:avLst/>
          </a:prstGeom>
          <a:noFill/>
          <a:ln>
            <a:noFill/>
          </a:ln>
        </p:spPr>
      </p:pic>
      <p:pic>
        <p:nvPicPr>
          <p:cNvPr id="241" name="Google Shape;241;p10"/>
          <p:cNvPicPr preferRelativeResize="0"/>
          <p:nvPr/>
        </p:nvPicPr>
        <p:blipFill rotWithShape="1">
          <a:blip r:embed="rId5">
            <a:alphaModFix/>
          </a:blip>
          <a:srcRect b="0" l="0" r="0" t="0"/>
          <a:stretch/>
        </p:blipFill>
        <p:spPr>
          <a:xfrm>
            <a:off x="5952" y="1138237"/>
            <a:ext cx="5999852" cy="2870199"/>
          </a:xfrm>
          <a:prstGeom prst="rect">
            <a:avLst/>
          </a:prstGeom>
          <a:noFill/>
          <a:ln>
            <a:noFill/>
          </a:ln>
        </p:spPr>
      </p:pic>
      <p:pic>
        <p:nvPicPr>
          <p:cNvPr id="242" name="Google Shape;242;p10"/>
          <p:cNvPicPr preferRelativeResize="0"/>
          <p:nvPr/>
        </p:nvPicPr>
        <p:blipFill rotWithShape="1">
          <a:blip r:embed="rId6">
            <a:alphaModFix/>
          </a:blip>
          <a:srcRect b="0" l="0" r="0" t="0"/>
          <a:stretch/>
        </p:blipFill>
        <p:spPr>
          <a:xfrm>
            <a:off x="24619" y="3991371"/>
            <a:ext cx="5962519" cy="2852340"/>
          </a:xfrm>
          <a:prstGeom prst="rect">
            <a:avLst/>
          </a:prstGeom>
          <a:noFill/>
          <a:ln>
            <a:noFill/>
          </a:ln>
        </p:spPr>
      </p:pic>
      <p:pic>
        <p:nvPicPr>
          <p:cNvPr id="243" name="Google Shape;243;p10"/>
          <p:cNvPicPr preferRelativeResize="0"/>
          <p:nvPr/>
        </p:nvPicPr>
        <p:blipFill rotWithShape="1">
          <a:blip r:embed="rId7">
            <a:alphaModFix/>
          </a:blip>
          <a:srcRect b="0" l="0" r="0" t="0"/>
          <a:stretch/>
        </p:blipFill>
        <p:spPr>
          <a:xfrm>
            <a:off x="4245856" y="631031"/>
            <a:ext cx="3700287" cy="571802"/>
          </a:xfrm>
          <a:prstGeom prst="rect">
            <a:avLst/>
          </a:prstGeom>
          <a:noFill/>
          <a:ln>
            <a:noFill/>
          </a:ln>
        </p:spPr>
      </p:pic>
      <p:sp>
        <p:nvSpPr>
          <p:cNvPr id="244" name="Google Shape;244;p10"/>
          <p:cNvSpPr txBox="1"/>
          <p:nvPr/>
        </p:nvSpPr>
        <p:spPr>
          <a:xfrm>
            <a:off x="80637" y="4168854"/>
            <a:ext cx="1389535"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Audi CFD</a:t>
            </a:r>
            <a:endParaRPr b="0" i="0" sz="1800" u="none" cap="none" strike="noStrike">
              <a:solidFill>
                <a:schemeClr val="lt1"/>
              </a:solidFill>
              <a:latin typeface="Arial"/>
              <a:ea typeface="Arial"/>
              <a:cs typeface="Arial"/>
              <a:sym typeface="Arial"/>
            </a:endParaRPr>
          </a:p>
        </p:txBody>
      </p:sp>
      <p:sp>
        <p:nvSpPr>
          <p:cNvPr id="245" name="Google Shape;245;p10"/>
          <p:cNvSpPr txBox="1"/>
          <p:nvPr/>
        </p:nvSpPr>
        <p:spPr>
          <a:xfrm>
            <a:off x="142172" y="1275238"/>
            <a:ext cx="1392054"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GMP</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11"/>
          <p:cNvPicPr preferRelativeResize="0"/>
          <p:nvPr/>
        </p:nvPicPr>
        <p:blipFill rotWithShape="1">
          <a:blip r:embed="rId3">
            <a:alphaModFix/>
          </a:blip>
          <a:srcRect b="0" l="0" r="0" t="0"/>
          <a:stretch/>
        </p:blipFill>
        <p:spPr>
          <a:xfrm>
            <a:off x="6291484" y="1275238"/>
            <a:ext cx="5890134" cy="2627009"/>
          </a:xfrm>
          <a:prstGeom prst="rect">
            <a:avLst/>
          </a:prstGeom>
          <a:noFill/>
          <a:ln>
            <a:noFill/>
          </a:ln>
        </p:spPr>
      </p:pic>
      <p:pic>
        <p:nvPicPr>
          <p:cNvPr id="252" name="Google Shape;252;p11"/>
          <p:cNvPicPr preferRelativeResize="0"/>
          <p:nvPr/>
        </p:nvPicPr>
        <p:blipFill rotWithShape="1">
          <a:blip r:embed="rId4">
            <a:alphaModFix/>
          </a:blip>
          <a:srcRect b="0" l="0" r="0" t="0"/>
          <a:stretch/>
        </p:blipFill>
        <p:spPr>
          <a:xfrm>
            <a:off x="-6039" y="3967582"/>
            <a:ext cx="6297523" cy="2873351"/>
          </a:xfrm>
          <a:prstGeom prst="rect">
            <a:avLst/>
          </a:prstGeom>
          <a:noFill/>
          <a:ln>
            <a:noFill/>
          </a:ln>
        </p:spPr>
      </p:pic>
      <p:pic>
        <p:nvPicPr>
          <p:cNvPr id="253" name="Google Shape;253;p11"/>
          <p:cNvPicPr preferRelativeResize="0"/>
          <p:nvPr/>
        </p:nvPicPr>
        <p:blipFill rotWithShape="1">
          <a:blip r:embed="rId5">
            <a:alphaModFix/>
          </a:blip>
          <a:srcRect b="0" l="0" r="0" t="0"/>
          <a:stretch/>
        </p:blipFill>
        <p:spPr>
          <a:xfrm>
            <a:off x="-6039" y="1095398"/>
            <a:ext cx="6297523" cy="2873351"/>
          </a:xfrm>
          <a:prstGeom prst="rect">
            <a:avLst/>
          </a:prstGeom>
          <a:noFill/>
          <a:ln>
            <a:noFill/>
          </a:ln>
        </p:spPr>
      </p:pic>
      <p:sp>
        <p:nvSpPr>
          <p:cNvPr id="254" name="Google Shape;254;p11"/>
          <p:cNvSpPr txBox="1"/>
          <p:nvPr>
            <p:ph type="title"/>
          </p:nvPr>
        </p:nvSpPr>
        <p:spPr>
          <a:xfrm>
            <a:off x="838199" y="180577"/>
            <a:ext cx="10515600" cy="369093"/>
          </a:xfrm>
          <a:prstGeom prst="rect">
            <a:avLst/>
          </a:prstGeom>
          <a:noFill/>
          <a:ln>
            <a:noFill/>
          </a:ln>
        </p:spPr>
        <p:txBody>
          <a:bodyPr anchorCtr="0" anchor="ctr" bIns="45700" lIns="91425" spcFirstLastPara="1" rIns="91425" wrap="square" tIns="45700">
            <a:normAutofit fontScale="90000" lnSpcReduction="2000"/>
          </a:bodyPr>
          <a:lstStyle/>
          <a:p>
            <a:pPr indent="0" lvl="0" marL="0" rtl="0" algn="l">
              <a:lnSpc>
                <a:spcPct val="90000"/>
              </a:lnSpc>
              <a:spcBef>
                <a:spcPts val="0"/>
              </a:spcBef>
              <a:spcAft>
                <a:spcPts val="0"/>
              </a:spcAft>
              <a:buClr>
                <a:schemeClr val="dk1"/>
              </a:buClr>
              <a:buSzPct val="100000"/>
              <a:buFont typeface="Arial"/>
              <a:buNone/>
            </a:pPr>
            <a:r>
              <a:rPr lang="en-US" sz="3600"/>
              <a:t>Audi CFD results vs GMP prediction – Notchback</a:t>
            </a:r>
            <a:endParaRPr sz="3600"/>
          </a:p>
        </p:txBody>
      </p:sp>
      <p:sp>
        <p:nvSpPr>
          <p:cNvPr id="255" name="Google Shape;255;p11"/>
          <p:cNvSpPr txBox="1"/>
          <p:nvPr/>
        </p:nvSpPr>
        <p:spPr>
          <a:xfrm>
            <a:off x="80637" y="4168854"/>
            <a:ext cx="1389535"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Audi CFD</a:t>
            </a:r>
            <a:endParaRPr b="0" i="0" sz="1800" u="none" cap="none" strike="noStrike">
              <a:solidFill>
                <a:schemeClr val="lt1"/>
              </a:solidFill>
              <a:latin typeface="Arial"/>
              <a:ea typeface="Arial"/>
              <a:cs typeface="Arial"/>
              <a:sym typeface="Arial"/>
            </a:endParaRPr>
          </a:p>
        </p:txBody>
      </p:sp>
      <p:sp>
        <p:nvSpPr>
          <p:cNvPr id="256" name="Google Shape;256;p11"/>
          <p:cNvSpPr txBox="1"/>
          <p:nvPr/>
        </p:nvSpPr>
        <p:spPr>
          <a:xfrm>
            <a:off x="142172" y="1275238"/>
            <a:ext cx="1392054" cy="3661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GMP</a:t>
            </a:r>
            <a:endParaRPr b="0" i="0" sz="1800" u="none" cap="none" strike="noStrike">
              <a:solidFill>
                <a:schemeClr val="lt1"/>
              </a:solidFill>
              <a:latin typeface="Arial"/>
              <a:ea typeface="Arial"/>
              <a:cs typeface="Arial"/>
              <a:sym typeface="Arial"/>
            </a:endParaRPr>
          </a:p>
        </p:txBody>
      </p:sp>
      <p:pic>
        <p:nvPicPr>
          <p:cNvPr id="257" name="Google Shape;257;p11"/>
          <p:cNvPicPr preferRelativeResize="0"/>
          <p:nvPr/>
        </p:nvPicPr>
        <p:blipFill rotWithShape="1">
          <a:blip r:embed="rId6">
            <a:alphaModFix/>
          </a:blip>
          <a:srcRect b="0" l="0" r="0" t="0"/>
          <a:stretch/>
        </p:blipFill>
        <p:spPr>
          <a:xfrm>
            <a:off x="4245856" y="631031"/>
            <a:ext cx="3700287" cy="571802"/>
          </a:xfrm>
          <a:prstGeom prst="rect">
            <a:avLst/>
          </a:prstGeom>
          <a:noFill/>
          <a:ln>
            <a:noFill/>
          </a:ln>
        </p:spPr>
      </p:pic>
      <p:pic>
        <p:nvPicPr>
          <p:cNvPr id="258" name="Google Shape;258;p11"/>
          <p:cNvPicPr preferRelativeResize="0"/>
          <p:nvPr/>
        </p:nvPicPr>
        <p:blipFill rotWithShape="1">
          <a:blip r:embed="rId7">
            <a:alphaModFix/>
          </a:blip>
          <a:srcRect b="0" l="0" r="0" t="0"/>
          <a:stretch/>
        </p:blipFill>
        <p:spPr>
          <a:xfrm>
            <a:off x="6291484" y="4028281"/>
            <a:ext cx="5890134" cy="26193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ec2f089cdd_0_66"/>
          <p:cNvSpPr txBox="1"/>
          <p:nvPr>
            <p:ph type="title"/>
          </p:nvPr>
        </p:nvSpPr>
        <p:spPr>
          <a:xfrm>
            <a:off x="838199" y="2371327"/>
            <a:ext cx="10515600" cy="2006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Chapter 3: Chapter 1 + </a:t>
            </a:r>
            <a:r>
              <a:rPr lang="en-US"/>
              <a:t>Chapter</a:t>
            </a:r>
            <a:r>
              <a:rPr lang="en-US"/>
              <a:t> 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g3ec2f089cdd_0_84"/>
          <p:cNvPicPr preferRelativeResize="0"/>
          <p:nvPr/>
        </p:nvPicPr>
        <p:blipFill rotWithShape="1">
          <a:blip r:embed="rId3">
            <a:alphaModFix/>
          </a:blip>
          <a:srcRect b="0" l="0" r="0" t="0"/>
          <a:stretch/>
        </p:blipFill>
        <p:spPr>
          <a:xfrm>
            <a:off x="7089152" y="2398892"/>
            <a:ext cx="5006266" cy="2232803"/>
          </a:xfrm>
          <a:prstGeom prst="rect">
            <a:avLst/>
          </a:prstGeom>
          <a:noFill/>
          <a:ln>
            <a:noFill/>
          </a:ln>
        </p:spPr>
      </p:pic>
      <p:pic>
        <p:nvPicPr>
          <p:cNvPr id="271" name="Google Shape;271;g3ec2f089cdd_0_84"/>
          <p:cNvPicPr preferRelativeResize="0"/>
          <p:nvPr/>
        </p:nvPicPr>
        <p:blipFill rotWithShape="1">
          <a:blip r:embed="rId4">
            <a:alphaModFix/>
          </a:blip>
          <a:srcRect b="0" l="0" r="0" t="0"/>
          <a:stretch/>
        </p:blipFill>
        <p:spPr>
          <a:xfrm>
            <a:off x="269400" y="4657177"/>
            <a:ext cx="4823543" cy="2200823"/>
          </a:xfrm>
          <a:prstGeom prst="rect">
            <a:avLst/>
          </a:prstGeom>
          <a:noFill/>
          <a:ln>
            <a:noFill/>
          </a:ln>
        </p:spPr>
      </p:pic>
      <p:pic>
        <p:nvPicPr>
          <p:cNvPr id="272" name="Google Shape;272;g3ec2f089cdd_0_84"/>
          <p:cNvPicPr preferRelativeResize="0"/>
          <p:nvPr/>
        </p:nvPicPr>
        <p:blipFill rotWithShape="1">
          <a:blip r:embed="rId5">
            <a:alphaModFix/>
          </a:blip>
          <a:srcRect b="0" l="0" r="0" t="0"/>
          <a:stretch/>
        </p:blipFill>
        <p:spPr>
          <a:xfrm>
            <a:off x="269400" y="2457250"/>
            <a:ext cx="4823543" cy="2200823"/>
          </a:xfrm>
          <a:prstGeom prst="rect">
            <a:avLst/>
          </a:prstGeom>
          <a:noFill/>
          <a:ln>
            <a:noFill/>
          </a:ln>
        </p:spPr>
      </p:pic>
      <p:sp>
        <p:nvSpPr>
          <p:cNvPr id="273" name="Google Shape;273;g3ec2f089cdd_0_84"/>
          <p:cNvSpPr txBox="1"/>
          <p:nvPr/>
        </p:nvSpPr>
        <p:spPr>
          <a:xfrm>
            <a:off x="335790" y="4811340"/>
            <a:ext cx="1064100" cy="282900"/>
          </a:xfrm>
          <a:prstGeom prst="rect">
            <a:avLst/>
          </a:prstGeom>
          <a:noFill/>
          <a:ln>
            <a:noFill/>
          </a:ln>
        </p:spPr>
        <p:txBody>
          <a:bodyPr anchorCtr="0" anchor="t" bIns="35000" lIns="70050" spcFirstLastPara="1" rIns="70050" wrap="square" tIns="35000">
            <a:spAutoFit/>
          </a:bodyPr>
          <a:lstStyle/>
          <a:p>
            <a:pPr indent="0" lvl="0" marL="0" marR="0" rtl="0" algn="l">
              <a:spcBef>
                <a:spcPts val="0"/>
              </a:spcBef>
              <a:spcAft>
                <a:spcPts val="0"/>
              </a:spcAft>
              <a:buNone/>
            </a:pPr>
            <a:r>
              <a:rPr b="0" i="0" lang="en-US" sz="1379" u="none" cap="none" strike="noStrike">
                <a:solidFill>
                  <a:schemeClr val="lt1"/>
                </a:solidFill>
                <a:latin typeface="Arial"/>
                <a:ea typeface="Arial"/>
                <a:cs typeface="Arial"/>
                <a:sym typeface="Arial"/>
              </a:rPr>
              <a:t>Audi CFD</a:t>
            </a:r>
            <a:endParaRPr b="0" i="0" sz="1379" u="none" cap="none" strike="noStrike">
              <a:solidFill>
                <a:schemeClr val="lt1"/>
              </a:solidFill>
              <a:latin typeface="Arial"/>
              <a:ea typeface="Arial"/>
              <a:cs typeface="Arial"/>
              <a:sym typeface="Arial"/>
            </a:endParaRPr>
          </a:p>
        </p:txBody>
      </p:sp>
      <p:sp>
        <p:nvSpPr>
          <p:cNvPr id="274" name="Google Shape;274;g3ec2f089cdd_0_84"/>
          <p:cNvSpPr txBox="1"/>
          <p:nvPr/>
        </p:nvSpPr>
        <p:spPr>
          <a:xfrm>
            <a:off x="382922" y="2594997"/>
            <a:ext cx="1065900" cy="282900"/>
          </a:xfrm>
          <a:prstGeom prst="rect">
            <a:avLst/>
          </a:prstGeom>
          <a:noFill/>
          <a:ln>
            <a:noFill/>
          </a:ln>
        </p:spPr>
        <p:txBody>
          <a:bodyPr anchorCtr="0" anchor="t" bIns="35000" lIns="70050" spcFirstLastPara="1" rIns="70050" wrap="square" tIns="35000">
            <a:spAutoFit/>
          </a:bodyPr>
          <a:lstStyle/>
          <a:p>
            <a:pPr indent="0" lvl="0" marL="0" marR="0" rtl="0" algn="l">
              <a:spcBef>
                <a:spcPts val="0"/>
              </a:spcBef>
              <a:spcAft>
                <a:spcPts val="0"/>
              </a:spcAft>
              <a:buNone/>
            </a:pPr>
            <a:r>
              <a:rPr b="0" i="0" lang="en-US" sz="1379" u="none" cap="none" strike="noStrike">
                <a:solidFill>
                  <a:schemeClr val="lt1"/>
                </a:solidFill>
                <a:latin typeface="Arial"/>
                <a:ea typeface="Arial"/>
                <a:cs typeface="Arial"/>
                <a:sym typeface="Arial"/>
              </a:rPr>
              <a:t>GMP</a:t>
            </a:r>
            <a:endParaRPr b="0" i="0" sz="1379" u="none" cap="none" strike="noStrike">
              <a:solidFill>
                <a:schemeClr val="lt1"/>
              </a:solidFill>
              <a:latin typeface="Arial"/>
              <a:ea typeface="Arial"/>
              <a:cs typeface="Arial"/>
              <a:sym typeface="Arial"/>
            </a:endParaRPr>
          </a:p>
        </p:txBody>
      </p:sp>
      <p:pic>
        <p:nvPicPr>
          <p:cNvPr id="275" name="Google Shape;275;g3ec2f089cdd_0_84"/>
          <p:cNvPicPr preferRelativeResize="0"/>
          <p:nvPr/>
        </p:nvPicPr>
        <p:blipFill rotWithShape="1">
          <a:blip r:embed="rId6">
            <a:alphaModFix/>
          </a:blip>
          <a:srcRect b="0" l="0" r="0" t="0"/>
          <a:stretch/>
        </p:blipFill>
        <p:spPr>
          <a:xfrm rot="-5400000">
            <a:off x="4240906" y="2839481"/>
            <a:ext cx="3700287" cy="571802"/>
          </a:xfrm>
          <a:prstGeom prst="rect">
            <a:avLst/>
          </a:prstGeom>
          <a:noFill/>
          <a:ln>
            <a:noFill/>
          </a:ln>
        </p:spPr>
      </p:pic>
      <p:pic>
        <p:nvPicPr>
          <p:cNvPr id="276" name="Google Shape;276;g3ec2f089cdd_0_84"/>
          <p:cNvPicPr preferRelativeResize="0"/>
          <p:nvPr/>
        </p:nvPicPr>
        <p:blipFill rotWithShape="1">
          <a:blip r:embed="rId7">
            <a:alphaModFix/>
          </a:blip>
          <a:srcRect b="0" l="0" r="0" t="0"/>
          <a:stretch/>
        </p:blipFill>
        <p:spPr>
          <a:xfrm>
            <a:off x="7089152" y="4631704"/>
            <a:ext cx="5006266" cy="2226295"/>
          </a:xfrm>
          <a:prstGeom prst="rect">
            <a:avLst/>
          </a:prstGeom>
          <a:noFill/>
          <a:ln>
            <a:noFill/>
          </a:ln>
        </p:spPr>
      </p:pic>
      <p:pic>
        <p:nvPicPr>
          <p:cNvPr id="277" name="Google Shape;277;g3ec2f089cdd_0_84"/>
          <p:cNvPicPr preferRelativeResize="0"/>
          <p:nvPr/>
        </p:nvPicPr>
        <p:blipFill rotWithShape="1">
          <a:blip r:embed="rId8">
            <a:alphaModFix/>
          </a:blip>
          <a:srcRect b="0" l="0" r="1439" t="1652"/>
          <a:stretch/>
        </p:blipFill>
        <p:spPr>
          <a:xfrm>
            <a:off x="269400" y="184536"/>
            <a:ext cx="4823549" cy="2272713"/>
          </a:xfrm>
          <a:prstGeom prst="rect">
            <a:avLst/>
          </a:prstGeom>
          <a:noFill/>
          <a:ln>
            <a:noFill/>
          </a:ln>
        </p:spPr>
      </p:pic>
      <p:pic>
        <p:nvPicPr>
          <p:cNvPr id="278" name="Google Shape;278;g3ec2f089cdd_0_84"/>
          <p:cNvPicPr preferRelativeResize="0"/>
          <p:nvPr/>
        </p:nvPicPr>
        <p:blipFill>
          <a:blip r:embed="rId9">
            <a:alphaModFix/>
          </a:blip>
          <a:stretch>
            <a:fillRect/>
          </a:stretch>
        </p:blipFill>
        <p:spPr>
          <a:xfrm>
            <a:off x="7089151" y="0"/>
            <a:ext cx="5006273" cy="2417962"/>
          </a:xfrm>
          <a:prstGeom prst="rect">
            <a:avLst/>
          </a:prstGeom>
          <a:noFill/>
          <a:ln>
            <a:noFill/>
          </a:ln>
        </p:spPr>
      </p:pic>
      <p:sp>
        <p:nvSpPr>
          <p:cNvPr id="279" name="Google Shape;279;g3ec2f089cdd_0_84"/>
          <p:cNvSpPr txBox="1"/>
          <p:nvPr/>
        </p:nvSpPr>
        <p:spPr>
          <a:xfrm>
            <a:off x="261725" y="352150"/>
            <a:ext cx="1308300" cy="59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36">
                <a:solidFill>
                  <a:schemeClr val="lt1"/>
                </a:solidFill>
              </a:rPr>
              <a:t>GMP + correction</a:t>
            </a:r>
            <a:endParaRPr sz="1336">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3ec2f089cdd_0_71"/>
          <p:cNvPicPr preferRelativeResize="0"/>
          <p:nvPr/>
        </p:nvPicPr>
        <p:blipFill rotWithShape="1">
          <a:blip r:embed="rId3">
            <a:alphaModFix/>
          </a:blip>
          <a:srcRect b="0" l="0" r="0" t="0"/>
          <a:stretch/>
        </p:blipFill>
        <p:spPr>
          <a:xfrm>
            <a:off x="7656883" y="4713946"/>
            <a:ext cx="4529959" cy="2129757"/>
          </a:xfrm>
          <a:prstGeom prst="rect">
            <a:avLst/>
          </a:prstGeom>
          <a:noFill/>
          <a:ln>
            <a:noFill/>
          </a:ln>
        </p:spPr>
      </p:pic>
      <p:pic>
        <p:nvPicPr>
          <p:cNvPr id="286" name="Google Shape;286;g3ec2f089cdd_0_71"/>
          <p:cNvPicPr preferRelativeResize="0"/>
          <p:nvPr/>
        </p:nvPicPr>
        <p:blipFill rotWithShape="1">
          <a:blip r:embed="rId4">
            <a:alphaModFix/>
          </a:blip>
          <a:srcRect b="0" l="0" r="0" t="0"/>
          <a:stretch/>
        </p:blipFill>
        <p:spPr>
          <a:xfrm>
            <a:off x="7656883" y="2610103"/>
            <a:ext cx="4529959" cy="2129757"/>
          </a:xfrm>
          <a:prstGeom prst="rect">
            <a:avLst/>
          </a:prstGeom>
          <a:noFill/>
          <a:ln>
            <a:noFill/>
          </a:ln>
        </p:spPr>
      </p:pic>
      <p:pic>
        <p:nvPicPr>
          <p:cNvPr id="287" name="Google Shape;287;g3ec2f089cdd_0_71"/>
          <p:cNvPicPr preferRelativeResize="0"/>
          <p:nvPr/>
        </p:nvPicPr>
        <p:blipFill rotWithShape="1">
          <a:blip r:embed="rId5">
            <a:alphaModFix/>
          </a:blip>
          <a:srcRect b="0" l="0" r="0" t="0"/>
          <a:stretch/>
        </p:blipFill>
        <p:spPr>
          <a:xfrm>
            <a:off x="761900" y="2610099"/>
            <a:ext cx="4452024" cy="2129751"/>
          </a:xfrm>
          <a:prstGeom prst="rect">
            <a:avLst/>
          </a:prstGeom>
          <a:noFill/>
          <a:ln>
            <a:noFill/>
          </a:ln>
        </p:spPr>
      </p:pic>
      <p:pic>
        <p:nvPicPr>
          <p:cNvPr id="288" name="Google Shape;288;g3ec2f089cdd_0_71"/>
          <p:cNvPicPr preferRelativeResize="0"/>
          <p:nvPr/>
        </p:nvPicPr>
        <p:blipFill rotWithShape="1">
          <a:blip r:embed="rId6">
            <a:alphaModFix/>
          </a:blip>
          <a:srcRect b="0" l="0" r="0" t="0"/>
          <a:stretch/>
        </p:blipFill>
        <p:spPr>
          <a:xfrm>
            <a:off x="775751" y="4727196"/>
            <a:ext cx="4424321" cy="2116500"/>
          </a:xfrm>
          <a:prstGeom prst="rect">
            <a:avLst/>
          </a:prstGeom>
          <a:noFill/>
          <a:ln>
            <a:noFill/>
          </a:ln>
        </p:spPr>
      </p:pic>
      <p:pic>
        <p:nvPicPr>
          <p:cNvPr id="289" name="Google Shape;289;g3ec2f089cdd_0_71"/>
          <p:cNvPicPr preferRelativeResize="0"/>
          <p:nvPr/>
        </p:nvPicPr>
        <p:blipFill rotWithShape="1">
          <a:blip r:embed="rId7">
            <a:alphaModFix/>
          </a:blip>
          <a:srcRect b="0" l="0" r="0" t="0"/>
          <a:stretch/>
        </p:blipFill>
        <p:spPr>
          <a:xfrm rot="-5400000">
            <a:off x="4531756" y="4550181"/>
            <a:ext cx="3700287" cy="571802"/>
          </a:xfrm>
          <a:prstGeom prst="rect">
            <a:avLst/>
          </a:prstGeom>
          <a:noFill/>
          <a:ln>
            <a:noFill/>
          </a:ln>
        </p:spPr>
      </p:pic>
      <p:sp>
        <p:nvSpPr>
          <p:cNvPr id="290" name="Google Shape;290;g3ec2f089cdd_0_71"/>
          <p:cNvSpPr txBox="1"/>
          <p:nvPr/>
        </p:nvSpPr>
        <p:spPr>
          <a:xfrm>
            <a:off x="817318" y="4858893"/>
            <a:ext cx="1031100" cy="274200"/>
          </a:xfrm>
          <a:prstGeom prst="rect">
            <a:avLst/>
          </a:prstGeom>
          <a:noFill/>
          <a:ln>
            <a:noFill/>
          </a:ln>
        </p:spPr>
        <p:txBody>
          <a:bodyPr anchorCtr="0" anchor="t" bIns="33900" lIns="67825" spcFirstLastPara="1" rIns="67825" wrap="square" tIns="33900">
            <a:spAutoFit/>
          </a:bodyPr>
          <a:lstStyle/>
          <a:p>
            <a:pPr indent="0" lvl="0" marL="0" marR="0" rtl="0" algn="l">
              <a:spcBef>
                <a:spcPts val="0"/>
              </a:spcBef>
              <a:spcAft>
                <a:spcPts val="0"/>
              </a:spcAft>
              <a:buNone/>
            </a:pPr>
            <a:r>
              <a:rPr b="0" i="0" lang="en-US" sz="1336" u="none" cap="none" strike="noStrike">
                <a:solidFill>
                  <a:schemeClr val="lt1"/>
                </a:solidFill>
                <a:latin typeface="Arial"/>
                <a:ea typeface="Arial"/>
                <a:cs typeface="Arial"/>
                <a:sym typeface="Arial"/>
              </a:rPr>
              <a:t>Audi CFD</a:t>
            </a:r>
            <a:endParaRPr b="0" i="0" sz="1336" u="none" cap="none" strike="noStrike">
              <a:solidFill>
                <a:schemeClr val="lt1"/>
              </a:solidFill>
              <a:latin typeface="Arial"/>
              <a:ea typeface="Arial"/>
              <a:cs typeface="Arial"/>
              <a:sym typeface="Arial"/>
            </a:endParaRPr>
          </a:p>
        </p:txBody>
      </p:sp>
      <p:sp>
        <p:nvSpPr>
          <p:cNvPr id="291" name="Google Shape;291;g3ec2f089cdd_0_71"/>
          <p:cNvSpPr txBox="1"/>
          <p:nvPr/>
        </p:nvSpPr>
        <p:spPr>
          <a:xfrm>
            <a:off x="862979" y="2711758"/>
            <a:ext cx="1032900" cy="274200"/>
          </a:xfrm>
          <a:prstGeom prst="rect">
            <a:avLst/>
          </a:prstGeom>
          <a:noFill/>
          <a:ln>
            <a:noFill/>
          </a:ln>
        </p:spPr>
        <p:txBody>
          <a:bodyPr anchorCtr="0" anchor="t" bIns="33900" lIns="67825" spcFirstLastPara="1" rIns="67825" wrap="square" tIns="33900">
            <a:spAutoFit/>
          </a:bodyPr>
          <a:lstStyle/>
          <a:p>
            <a:pPr indent="0" lvl="0" marL="0" marR="0" rtl="0" algn="l">
              <a:spcBef>
                <a:spcPts val="0"/>
              </a:spcBef>
              <a:spcAft>
                <a:spcPts val="0"/>
              </a:spcAft>
              <a:buNone/>
            </a:pPr>
            <a:r>
              <a:rPr b="0" i="0" lang="en-US" sz="1336" u="none" cap="none" strike="noStrike">
                <a:solidFill>
                  <a:schemeClr val="lt1"/>
                </a:solidFill>
                <a:latin typeface="Arial"/>
                <a:ea typeface="Arial"/>
                <a:cs typeface="Arial"/>
                <a:sym typeface="Arial"/>
              </a:rPr>
              <a:t>GMP</a:t>
            </a:r>
            <a:endParaRPr b="0" i="0" sz="1336" u="none" cap="none" strike="noStrike">
              <a:solidFill>
                <a:schemeClr val="lt1"/>
              </a:solidFill>
              <a:latin typeface="Arial"/>
              <a:ea typeface="Arial"/>
              <a:cs typeface="Arial"/>
              <a:sym typeface="Arial"/>
            </a:endParaRPr>
          </a:p>
        </p:txBody>
      </p:sp>
      <p:pic>
        <p:nvPicPr>
          <p:cNvPr id="292" name="Google Shape;292;g3ec2f089cdd_0_71"/>
          <p:cNvPicPr preferRelativeResize="0"/>
          <p:nvPr/>
        </p:nvPicPr>
        <p:blipFill rotWithShape="1">
          <a:blip r:embed="rId8">
            <a:alphaModFix/>
          </a:blip>
          <a:srcRect b="5325" l="1196" r="2372" t="2864"/>
          <a:stretch/>
        </p:blipFill>
        <p:spPr>
          <a:xfrm>
            <a:off x="761900" y="428702"/>
            <a:ext cx="4452026" cy="2181398"/>
          </a:xfrm>
          <a:prstGeom prst="rect">
            <a:avLst/>
          </a:prstGeom>
          <a:noFill/>
          <a:ln>
            <a:noFill/>
          </a:ln>
        </p:spPr>
      </p:pic>
      <p:pic>
        <p:nvPicPr>
          <p:cNvPr id="293" name="Google Shape;293;g3ec2f089cdd_0_71"/>
          <p:cNvPicPr preferRelativeResize="0"/>
          <p:nvPr/>
        </p:nvPicPr>
        <p:blipFill>
          <a:blip r:embed="rId9">
            <a:alphaModFix/>
          </a:blip>
          <a:stretch>
            <a:fillRect/>
          </a:stretch>
        </p:blipFill>
        <p:spPr>
          <a:xfrm>
            <a:off x="7656876" y="471356"/>
            <a:ext cx="4529975" cy="2138743"/>
          </a:xfrm>
          <a:prstGeom prst="rect">
            <a:avLst/>
          </a:prstGeom>
          <a:noFill/>
          <a:ln>
            <a:noFill/>
          </a:ln>
        </p:spPr>
      </p:pic>
      <p:sp>
        <p:nvSpPr>
          <p:cNvPr id="294" name="Google Shape;294;g3ec2f089cdd_0_71"/>
          <p:cNvSpPr txBox="1"/>
          <p:nvPr/>
        </p:nvSpPr>
        <p:spPr>
          <a:xfrm>
            <a:off x="816424" y="564600"/>
            <a:ext cx="1248300" cy="479700"/>
          </a:xfrm>
          <a:prstGeom prst="rect">
            <a:avLst/>
          </a:prstGeom>
          <a:noFill/>
          <a:ln>
            <a:noFill/>
          </a:ln>
        </p:spPr>
        <p:txBody>
          <a:bodyPr anchorCtr="0" anchor="t" bIns="33900" lIns="67825" spcFirstLastPara="1" rIns="67825" wrap="square" tIns="33900">
            <a:spAutoFit/>
          </a:bodyPr>
          <a:lstStyle/>
          <a:p>
            <a:pPr indent="0" lvl="0" marL="0" marR="0" rtl="0" algn="l">
              <a:spcBef>
                <a:spcPts val="0"/>
              </a:spcBef>
              <a:spcAft>
                <a:spcPts val="0"/>
              </a:spcAft>
              <a:buNone/>
            </a:pPr>
            <a:r>
              <a:rPr b="0" i="0" lang="en-US" sz="1336" u="none" cap="none" strike="noStrike">
                <a:solidFill>
                  <a:schemeClr val="lt1"/>
                </a:solidFill>
                <a:latin typeface="Arial"/>
                <a:ea typeface="Arial"/>
                <a:cs typeface="Arial"/>
                <a:sym typeface="Arial"/>
              </a:rPr>
              <a:t>GMP + correction</a:t>
            </a:r>
            <a:endParaRPr b="0" i="0" sz="1336"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